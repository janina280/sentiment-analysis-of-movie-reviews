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8" r:id="rId13"/>
    <p:sldId id="268" r:id="rId14"/>
    <p:sldId id="270" r:id="rId15"/>
    <p:sldId id="271" r:id="rId16"/>
    <p:sldId id="272" r:id="rId17"/>
    <p:sldId id="273" r:id="rId18"/>
    <p:sldId id="274" r:id="rId19"/>
    <p:sldId id="279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 mediu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Stil tematic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8378" autoAdjust="0"/>
  </p:normalViewPr>
  <p:slideViewPr>
    <p:cSldViewPr snapToGrid="0">
      <p:cViewPr varScale="1">
        <p:scale>
          <a:sx n="94" d="100"/>
          <a:sy n="94" d="100"/>
        </p:scale>
        <p:origin x="1152" y="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CD78E18-24E8-4D42-BEE6-6554032DFC76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A803CC9-A560-4FB3-9CD6-A47EC2391268}">
      <dgm:prSet/>
      <dgm:spPr/>
      <dgm:t>
        <a:bodyPr/>
        <a:lstStyle/>
        <a:p>
          <a:r>
            <a:rPr lang="en-US" b="1" dirty="0"/>
            <a:t>Embedding Layer</a:t>
          </a:r>
          <a:endParaRPr lang="en-US" dirty="0"/>
        </a:p>
      </dgm:t>
    </dgm:pt>
    <dgm:pt modelId="{AF193001-621F-451E-AF73-3ECDB5944EA0}" type="parTrans" cxnId="{C48D0A12-F118-4979-8BE7-E89B7747533B}">
      <dgm:prSet/>
      <dgm:spPr/>
      <dgm:t>
        <a:bodyPr/>
        <a:lstStyle/>
        <a:p>
          <a:endParaRPr lang="en-US"/>
        </a:p>
      </dgm:t>
    </dgm:pt>
    <dgm:pt modelId="{0F47356B-D584-49EC-82D8-30CC05455D1A}" type="sibTrans" cxnId="{C48D0A12-F118-4979-8BE7-E89B7747533B}">
      <dgm:prSet/>
      <dgm:spPr/>
      <dgm:t>
        <a:bodyPr/>
        <a:lstStyle/>
        <a:p>
          <a:endParaRPr lang="en-US"/>
        </a:p>
      </dgm:t>
    </dgm:pt>
    <dgm:pt modelId="{12FEA5D6-8C58-417F-B135-FFCDE7DF7D43}">
      <dgm:prSet/>
      <dgm:spPr/>
      <dgm:t>
        <a:bodyPr/>
        <a:lstStyle/>
        <a:p>
          <a:r>
            <a:rPr lang="en-US"/>
            <a:t>Dimensiune vector: 128</a:t>
          </a:r>
        </a:p>
      </dgm:t>
    </dgm:pt>
    <dgm:pt modelId="{23708256-1284-4663-B68D-01BD7184E84B}" type="parTrans" cxnId="{C797B1C5-CECB-4DC4-9A3E-12A676D5F4B6}">
      <dgm:prSet/>
      <dgm:spPr/>
      <dgm:t>
        <a:bodyPr/>
        <a:lstStyle/>
        <a:p>
          <a:endParaRPr lang="en-US"/>
        </a:p>
      </dgm:t>
    </dgm:pt>
    <dgm:pt modelId="{5AA91205-77FF-4F3D-856C-952E826ABB74}" type="sibTrans" cxnId="{C797B1C5-CECB-4DC4-9A3E-12A676D5F4B6}">
      <dgm:prSet/>
      <dgm:spPr/>
      <dgm:t>
        <a:bodyPr/>
        <a:lstStyle/>
        <a:p>
          <a:endParaRPr lang="en-US"/>
        </a:p>
      </dgm:t>
    </dgm:pt>
    <dgm:pt modelId="{AF4092DA-C315-448D-B89B-46EC98E29435}">
      <dgm:prSet/>
      <dgm:spPr/>
      <dgm:t>
        <a:bodyPr/>
        <a:lstStyle/>
        <a:p>
          <a:r>
            <a:rPr lang="en-US"/>
            <a:t>Fiecare cuvânt → vector numeric dens</a:t>
          </a:r>
        </a:p>
      </dgm:t>
    </dgm:pt>
    <dgm:pt modelId="{E933C82A-53EB-4D30-8258-D295D64B96D5}" type="parTrans" cxnId="{8DB8709B-B6FD-4A78-BBF6-2D603055B973}">
      <dgm:prSet/>
      <dgm:spPr/>
      <dgm:t>
        <a:bodyPr/>
        <a:lstStyle/>
        <a:p>
          <a:endParaRPr lang="en-US"/>
        </a:p>
      </dgm:t>
    </dgm:pt>
    <dgm:pt modelId="{4DCE44B0-6CA2-4A5E-B71C-A9DAE2042C65}" type="sibTrans" cxnId="{8DB8709B-B6FD-4A78-BBF6-2D603055B973}">
      <dgm:prSet/>
      <dgm:spPr/>
      <dgm:t>
        <a:bodyPr/>
        <a:lstStyle/>
        <a:p>
          <a:endParaRPr lang="en-US"/>
        </a:p>
      </dgm:t>
    </dgm:pt>
    <dgm:pt modelId="{8B7607CD-EF95-4476-9E24-58A24D99724E}">
      <dgm:prSet/>
      <dgm:spPr/>
      <dgm:t>
        <a:bodyPr/>
        <a:lstStyle/>
        <a:p>
          <a:r>
            <a:rPr lang="en-US"/>
            <a:t>Învață relații semantice între cuvinte</a:t>
          </a:r>
        </a:p>
      </dgm:t>
    </dgm:pt>
    <dgm:pt modelId="{4F5D84BE-9FD7-44B8-AF33-525F2AAF95F6}" type="parTrans" cxnId="{28DCE9A8-859C-49CD-A17F-8111330697D8}">
      <dgm:prSet/>
      <dgm:spPr/>
      <dgm:t>
        <a:bodyPr/>
        <a:lstStyle/>
        <a:p>
          <a:endParaRPr lang="en-US"/>
        </a:p>
      </dgm:t>
    </dgm:pt>
    <dgm:pt modelId="{E10CCD31-8B6F-4D39-8E4A-2EBECFF1EDF0}" type="sibTrans" cxnId="{28DCE9A8-859C-49CD-A17F-8111330697D8}">
      <dgm:prSet/>
      <dgm:spPr/>
      <dgm:t>
        <a:bodyPr/>
        <a:lstStyle/>
        <a:p>
          <a:endParaRPr lang="en-US"/>
        </a:p>
      </dgm:t>
    </dgm:pt>
    <dgm:pt modelId="{2F3EF53B-1D6A-4EDF-8A40-A4D394D249E2}" type="pres">
      <dgm:prSet presAssocID="{5CD78E18-24E8-4D42-BEE6-6554032DFC76}" presName="diagram" presStyleCnt="0">
        <dgm:presLayoutVars>
          <dgm:dir/>
          <dgm:resizeHandles val="exact"/>
        </dgm:presLayoutVars>
      </dgm:prSet>
      <dgm:spPr/>
    </dgm:pt>
    <dgm:pt modelId="{037EB56C-DA52-4AD5-B04E-767E37C6BC22}" type="pres">
      <dgm:prSet presAssocID="{6A803CC9-A560-4FB3-9CD6-A47EC2391268}" presName="node" presStyleLbl="node1" presStyleIdx="0" presStyleCnt="4">
        <dgm:presLayoutVars>
          <dgm:bulletEnabled val="1"/>
        </dgm:presLayoutVars>
      </dgm:prSet>
      <dgm:spPr/>
    </dgm:pt>
    <dgm:pt modelId="{5C52296F-2C4E-46D4-88E7-B9251A5FD82F}" type="pres">
      <dgm:prSet presAssocID="{0F47356B-D584-49EC-82D8-30CC05455D1A}" presName="sibTrans" presStyleLbl="sibTrans2D1" presStyleIdx="0" presStyleCnt="3"/>
      <dgm:spPr/>
    </dgm:pt>
    <dgm:pt modelId="{A83FFE88-5031-4B73-860D-43D6D0C0CCC5}" type="pres">
      <dgm:prSet presAssocID="{0F47356B-D584-49EC-82D8-30CC05455D1A}" presName="connectorText" presStyleLbl="sibTrans2D1" presStyleIdx="0" presStyleCnt="3"/>
      <dgm:spPr/>
    </dgm:pt>
    <dgm:pt modelId="{BF6CE068-CF26-48EE-B88F-3F4C0F701C62}" type="pres">
      <dgm:prSet presAssocID="{12FEA5D6-8C58-417F-B135-FFCDE7DF7D43}" presName="node" presStyleLbl="node1" presStyleIdx="1" presStyleCnt="4">
        <dgm:presLayoutVars>
          <dgm:bulletEnabled val="1"/>
        </dgm:presLayoutVars>
      </dgm:prSet>
      <dgm:spPr/>
    </dgm:pt>
    <dgm:pt modelId="{163168BB-8B04-4E0E-ADB4-DF1634CB68D4}" type="pres">
      <dgm:prSet presAssocID="{5AA91205-77FF-4F3D-856C-952E826ABB74}" presName="sibTrans" presStyleLbl="sibTrans2D1" presStyleIdx="1" presStyleCnt="3"/>
      <dgm:spPr/>
    </dgm:pt>
    <dgm:pt modelId="{EEF0FFE0-ACA7-4B61-B1CB-C453BE63F6E4}" type="pres">
      <dgm:prSet presAssocID="{5AA91205-77FF-4F3D-856C-952E826ABB74}" presName="connectorText" presStyleLbl="sibTrans2D1" presStyleIdx="1" presStyleCnt="3"/>
      <dgm:spPr/>
    </dgm:pt>
    <dgm:pt modelId="{1B14C2BE-717B-48E0-A78A-0C589BF522D0}" type="pres">
      <dgm:prSet presAssocID="{AF4092DA-C315-448D-B89B-46EC98E29435}" presName="node" presStyleLbl="node1" presStyleIdx="2" presStyleCnt="4">
        <dgm:presLayoutVars>
          <dgm:bulletEnabled val="1"/>
        </dgm:presLayoutVars>
      </dgm:prSet>
      <dgm:spPr/>
    </dgm:pt>
    <dgm:pt modelId="{03286CA9-ACFC-4204-BE41-5AE99E65D850}" type="pres">
      <dgm:prSet presAssocID="{4DCE44B0-6CA2-4A5E-B71C-A9DAE2042C65}" presName="sibTrans" presStyleLbl="sibTrans2D1" presStyleIdx="2" presStyleCnt="3"/>
      <dgm:spPr/>
    </dgm:pt>
    <dgm:pt modelId="{55BFF6EC-71F1-41AE-8087-9333292A6D4A}" type="pres">
      <dgm:prSet presAssocID="{4DCE44B0-6CA2-4A5E-B71C-A9DAE2042C65}" presName="connectorText" presStyleLbl="sibTrans2D1" presStyleIdx="2" presStyleCnt="3"/>
      <dgm:spPr/>
    </dgm:pt>
    <dgm:pt modelId="{0F9F7299-ED5C-4EC6-8BC9-D4B3D053677E}" type="pres">
      <dgm:prSet presAssocID="{8B7607CD-EF95-4476-9E24-58A24D99724E}" presName="node" presStyleLbl="node1" presStyleIdx="3" presStyleCnt="4">
        <dgm:presLayoutVars>
          <dgm:bulletEnabled val="1"/>
        </dgm:presLayoutVars>
      </dgm:prSet>
      <dgm:spPr/>
    </dgm:pt>
  </dgm:ptLst>
  <dgm:cxnLst>
    <dgm:cxn modelId="{C48D0A12-F118-4979-8BE7-E89B7747533B}" srcId="{5CD78E18-24E8-4D42-BEE6-6554032DFC76}" destId="{6A803CC9-A560-4FB3-9CD6-A47EC2391268}" srcOrd="0" destOrd="0" parTransId="{AF193001-621F-451E-AF73-3ECDB5944EA0}" sibTransId="{0F47356B-D584-49EC-82D8-30CC05455D1A}"/>
    <dgm:cxn modelId="{A9B72112-7C16-483B-B3D8-93A6CEA4EA43}" type="presOf" srcId="{5AA91205-77FF-4F3D-856C-952E826ABB74}" destId="{EEF0FFE0-ACA7-4B61-B1CB-C453BE63F6E4}" srcOrd="1" destOrd="0" presId="urn:microsoft.com/office/officeart/2005/8/layout/process5"/>
    <dgm:cxn modelId="{7FE79A15-831C-4B9F-ABFC-DD1CF0AE1938}" type="presOf" srcId="{6A803CC9-A560-4FB3-9CD6-A47EC2391268}" destId="{037EB56C-DA52-4AD5-B04E-767E37C6BC22}" srcOrd="0" destOrd="0" presId="urn:microsoft.com/office/officeart/2005/8/layout/process5"/>
    <dgm:cxn modelId="{43096318-5DA3-4E63-8D2A-5309B3B89D68}" type="presOf" srcId="{8B7607CD-EF95-4476-9E24-58A24D99724E}" destId="{0F9F7299-ED5C-4EC6-8BC9-D4B3D053677E}" srcOrd="0" destOrd="0" presId="urn:microsoft.com/office/officeart/2005/8/layout/process5"/>
    <dgm:cxn modelId="{A8CEF425-A06C-4F07-9EAC-5220BD7E19D0}" type="presOf" srcId="{AF4092DA-C315-448D-B89B-46EC98E29435}" destId="{1B14C2BE-717B-48E0-A78A-0C589BF522D0}" srcOrd="0" destOrd="0" presId="urn:microsoft.com/office/officeart/2005/8/layout/process5"/>
    <dgm:cxn modelId="{09D20C31-948E-4220-BFA2-AFFC7B2F4BCE}" type="presOf" srcId="{12FEA5D6-8C58-417F-B135-FFCDE7DF7D43}" destId="{BF6CE068-CF26-48EE-B88F-3F4C0F701C62}" srcOrd="0" destOrd="0" presId="urn:microsoft.com/office/officeart/2005/8/layout/process5"/>
    <dgm:cxn modelId="{A1AB3138-725B-4316-A800-C8C4559673D9}" type="presOf" srcId="{5AA91205-77FF-4F3D-856C-952E826ABB74}" destId="{163168BB-8B04-4E0E-ADB4-DF1634CB68D4}" srcOrd="0" destOrd="0" presId="urn:microsoft.com/office/officeart/2005/8/layout/process5"/>
    <dgm:cxn modelId="{3F01695D-E391-409E-A40B-0DABA07A13F8}" type="presOf" srcId="{0F47356B-D584-49EC-82D8-30CC05455D1A}" destId="{5C52296F-2C4E-46D4-88E7-B9251A5FD82F}" srcOrd="0" destOrd="0" presId="urn:microsoft.com/office/officeart/2005/8/layout/process5"/>
    <dgm:cxn modelId="{17FDF752-E2AE-411C-B7B6-6527D88D6993}" type="presOf" srcId="{4DCE44B0-6CA2-4A5E-B71C-A9DAE2042C65}" destId="{55BFF6EC-71F1-41AE-8087-9333292A6D4A}" srcOrd="1" destOrd="0" presId="urn:microsoft.com/office/officeart/2005/8/layout/process5"/>
    <dgm:cxn modelId="{8DB8709B-B6FD-4A78-BBF6-2D603055B973}" srcId="{5CD78E18-24E8-4D42-BEE6-6554032DFC76}" destId="{AF4092DA-C315-448D-B89B-46EC98E29435}" srcOrd="2" destOrd="0" parTransId="{E933C82A-53EB-4D30-8258-D295D64B96D5}" sibTransId="{4DCE44B0-6CA2-4A5E-B71C-A9DAE2042C65}"/>
    <dgm:cxn modelId="{28DCE9A8-859C-49CD-A17F-8111330697D8}" srcId="{5CD78E18-24E8-4D42-BEE6-6554032DFC76}" destId="{8B7607CD-EF95-4476-9E24-58A24D99724E}" srcOrd="3" destOrd="0" parTransId="{4F5D84BE-9FD7-44B8-AF33-525F2AAF95F6}" sibTransId="{E10CCD31-8B6F-4D39-8E4A-2EBECFF1EDF0}"/>
    <dgm:cxn modelId="{C797B1C5-CECB-4DC4-9A3E-12A676D5F4B6}" srcId="{5CD78E18-24E8-4D42-BEE6-6554032DFC76}" destId="{12FEA5D6-8C58-417F-B135-FFCDE7DF7D43}" srcOrd="1" destOrd="0" parTransId="{23708256-1284-4663-B68D-01BD7184E84B}" sibTransId="{5AA91205-77FF-4F3D-856C-952E826ABB74}"/>
    <dgm:cxn modelId="{A40350D7-5293-4A8F-99E3-9E93935364CC}" type="presOf" srcId="{0F47356B-D584-49EC-82D8-30CC05455D1A}" destId="{A83FFE88-5031-4B73-860D-43D6D0C0CCC5}" srcOrd="1" destOrd="0" presId="urn:microsoft.com/office/officeart/2005/8/layout/process5"/>
    <dgm:cxn modelId="{85699DDB-4868-4BF5-A98C-9DBD7BB247E4}" type="presOf" srcId="{4DCE44B0-6CA2-4A5E-B71C-A9DAE2042C65}" destId="{03286CA9-ACFC-4204-BE41-5AE99E65D850}" srcOrd="0" destOrd="0" presId="urn:microsoft.com/office/officeart/2005/8/layout/process5"/>
    <dgm:cxn modelId="{99D678E6-2E40-4ABB-A5F5-17EF15F6F087}" type="presOf" srcId="{5CD78E18-24E8-4D42-BEE6-6554032DFC76}" destId="{2F3EF53B-1D6A-4EDF-8A40-A4D394D249E2}" srcOrd="0" destOrd="0" presId="urn:microsoft.com/office/officeart/2005/8/layout/process5"/>
    <dgm:cxn modelId="{F22EA246-4812-4A30-AF8F-7AFCB3F8230F}" type="presParOf" srcId="{2F3EF53B-1D6A-4EDF-8A40-A4D394D249E2}" destId="{037EB56C-DA52-4AD5-B04E-767E37C6BC22}" srcOrd="0" destOrd="0" presId="urn:microsoft.com/office/officeart/2005/8/layout/process5"/>
    <dgm:cxn modelId="{05A3F72B-F825-45BE-92D1-74938BE98A43}" type="presParOf" srcId="{2F3EF53B-1D6A-4EDF-8A40-A4D394D249E2}" destId="{5C52296F-2C4E-46D4-88E7-B9251A5FD82F}" srcOrd="1" destOrd="0" presId="urn:microsoft.com/office/officeart/2005/8/layout/process5"/>
    <dgm:cxn modelId="{7C9CA970-974D-4DCE-8A7C-DB07E17BFAD7}" type="presParOf" srcId="{5C52296F-2C4E-46D4-88E7-B9251A5FD82F}" destId="{A83FFE88-5031-4B73-860D-43D6D0C0CCC5}" srcOrd="0" destOrd="0" presId="urn:microsoft.com/office/officeart/2005/8/layout/process5"/>
    <dgm:cxn modelId="{9D8453E7-2A04-42F4-8254-52D66424ACDC}" type="presParOf" srcId="{2F3EF53B-1D6A-4EDF-8A40-A4D394D249E2}" destId="{BF6CE068-CF26-48EE-B88F-3F4C0F701C62}" srcOrd="2" destOrd="0" presId="urn:microsoft.com/office/officeart/2005/8/layout/process5"/>
    <dgm:cxn modelId="{7CF2BD16-B86D-46C1-9CC7-305114CC43AA}" type="presParOf" srcId="{2F3EF53B-1D6A-4EDF-8A40-A4D394D249E2}" destId="{163168BB-8B04-4E0E-ADB4-DF1634CB68D4}" srcOrd="3" destOrd="0" presId="urn:microsoft.com/office/officeart/2005/8/layout/process5"/>
    <dgm:cxn modelId="{AB4DE755-F7B4-4460-9B47-B171E52199BC}" type="presParOf" srcId="{163168BB-8B04-4E0E-ADB4-DF1634CB68D4}" destId="{EEF0FFE0-ACA7-4B61-B1CB-C453BE63F6E4}" srcOrd="0" destOrd="0" presId="urn:microsoft.com/office/officeart/2005/8/layout/process5"/>
    <dgm:cxn modelId="{7B7640EB-B853-45B4-885C-7BEF18975A3B}" type="presParOf" srcId="{2F3EF53B-1D6A-4EDF-8A40-A4D394D249E2}" destId="{1B14C2BE-717B-48E0-A78A-0C589BF522D0}" srcOrd="4" destOrd="0" presId="urn:microsoft.com/office/officeart/2005/8/layout/process5"/>
    <dgm:cxn modelId="{3612410F-85F7-48B3-90FB-9F30366711F0}" type="presParOf" srcId="{2F3EF53B-1D6A-4EDF-8A40-A4D394D249E2}" destId="{03286CA9-ACFC-4204-BE41-5AE99E65D850}" srcOrd="5" destOrd="0" presId="urn:microsoft.com/office/officeart/2005/8/layout/process5"/>
    <dgm:cxn modelId="{BBA3A57D-66D5-428B-8FC7-4BF33DA220B6}" type="presParOf" srcId="{03286CA9-ACFC-4204-BE41-5AE99E65D850}" destId="{55BFF6EC-71F1-41AE-8087-9333292A6D4A}" srcOrd="0" destOrd="0" presId="urn:microsoft.com/office/officeart/2005/8/layout/process5"/>
    <dgm:cxn modelId="{000983D5-57A9-4CA6-B4C5-F1E0A8505EA1}" type="presParOf" srcId="{2F3EF53B-1D6A-4EDF-8A40-A4D394D249E2}" destId="{0F9F7299-ED5C-4EC6-8BC9-D4B3D053677E}" srcOrd="6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F7ACF2A-3AA2-44A4-969C-C14BCB4E5090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CE930105-E017-48CA-A7F4-A05DD8EA70CE}">
      <dgm:prSet/>
      <dgm:spPr/>
      <dgm:t>
        <a:bodyPr/>
        <a:lstStyle/>
        <a:p>
          <a:r>
            <a:rPr lang="en-US" b="0" i="0" baseline="0"/>
            <a:t>Optimizer: Adam</a:t>
          </a:r>
          <a:endParaRPr lang="en-US"/>
        </a:p>
      </dgm:t>
    </dgm:pt>
    <dgm:pt modelId="{FABE6103-C42B-4189-A33D-5556EB90788A}" type="parTrans" cxnId="{7033BA34-C65D-4482-924F-5C60AA4A2BE0}">
      <dgm:prSet/>
      <dgm:spPr/>
      <dgm:t>
        <a:bodyPr/>
        <a:lstStyle/>
        <a:p>
          <a:endParaRPr lang="en-US"/>
        </a:p>
      </dgm:t>
    </dgm:pt>
    <dgm:pt modelId="{A83E0A1D-B6A2-4208-9E27-951535B665A9}" type="sibTrans" cxnId="{7033BA34-C65D-4482-924F-5C60AA4A2BE0}">
      <dgm:prSet/>
      <dgm:spPr/>
      <dgm:t>
        <a:bodyPr/>
        <a:lstStyle/>
        <a:p>
          <a:endParaRPr lang="en-US"/>
        </a:p>
      </dgm:t>
    </dgm:pt>
    <dgm:pt modelId="{B3B640F6-E7D8-427E-A3F3-DB0802DDAEC7}">
      <dgm:prSet/>
      <dgm:spPr/>
      <dgm:t>
        <a:bodyPr/>
        <a:lstStyle/>
        <a:p>
          <a:r>
            <a:rPr lang="en-US" b="0" i="0" baseline="0"/>
            <a:t>Loss: Binary Cross-Entropy</a:t>
          </a:r>
          <a:endParaRPr lang="en-US"/>
        </a:p>
      </dgm:t>
    </dgm:pt>
    <dgm:pt modelId="{C80AFBAA-B4FF-458A-91AE-9FD0638B7D0F}" type="parTrans" cxnId="{1AD26ACD-36C1-426E-82DE-56C1D369AD92}">
      <dgm:prSet/>
      <dgm:spPr/>
      <dgm:t>
        <a:bodyPr/>
        <a:lstStyle/>
        <a:p>
          <a:endParaRPr lang="en-US"/>
        </a:p>
      </dgm:t>
    </dgm:pt>
    <dgm:pt modelId="{4EEFAF66-2AB2-4007-9E83-31FC44AFAC65}" type="sibTrans" cxnId="{1AD26ACD-36C1-426E-82DE-56C1D369AD92}">
      <dgm:prSet/>
      <dgm:spPr/>
      <dgm:t>
        <a:bodyPr/>
        <a:lstStyle/>
        <a:p>
          <a:endParaRPr lang="en-US"/>
        </a:p>
      </dgm:t>
    </dgm:pt>
    <dgm:pt modelId="{59653468-B8DF-48D5-99FA-E69C866BCD73}">
      <dgm:prSet/>
      <dgm:spPr/>
      <dgm:t>
        <a:bodyPr/>
        <a:lstStyle/>
        <a:p>
          <a:r>
            <a:rPr lang="en-US" b="0" i="0" baseline="0"/>
            <a:t>Batch size: 64</a:t>
          </a:r>
          <a:endParaRPr lang="en-US"/>
        </a:p>
      </dgm:t>
    </dgm:pt>
    <dgm:pt modelId="{7FA251EE-8FB6-4169-B18A-6ED567BBC41C}" type="parTrans" cxnId="{0656BFF6-BA36-4001-A73B-89EB1AC4FCE8}">
      <dgm:prSet/>
      <dgm:spPr/>
      <dgm:t>
        <a:bodyPr/>
        <a:lstStyle/>
        <a:p>
          <a:endParaRPr lang="en-US"/>
        </a:p>
      </dgm:t>
    </dgm:pt>
    <dgm:pt modelId="{1BB00BE1-BF32-4B54-8DA6-BEC2AB584E4C}" type="sibTrans" cxnId="{0656BFF6-BA36-4001-A73B-89EB1AC4FCE8}">
      <dgm:prSet/>
      <dgm:spPr/>
      <dgm:t>
        <a:bodyPr/>
        <a:lstStyle/>
        <a:p>
          <a:endParaRPr lang="en-US"/>
        </a:p>
      </dgm:t>
    </dgm:pt>
    <dgm:pt modelId="{791F8A07-5908-4749-AE31-C15D90394F8B}">
      <dgm:prSet/>
      <dgm:spPr/>
      <dgm:t>
        <a:bodyPr/>
        <a:lstStyle/>
        <a:p>
          <a:r>
            <a:rPr lang="en-US" b="0" i="0" baseline="0"/>
            <a:t>Epoci maxime: 7</a:t>
          </a:r>
          <a:endParaRPr lang="en-US"/>
        </a:p>
      </dgm:t>
    </dgm:pt>
    <dgm:pt modelId="{C1178EE4-0F9A-4ABD-B59A-EE8C842F5A8D}" type="parTrans" cxnId="{49E10419-2CDE-4A61-98AA-F9AE70EAA67D}">
      <dgm:prSet/>
      <dgm:spPr/>
      <dgm:t>
        <a:bodyPr/>
        <a:lstStyle/>
        <a:p>
          <a:endParaRPr lang="en-US"/>
        </a:p>
      </dgm:t>
    </dgm:pt>
    <dgm:pt modelId="{49374D8C-4AFD-4B89-9596-13A1B1791630}" type="sibTrans" cxnId="{49E10419-2CDE-4A61-98AA-F9AE70EAA67D}">
      <dgm:prSet/>
      <dgm:spPr/>
      <dgm:t>
        <a:bodyPr/>
        <a:lstStyle/>
        <a:p>
          <a:endParaRPr lang="en-US"/>
        </a:p>
      </dgm:t>
    </dgm:pt>
    <dgm:pt modelId="{7D4C5A2C-146F-48AF-B8BB-FFAF7BBFAE92}">
      <dgm:prSet/>
      <dgm:spPr/>
      <dgm:t>
        <a:bodyPr/>
        <a:lstStyle/>
        <a:p>
          <a:r>
            <a:rPr lang="en-US" b="0" i="0" baseline="0"/>
            <a:t>EarlyStopping: patience = 2</a:t>
          </a:r>
          <a:endParaRPr lang="en-US"/>
        </a:p>
      </dgm:t>
    </dgm:pt>
    <dgm:pt modelId="{94E596EA-ED68-4A2C-88D7-6FFAB2CBC205}" type="parTrans" cxnId="{E6898352-4178-4883-95B7-1489981FABF8}">
      <dgm:prSet/>
      <dgm:spPr/>
      <dgm:t>
        <a:bodyPr/>
        <a:lstStyle/>
        <a:p>
          <a:endParaRPr lang="en-US"/>
        </a:p>
      </dgm:t>
    </dgm:pt>
    <dgm:pt modelId="{60AC4DCE-2064-458B-865A-AC47A1A92C92}" type="sibTrans" cxnId="{E6898352-4178-4883-95B7-1489981FABF8}">
      <dgm:prSet/>
      <dgm:spPr/>
      <dgm:t>
        <a:bodyPr/>
        <a:lstStyle/>
        <a:p>
          <a:endParaRPr lang="en-US"/>
        </a:p>
      </dgm:t>
    </dgm:pt>
    <dgm:pt modelId="{15D0E2B2-1A05-481F-B819-9772F50353A8}" type="pres">
      <dgm:prSet presAssocID="{BF7ACF2A-3AA2-44A4-969C-C14BCB4E5090}" presName="outerComposite" presStyleCnt="0">
        <dgm:presLayoutVars>
          <dgm:chMax val="5"/>
          <dgm:dir/>
          <dgm:resizeHandles val="exact"/>
        </dgm:presLayoutVars>
      </dgm:prSet>
      <dgm:spPr/>
    </dgm:pt>
    <dgm:pt modelId="{7F4EDEEF-7F91-4012-B7CA-8221526DF9D5}" type="pres">
      <dgm:prSet presAssocID="{BF7ACF2A-3AA2-44A4-969C-C14BCB4E5090}" presName="dummyMaxCanvas" presStyleCnt="0">
        <dgm:presLayoutVars/>
      </dgm:prSet>
      <dgm:spPr/>
    </dgm:pt>
    <dgm:pt modelId="{2F9E3821-D9E1-4523-86D2-7D6B8E5067BC}" type="pres">
      <dgm:prSet presAssocID="{BF7ACF2A-3AA2-44A4-969C-C14BCB4E5090}" presName="FiveNodes_1" presStyleLbl="node1" presStyleIdx="0" presStyleCnt="5">
        <dgm:presLayoutVars>
          <dgm:bulletEnabled val="1"/>
        </dgm:presLayoutVars>
      </dgm:prSet>
      <dgm:spPr/>
    </dgm:pt>
    <dgm:pt modelId="{0649FFBC-05BB-4D34-AC05-14F552B1086F}" type="pres">
      <dgm:prSet presAssocID="{BF7ACF2A-3AA2-44A4-969C-C14BCB4E5090}" presName="FiveNodes_2" presStyleLbl="node1" presStyleIdx="1" presStyleCnt="5">
        <dgm:presLayoutVars>
          <dgm:bulletEnabled val="1"/>
        </dgm:presLayoutVars>
      </dgm:prSet>
      <dgm:spPr/>
    </dgm:pt>
    <dgm:pt modelId="{7904E0E6-CF03-403F-B4CA-440661A07E30}" type="pres">
      <dgm:prSet presAssocID="{BF7ACF2A-3AA2-44A4-969C-C14BCB4E5090}" presName="FiveNodes_3" presStyleLbl="node1" presStyleIdx="2" presStyleCnt="5">
        <dgm:presLayoutVars>
          <dgm:bulletEnabled val="1"/>
        </dgm:presLayoutVars>
      </dgm:prSet>
      <dgm:spPr/>
    </dgm:pt>
    <dgm:pt modelId="{8C9EA462-B077-45BF-94B9-A7606B1EDECF}" type="pres">
      <dgm:prSet presAssocID="{BF7ACF2A-3AA2-44A4-969C-C14BCB4E5090}" presName="FiveNodes_4" presStyleLbl="node1" presStyleIdx="3" presStyleCnt="5">
        <dgm:presLayoutVars>
          <dgm:bulletEnabled val="1"/>
        </dgm:presLayoutVars>
      </dgm:prSet>
      <dgm:spPr/>
    </dgm:pt>
    <dgm:pt modelId="{6CD9D46E-B7F0-436C-8B5D-66AA582A1397}" type="pres">
      <dgm:prSet presAssocID="{BF7ACF2A-3AA2-44A4-969C-C14BCB4E5090}" presName="FiveNodes_5" presStyleLbl="node1" presStyleIdx="4" presStyleCnt="5">
        <dgm:presLayoutVars>
          <dgm:bulletEnabled val="1"/>
        </dgm:presLayoutVars>
      </dgm:prSet>
      <dgm:spPr/>
    </dgm:pt>
    <dgm:pt modelId="{980D0161-4D9B-4759-818D-39497CE12C05}" type="pres">
      <dgm:prSet presAssocID="{BF7ACF2A-3AA2-44A4-969C-C14BCB4E5090}" presName="FiveConn_1-2" presStyleLbl="fgAccFollowNode1" presStyleIdx="0" presStyleCnt="4">
        <dgm:presLayoutVars>
          <dgm:bulletEnabled val="1"/>
        </dgm:presLayoutVars>
      </dgm:prSet>
      <dgm:spPr/>
    </dgm:pt>
    <dgm:pt modelId="{CDA5FD2F-5B56-4E27-A6F1-B93F27A5CA7E}" type="pres">
      <dgm:prSet presAssocID="{BF7ACF2A-3AA2-44A4-969C-C14BCB4E5090}" presName="FiveConn_2-3" presStyleLbl="fgAccFollowNode1" presStyleIdx="1" presStyleCnt="4">
        <dgm:presLayoutVars>
          <dgm:bulletEnabled val="1"/>
        </dgm:presLayoutVars>
      </dgm:prSet>
      <dgm:spPr/>
    </dgm:pt>
    <dgm:pt modelId="{24A15C73-7D1B-438E-AE6B-CEC02D9B85D5}" type="pres">
      <dgm:prSet presAssocID="{BF7ACF2A-3AA2-44A4-969C-C14BCB4E5090}" presName="FiveConn_3-4" presStyleLbl="fgAccFollowNode1" presStyleIdx="2" presStyleCnt="4">
        <dgm:presLayoutVars>
          <dgm:bulletEnabled val="1"/>
        </dgm:presLayoutVars>
      </dgm:prSet>
      <dgm:spPr/>
    </dgm:pt>
    <dgm:pt modelId="{EEB808EC-15A8-46AB-85BF-752553493361}" type="pres">
      <dgm:prSet presAssocID="{BF7ACF2A-3AA2-44A4-969C-C14BCB4E5090}" presName="FiveConn_4-5" presStyleLbl="fgAccFollowNode1" presStyleIdx="3" presStyleCnt="4">
        <dgm:presLayoutVars>
          <dgm:bulletEnabled val="1"/>
        </dgm:presLayoutVars>
      </dgm:prSet>
      <dgm:spPr/>
    </dgm:pt>
    <dgm:pt modelId="{28144F44-E408-4610-B99F-61517D05435D}" type="pres">
      <dgm:prSet presAssocID="{BF7ACF2A-3AA2-44A4-969C-C14BCB4E5090}" presName="FiveNodes_1_text" presStyleLbl="node1" presStyleIdx="4" presStyleCnt="5">
        <dgm:presLayoutVars>
          <dgm:bulletEnabled val="1"/>
        </dgm:presLayoutVars>
      </dgm:prSet>
      <dgm:spPr/>
    </dgm:pt>
    <dgm:pt modelId="{5085BED0-B8EE-486C-84A1-62332D145A34}" type="pres">
      <dgm:prSet presAssocID="{BF7ACF2A-3AA2-44A4-969C-C14BCB4E5090}" presName="FiveNodes_2_text" presStyleLbl="node1" presStyleIdx="4" presStyleCnt="5">
        <dgm:presLayoutVars>
          <dgm:bulletEnabled val="1"/>
        </dgm:presLayoutVars>
      </dgm:prSet>
      <dgm:spPr/>
    </dgm:pt>
    <dgm:pt modelId="{E5321857-1ACB-44A4-B42A-133656F374F3}" type="pres">
      <dgm:prSet presAssocID="{BF7ACF2A-3AA2-44A4-969C-C14BCB4E5090}" presName="FiveNodes_3_text" presStyleLbl="node1" presStyleIdx="4" presStyleCnt="5">
        <dgm:presLayoutVars>
          <dgm:bulletEnabled val="1"/>
        </dgm:presLayoutVars>
      </dgm:prSet>
      <dgm:spPr/>
    </dgm:pt>
    <dgm:pt modelId="{FA326006-3F50-4BE3-9DE5-9DF1067F91C4}" type="pres">
      <dgm:prSet presAssocID="{BF7ACF2A-3AA2-44A4-969C-C14BCB4E5090}" presName="FiveNodes_4_text" presStyleLbl="node1" presStyleIdx="4" presStyleCnt="5">
        <dgm:presLayoutVars>
          <dgm:bulletEnabled val="1"/>
        </dgm:presLayoutVars>
      </dgm:prSet>
      <dgm:spPr/>
    </dgm:pt>
    <dgm:pt modelId="{6BA2F305-432D-4D95-990C-E6BD03BA7587}" type="pres">
      <dgm:prSet presAssocID="{BF7ACF2A-3AA2-44A4-969C-C14BCB4E5090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00D69C08-992E-40BE-8CF7-6486893B1350}" type="presOf" srcId="{49374D8C-4AFD-4B89-9596-13A1B1791630}" destId="{EEB808EC-15A8-46AB-85BF-752553493361}" srcOrd="0" destOrd="0" presId="urn:microsoft.com/office/officeart/2005/8/layout/vProcess5"/>
    <dgm:cxn modelId="{595FBA09-373E-4B2E-9878-FA3F1EF6F1EE}" type="presOf" srcId="{B3B640F6-E7D8-427E-A3F3-DB0802DDAEC7}" destId="{0649FFBC-05BB-4D34-AC05-14F552B1086F}" srcOrd="0" destOrd="0" presId="urn:microsoft.com/office/officeart/2005/8/layout/vProcess5"/>
    <dgm:cxn modelId="{49E10419-2CDE-4A61-98AA-F9AE70EAA67D}" srcId="{BF7ACF2A-3AA2-44A4-969C-C14BCB4E5090}" destId="{791F8A07-5908-4749-AE31-C15D90394F8B}" srcOrd="3" destOrd="0" parTransId="{C1178EE4-0F9A-4ABD-B59A-EE8C842F5A8D}" sibTransId="{49374D8C-4AFD-4B89-9596-13A1B1791630}"/>
    <dgm:cxn modelId="{2EDE7C28-C830-4F71-BD58-43479777713A}" type="presOf" srcId="{791F8A07-5908-4749-AE31-C15D90394F8B}" destId="{8C9EA462-B077-45BF-94B9-A7606B1EDECF}" srcOrd="0" destOrd="0" presId="urn:microsoft.com/office/officeart/2005/8/layout/vProcess5"/>
    <dgm:cxn modelId="{7033BA34-C65D-4482-924F-5C60AA4A2BE0}" srcId="{BF7ACF2A-3AA2-44A4-969C-C14BCB4E5090}" destId="{CE930105-E017-48CA-A7F4-A05DD8EA70CE}" srcOrd="0" destOrd="0" parTransId="{FABE6103-C42B-4189-A33D-5556EB90788A}" sibTransId="{A83E0A1D-B6A2-4208-9E27-951535B665A9}"/>
    <dgm:cxn modelId="{D5675141-A102-44FE-BE71-C5719FEE1FDE}" type="presOf" srcId="{BF7ACF2A-3AA2-44A4-969C-C14BCB4E5090}" destId="{15D0E2B2-1A05-481F-B819-9772F50353A8}" srcOrd="0" destOrd="0" presId="urn:microsoft.com/office/officeart/2005/8/layout/vProcess5"/>
    <dgm:cxn modelId="{2ACAF842-A07C-430C-8A28-81E66C273CDE}" type="presOf" srcId="{B3B640F6-E7D8-427E-A3F3-DB0802DDAEC7}" destId="{5085BED0-B8EE-486C-84A1-62332D145A34}" srcOrd="1" destOrd="0" presId="urn:microsoft.com/office/officeart/2005/8/layout/vProcess5"/>
    <dgm:cxn modelId="{A7ADC26C-933C-4D96-9008-91FF6E0102B8}" type="presOf" srcId="{4EEFAF66-2AB2-4007-9E83-31FC44AFAC65}" destId="{CDA5FD2F-5B56-4E27-A6F1-B93F27A5CA7E}" srcOrd="0" destOrd="0" presId="urn:microsoft.com/office/officeart/2005/8/layout/vProcess5"/>
    <dgm:cxn modelId="{00DE1A4E-EBC7-4595-AC15-FEBC5E1D4DB2}" type="presOf" srcId="{7D4C5A2C-146F-48AF-B8BB-FFAF7BBFAE92}" destId="{6BA2F305-432D-4D95-990C-E6BD03BA7587}" srcOrd="1" destOrd="0" presId="urn:microsoft.com/office/officeart/2005/8/layout/vProcess5"/>
    <dgm:cxn modelId="{42293A72-B730-47BC-9BEF-E9FF4A288D35}" type="presOf" srcId="{59653468-B8DF-48D5-99FA-E69C866BCD73}" destId="{7904E0E6-CF03-403F-B4CA-440661A07E30}" srcOrd="0" destOrd="0" presId="urn:microsoft.com/office/officeart/2005/8/layout/vProcess5"/>
    <dgm:cxn modelId="{E6898352-4178-4883-95B7-1489981FABF8}" srcId="{BF7ACF2A-3AA2-44A4-969C-C14BCB4E5090}" destId="{7D4C5A2C-146F-48AF-B8BB-FFAF7BBFAE92}" srcOrd="4" destOrd="0" parTransId="{94E596EA-ED68-4A2C-88D7-6FFAB2CBC205}" sibTransId="{60AC4DCE-2064-458B-865A-AC47A1A92C92}"/>
    <dgm:cxn modelId="{3B751D76-CBB5-4207-A8C6-84C2F4149081}" type="presOf" srcId="{7D4C5A2C-146F-48AF-B8BB-FFAF7BBFAE92}" destId="{6CD9D46E-B7F0-436C-8B5D-66AA582A1397}" srcOrd="0" destOrd="0" presId="urn:microsoft.com/office/officeart/2005/8/layout/vProcess5"/>
    <dgm:cxn modelId="{641CF459-F7A6-4025-8944-36EDE10232B2}" type="presOf" srcId="{59653468-B8DF-48D5-99FA-E69C866BCD73}" destId="{E5321857-1ACB-44A4-B42A-133656F374F3}" srcOrd="1" destOrd="0" presId="urn:microsoft.com/office/officeart/2005/8/layout/vProcess5"/>
    <dgm:cxn modelId="{CB81AA93-81F8-4F3E-97E3-4E4C4A621FFC}" type="presOf" srcId="{791F8A07-5908-4749-AE31-C15D90394F8B}" destId="{FA326006-3F50-4BE3-9DE5-9DF1067F91C4}" srcOrd="1" destOrd="0" presId="urn:microsoft.com/office/officeart/2005/8/layout/vProcess5"/>
    <dgm:cxn modelId="{00F85097-23E7-4B79-8F87-01BC62B516B4}" type="presOf" srcId="{CE930105-E017-48CA-A7F4-A05DD8EA70CE}" destId="{28144F44-E408-4610-B99F-61517D05435D}" srcOrd="1" destOrd="0" presId="urn:microsoft.com/office/officeart/2005/8/layout/vProcess5"/>
    <dgm:cxn modelId="{D08585AC-CA24-4516-B94E-6A734386AC1F}" type="presOf" srcId="{A83E0A1D-B6A2-4208-9E27-951535B665A9}" destId="{980D0161-4D9B-4759-818D-39497CE12C05}" srcOrd="0" destOrd="0" presId="urn:microsoft.com/office/officeart/2005/8/layout/vProcess5"/>
    <dgm:cxn modelId="{E2A2C4C7-CDD5-418D-A382-97E6135EA7F1}" type="presOf" srcId="{1BB00BE1-BF32-4B54-8DA6-BEC2AB584E4C}" destId="{24A15C73-7D1B-438E-AE6B-CEC02D9B85D5}" srcOrd="0" destOrd="0" presId="urn:microsoft.com/office/officeart/2005/8/layout/vProcess5"/>
    <dgm:cxn modelId="{1AD26ACD-36C1-426E-82DE-56C1D369AD92}" srcId="{BF7ACF2A-3AA2-44A4-969C-C14BCB4E5090}" destId="{B3B640F6-E7D8-427E-A3F3-DB0802DDAEC7}" srcOrd="1" destOrd="0" parTransId="{C80AFBAA-B4FF-458A-91AE-9FD0638B7D0F}" sibTransId="{4EEFAF66-2AB2-4007-9E83-31FC44AFAC65}"/>
    <dgm:cxn modelId="{03CB9BED-B5B2-4ADC-B1F7-F7C791D3BA82}" type="presOf" srcId="{CE930105-E017-48CA-A7F4-A05DD8EA70CE}" destId="{2F9E3821-D9E1-4523-86D2-7D6B8E5067BC}" srcOrd="0" destOrd="0" presId="urn:microsoft.com/office/officeart/2005/8/layout/vProcess5"/>
    <dgm:cxn modelId="{0656BFF6-BA36-4001-A73B-89EB1AC4FCE8}" srcId="{BF7ACF2A-3AA2-44A4-969C-C14BCB4E5090}" destId="{59653468-B8DF-48D5-99FA-E69C866BCD73}" srcOrd="2" destOrd="0" parTransId="{7FA251EE-8FB6-4169-B18A-6ED567BBC41C}" sibTransId="{1BB00BE1-BF32-4B54-8DA6-BEC2AB584E4C}"/>
    <dgm:cxn modelId="{987A169B-8300-4052-84BE-F2AEA9B7AA6E}" type="presParOf" srcId="{15D0E2B2-1A05-481F-B819-9772F50353A8}" destId="{7F4EDEEF-7F91-4012-B7CA-8221526DF9D5}" srcOrd="0" destOrd="0" presId="urn:microsoft.com/office/officeart/2005/8/layout/vProcess5"/>
    <dgm:cxn modelId="{4C18FFDF-B9C4-42D9-A8E7-DA6CA887E8B2}" type="presParOf" srcId="{15D0E2B2-1A05-481F-B819-9772F50353A8}" destId="{2F9E3821-D9E1-4523-86D2-7D6B8E5067BC}" srcOrd="1" destOrd="0" presId="urn:microsoft.com/office/officeart/2005/8/layout/vProcess5"/>
    <dgm:cxn modelId="{9B80524D-5D73-4166-91C2-AFCB52755105}" type="presParOf" srcId="{15D0E2B2-1A05-481F-B819-9772F50353A8}" destId="{0649FFBC-05BB-4D34-AC05-14F552B1086F}" srcOrd="2" destOrd="0" presId="urn:microsoft.com/office/officeart/2005/8/layout/vProcess5"/>
    <dgm:cxn modelId="{3BED3F02-420A-44C4-9746-FAAC786E1509}" type="presParOf" srcId="{15D0E2B2-1A05-481F-B819-9772F50353A8}" destId="{7904E0E6-CF03-403F-B4CA-440661A07E30}" srcOrd="3" destOrd="0" presId="urn:microsoft.com/office/officeart/2005/8/layout/vProcess5"/>
    <dgm:cxn modelId="{88139332-427D-48A2-BF7A-E169489E5061}" type="presParOf" srcId="{15D0E2B2-1A05-481F-B819-9772F50353A8}" destId="{8C9EA462-B077-45BF-94B9-A7606B1EDECF}" srcOrd="4" destOrd="0" presId="urn:microsoft.com/office/officeart/2005/8/layout/vProcess5"/>
    <dgm:cxn modelId="{79240445-C53D-4513-9CF2-17B96F01FD7A}" type="presParOf" srcId="{15D0E2B2-1A05-481F-B819-9772F50353A8}" destId="{6CD9D46E-B7F0-436C-8B5D-66AA582A1397}" srcOrd="5" destOrd="0" presId="urn:microsoft.com/office/officeart/2005/8/layout/vProcess5"/>
    <dgm:cxn modelId="{B90C47A4-1094-4C9D-9076-E8363B6A265B}" type="presParOf" srcId="{15D0E2B2-1A05-481F-B819-9772F50353A8}" destId="{980D0161-4D9B-4759-818D-39497CE12C05}" srcOrd="6" destOrd="0" presId="urn:microsoft.com/office/officeart/2005/8/layout/vProcess5"/>
    <dgm:cxn modelId="{D1060CC8-AA6C-4E64-91FA-2149101BBBE0}" type="presParOf" srcId="{15D0E2B2-1A05-481F-B819-9772F50353A8}" destId="{CDA5FD2F-5B56-4E27-A6F1-B93F27A5CA7E}" srcOrd="7" destOrd="0" presId="urn:microsoft.com/office/officeart/2005/8/layout/vProcess5"/>
    <dgm:cxn modelId="{4DB8E17F-1931-407B-8B86-87B061C67F52}" type="presParOf" srcId="{15D0E2B2-1A05-481F-B819-9772F50353A8}" destId="{24A15C73-7D1B-438E-AE6B-CEC02D9B85D5}" srcOrd="8" destOrd="0" presId="urn:microsoft.com/office/officeart/2005/8/layout/vProcess5"/>
    <dgm:cxn modelId="{51D66628-F0DD-419A-9F9E-DCD0EF8CA791}" type="presParOf" srcId="{15D0E2B2-1A05-481F-B819-9772F50353A8}" destId="{EEB808EC-15A8-46AB-85BF-752553493361}" srcOrd="9" destOrd="0" presId="urn:microsoft.com/office/officeart/2005/8/layout/vProcess5"/>
    <dgm:cxn modelId="{F1760569-CBAF-4A85-A65F-ED856B2A9A03}" type="presParOf" srcId="{15D0E2B2-1A05-481F-B819-9772F50353A8}" destId="{28144F44-E408-4610-B99F-61517D05435D}" srcOrd="10" destOrd="0" presId="urn:microsoft.com/office/officeart/2005/8/layout/vProcess5"/>
    <dgm:cxn modelId="{C14A9F91-007F-455F-BF64-23264B190D5D}" type="presParOf" srcId="{15D0E2B2-1A05-481F-B819-9772F50353A8}" destId="{5085BED0-B8EE-486C-84A1-62332D145A34}" srcOrd="11" destOrd="0" presId="urn:microsoft.com/office/officeart/2005/8/layout/vProcess5"/>
    <dgm:cxn modelId="{6DCB9119-EE3E-4926-8BFF-75ABEB9936A7}" type="presParOf" srcId="{15D0E2B2-1A05-481F-B819-9772F50353A8}" destId="{E5321857-1ACB-44A4-B42A-133656F374F3}" srcOrd="12" destOrd="0" presId="urn:microsoft.com/office/officeart/2005/8/layout/vProcess5"/>
    <dgm:cxn modelId="{84B1224D-F0E1-4603-BEB0-BA77C86E03E5}" type="presParOf" srcId="{15D0E2B2-1A05-481F-B819-9772F50353A8}" destId="{FA326006-3F50-4BE3-9DE5-9DF1067F91C4}" srcOrd="13" destOrd="0" presId="urn:microsoft.com/office/officeart/2005/8/layout/vProcess5"/>
    <dgm:cxn modelId="{287E6897-D44A-400B-A69D-FDE022ED0255}" type="presParOf" srcId="{15D0E2B2-1A05-481F-B819-9772F50353A8}" destId="{6BA2F305-432D-4D95-990C-E6BD03BA7587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7EB56C-DA52-4AD5-B04E-767E37C6BC22}">
      <dsp:nvSpPr>
        <dsp:cNvPr id="0" name=""/>
        <dsp:cNvSpPr/>
      </dsp:nvSpPr>
      <dsp:spPr>
        <a:xfrm>
          <a:off x="952" y="146421"/>
          <a:ext cx="2030544" cy="121832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Embedding Layer</a:t>
          </a:r>
          <a:endParaRPr lang="en-US" sz="2400" kern="1200" dirty="0"/>
        </a:p>
      </dsp:txBody>
      <dsp:txXfrm>
        <a:off x="36636" y="182105"/>
        <a:ext cx="1959176" cy="1146958"/>
      </dsp:txXfrm>
    </dsp:sp>
    <dsp:sp modelId="{5C52296F-2C4E-46D4-88E7-B9251A5FD82F}">
      <dsp:nvSpPr>
        <dsp:cNvPr id="0" name=""/>
        <dsp:cNvSpPr/>
      </dsp:nvSpPr>
      <dsp:spPr>
        <a:xfrm>
          <a:off x="2210184" y="503797"/>
          <a:ext cx="430475" cy="50357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>
        <a:off x="2210184" y="604512"/>
        <a:ext cx="301333" cy="302145"/>
      </dsp:txXfrm>
    </dsp:sp>
    <dsp:sp modelId="{BF6CE068-CF26-48EE-B88F-3F4C0F701C62}">
      <dsp:nvSpPr>
        <dsp:cNvPr id="0" name=""/>
        <dsp:cNvSpPr/>
      </dsp:nvSpPr>
      <dsp:spPr>
        <a:xfrm>
          <a:off x="2843714" y="146421"/>
          <a:ext cx="2030544" cy="121832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Dimensiune vector: 128</a:t>
          </a:r>
        </a:p>
      </dsp:txBody>
      <dsp:txXfrm>
        <a:off x="2879398" y="182105"/>
        <a:ext cx="1959176" cy="1146958"/>
      </dsp:txXfrm>
    </dsp:sp>
    <dsp:sp modelId="{163168BB-8B04-4E0E-ADB4-DF1634CB68D4}">
      <dsp:nvSpPr>
        <dsp:cNvPr id="0" name=""/>
        <dsp:cNvSpPr/>
      </dsp:nvSpPr>
      <dsp:spPr>
        <a:xfrm rot="5400000">
          <a:off x="3643748" y="1506886"/>
          <a:ext cx="430475" cy="50357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3707913" y="1543436"/>
        <a:ext cx="302145" cy="301333"/>
      </dsp:txXfrm>
    </dsp:sp>
    <dsp:sp modelId="{1B14C2BE-717B-48E0-A78A-0C589BF522D0}">
      <dsp:nvSpPr>
        <dsp:cNvPr id="0" name=""/>
        <dsp:cNvSpPr/>
      </dsp:nvSpPr>
      <dsp:spPr>
        <a:xfrm>
          <a:off x="2843714" y="2176965"/>
          <a:ext cx="2030544" cy="121832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Fiecare cuvânt → vector numeric dens</a:t>
          </a:r>
        </a:p>
      </dsp:txBody>
      <dsp:txXfrm>
        <a:off x="2879398" y="2212649"/>
        <a:ext cx="1959176" cy="1146958"/>
      </dsp:txXfrm>
    </dsp:sp>
    <dsp:sp modelId="{03286CA9-ACFC-4204-BE41-5AE99E65D850}">
      <dsp:nvSpPr>
        <dsp:cNvPr id="0" name=""/>
        <dsp:cNvSpPr/>
      </dsp:nvSpPr>
      <dsp:spPr>
        <a:xfrm rot="10800000">
          <a:off x="2234551" y="2534341"/>
          <a:ext cx="430475" cy="50357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10800000">
        <a:off x="2363693" y="2635056"/>
        <a:ext cx="301333" cy="302145"/>
      </dsp:txXfrm>
    </dsp:sp>
    <dsp:sp modelId="{0F9F7299-ED5C-4EC6-8BC9-D4B3D053677E}">
      <dsp:nvSpPr>
        <dsp:cNvPr id="0" name=""/>
        <dsp:cNvSpPr/>
      </dsp:nvSpPr>
      <dsp:spPr>
        <a:xfrm>
          <a:off x="952" y="2176965"/>
          <a:ext cx="2030544" cy="121832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Învață relații semantice între cuvinte</a:t>
          </a:r>
        </a:p>
      </dsp:txBody>
      <dsp:txXfrm>
        <a:off x="36636" y="2212649"/>
        <a:ext cx="1959176" cy="114695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F9E3821-D9E1-4523-86D2-7D6B8E5067BC}">
      <dsp:nvSpPr>
        <dsp:cNvPr id="0" name=""/>
        <dsp:cNvSpPr/>
      </dsp:nvSpPr>
      <dsp:spPr>
        <a:xfrm>
          <a:off x="0" y="0"/>
          <a:ext cx="7627619" cy="6375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0" i="0" kern="1200" baseline="0"/>
            <a:t>Optimizer: Adam</a:t>
          </a:r>
          <a:endParaRPr lang="en-US" sz="2900" kern="1200"/>
        </a:p>
      </dsp:txBody>
      <dsp:txXfrm>
        <a:off x="18672" y="18672"/>
        <a:ext cx="6865109" cy="600164"/>
      </dsp:txXfrm>
    </dsp:sp>
    <dsp:sp modelId="{0649FFBC-05BB-4D34-AC05-14F552B1086F}">
      <dsp:nvSpPr>
        <dsp:cNvPr id="0" name=""/>
        <dsp:cNvSpPr/>
      </dsp:nvSpPr>
      <dsp:spPr>
        <a:xfrm>
          <a:off x="569594" y="726051"/>
          <a:ext cx="7627619" cy="6375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0" i="0" kern="1200" baseline="0"/>
            <a:t>Loss: Binary Cross-Entropy</a:t>
          </a:r>
          <a:endParaRPr lang="en-US" sz="2900" kern="1200"/>
        </a:p>
      </dsp:txBody>
      <dsp:txXfrm>
        <a:off x="588266" y="744723"/>
        <a:ext cx="6606299" cy="600164"/>
      </dsp:txXfrm>
    </dsp:sp>
    <dsp:sp modelId="{7904E0E6-CF03-403F-B4CA-440661A07E30}">
      <dsp:nvSpPr>
        <dsp:cNvPr id="0" name=""/>
        <dsp:cNvSpPr/>
      </dsp:nvSpPr>
      <dsp:spPr>
        <a:xfrm>
          <a:off x="1139189" y="1452102"/>
          <a:ext cx="7627619" cy="6375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0" i="0" kern="1200" baseline="0"/>
            <a:t>Batch size: 64</a:t>
          </a:r>
          <a:endParaRPr lang="en-US" sz="2900" kern="1200"/>
        </a:p>
      </dsp:txBody>
      <dsp:txXfrm>
        <a:off x="1157861" y="1470774"/>
        <a:ext cx="6606299" cy="600164"/>
      </dsp:txXfrm>
    </dsp:sp>
    <dsp:sp modelId="{8C9EA462-B077-45BF-94B9-A7606B1EDECF}">
      <dsp:nvSpPr>
        <dsp:cNvPr id="0" name=""/>
        <dsp:cNvSpPr/>
      </dsp:nvSpPr>
      <dsp:spPr>
        <a:xfrm>
          <a:off x="1708784" y="2178154"/>
          <a:ext cx="7627619" cy="6375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0" i="0" kern="1200" baseline="0"/>
            <a:t>Epoci maxime: 7</a:t>
          </a:r>
          <a:endParaRPr lang="en-US" sz="2900" kern="1200"/>
        </a:p>
      </dsp:txBody>
      <dsp:txXfrm>
        <a:off x="1727456" y="2196826"/>
        <a:ext cx="6606299" cy="600164"/>
      </dsp:txXfrm>
    </dsp:sp>
    <dsp:sp modelId="{6CD9D46E-B7F0-436C-8B5D-66AA582A1397}">
      <dsp:nvSpPr>
        <dsp:cNvPr id="0" name=""/>
        <dsp:cNvSpPr/>
      </dsp:nvSpPr>
      <dsp:spPr>
        <a:xfrm>
          <a:off x="2278379" y="2904205"/>
          <a:ext cx="7627619" cy="63750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0" i="0" kern="1200" baseline="0"/>
            <a:t>EarlyStopping: patience = 2</a:t>
          </a:r>
          <a:endParaRPr lang="en-US" sz="2900" kern="1200"/>
        </a:p>
      </dsp:txBody>
      <dsp:txXfrm>
        <a:off x="2297051" y="2922877"/>
        <a:ext cx="6606299" cy="600164"/>
      </dsp:txXfrm>
    </dsp:sp>
    <dsp:sp modelId="{980D0161-4D9B-4759-818D-39497CE12C05}">
      <dsp:nvSpPr>
        <dsp:cNvPr id="0" name=""/>
        <dsp:cNvSpPr/>
      </dsp:nvSpPr>
      <dsp:spPr>
        <a:xfrm>
          <a:off x="7213238" y="465735"/>
          <a:ext cx="414380" cy="414380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7306473" y="465735"/>
        <a:ext cx="227910" cy="311821"/>
      </dsp:txXfrm>
    </dsp:sp>
    <dsp:sp modelId="{CDA5FD2F-5B56-4E27-A6F1-B93F27A5CA7E}">
      <dsp:nvSpPr>
        <dsp:cNvPr id="0" name=""/>
        <dsp:cNvSpPr/>
      </dsp:nvSpPr>
      <dsp:spPr>
        <a:xfrm>
          <a:off x="7782833" y="1191786"/>
          <a:ext cx="414380" cy="414380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7876068" y="1191786"/>
        <a:ext cx="227910" cy="311821"/>
      </dsp:txXfrm>
    </dsp:sp>
    <dsp:sp modelId="{24A15C73-7D1B-438E-AE6B-CEC02D9B85D5}">
      <dsp:nvSpPr>
        <dsp:cNvPr id="0" name=""/>
        <dsp:cNvSpPr/>
      </dsp:nvSpPr>
      <dsp:spPr>
        <a:xfrm>
          <a:off x="8352428" y="1907212"/>
          <a:ext cx="414380" cy="414380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8445663" y="1907212"/>
        <a:ext cx="227910" cy="311821"/>
      </dsp:txXfrm>
    </dsp:sp>
    <dsp:sp modelId="{EEB808EC-15A8-46AB-85BF-752553493361}">
      <dsp:nvSpPr>
        <dsp:cNvPr id="0" name=""/>
        <dsp:cNvSpPr/>
      </dsp:nvSpPr>
      <dsp:spPr>
        <a:xfrm>
          <a:off x="8922023" y="2640347"/>
          <a:ext cx="414380" cy="414380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9015258" y="2640347"/>
        <a:ext cx="227910" cy="31182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ante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ubstituent dată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0A8501-2C25-41FC-ACD6-DBAC3265177B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4" name="Substituent imagine diapozitiv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Substituent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6" name="Substituent subsol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ubstituent număr diapozitiv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8DCA29-CEC5-4BEA-A59B-E2A7F69133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258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DCA29-CEC5-4BEA-A59B-E2A7F691331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745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Recenziile</a:t>
            </a:r>
            <a:r>
              <a:rPr lang="en-US" dirty="0"/>
              <a:t> de </a:t>
            </a:r>
            <a:r>
              <a:rPr lang="en-US" dirty="0" err="1"/>
              <a:t>filme</a:t>
            </a:r>
            <a:r>
              <a:rPr lang="en-US" dirty="0"/>
              <a:t> sunt o </a:t>
            </a:r>
            <a:r>
              <a:rPr lang="en-US" dirty="0" err="1"/>
              <a:t>sursă</a:t>
            </a:r>
            <a:r>
              <a:rPr lang="en-US" dirty="0"/>
              <a:t> </a:t>
            </a:r>
            <a:r>
              <a:rPr lang="en-US" dirty="0" err="1"/>
              <a:t>ideală</a:t>
            </a:r>
            <a:r>
              <a:rPr lang="en-US" dirty="0"/>
              <a:t> de date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analiza</a:t>
            </a:r>
            <a:r>
              <a:rPr lang="en-US" dirty="0"/>
              <a:t> </a:t>
            </a:r>
            <a:r>
              <a:rPr lang="en-US" dirty="0" err="1"/>
              <a:t>sentimentelor</a:t>
            </a:r>
            <a:r>
              <a:rPr lang="en-US" dirty="0"/>
              <a:t>, </a:t>
            </a:r>
            <a:r>
              <a:rPr lang="en-US" dirty="0" err="1"/>
              <a:t>deoarece</a:t>
            </a:r>
            <a:r>
              <a:rPr lang="en-US" dirty="0"/>
              <a:t> sunt </a:t>
            </a:r>
            <a:r>
              <a:rPr lang="en-US" dirty="0" err="1"/>
              <a:t>expresive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variate.</a:t>
            </a:r>
            <a:br>
              <a:rPr lang="en-US" dirty="0"/>
            </a:br>
            <a:r>
              <a:rPr lang="en-US" dirty="0"/>
              <a:t>Ele pot </a:t>
            </a:r>
            <a:r>
              <a:rPr lang="en-US" dirty="0" err="1"/>
              <a:t>conține</a:t>
            </a:r>
            <a:r>
              <a:rPr lang="en-US" dirty="0"/>
              <a:t> </a:t>
            </a:r>
            <a:r>
              <a:rPr lang="en-US" dirty="0" err="1"/>
              <a:t>ironie</a:t>
            </a:r>
            <a:r>
              <a:rPr lang="en-US" dirty="0"/>
              <a:t>, </a:t>
            </a:r>
            <a:r>
              <a:rPr lang="en-US" dirty="0" err="1"/>
              <a:t>negații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opinii</a:t>
            </a:r>
            <a:r>
              <a:rPr lang="en-US" dirty="0"/>
              <a:t> </a:t>
            </a:r>
            <a:r>
              <a:rPr lang="en-US" dirty="0" err="1"/>
              <a:t>complexe</a:t>
            </a:r>
            <a:r>
              <a:rPr lang="en-US" dirty="0"/>
              <a:t>, </a:t>
            </a:r>
            <a:r>
              <a:rPr lang="en-US" dirty="0" err="1"/>
              <a:t>ceea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face </a:t>
            </a:r>
            <a:r>
              <a:rPr lang="en-US" dirty="0" err="1"/>
              <a:t>problema</a:t>
            </a:r>
            <a:r>
              <a:rPr lang="en-US" dirty="0"/>
              <a:t> </a:t>
            </a:r>
            <a:r>
              <a:rPr lang="en-US" dirty="0" err="1"/>
              <a:t>dificilă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metodele</a:t>
            </a:r>
            <a:r>
              <a:rPr lang="en-US" dirty="0"/>
              <a:t> </a:t>
            </a:r>
            <a:r>
              <a:rPr lang="en-US" dirty="0" err="1"/>
              <a:t>clasice</a:t>
            </a:r>
            <a:r>
              <a:rPr lang="en-US" dirty="0"/>
              <a:t>.</a:t>
            </a:r>
            <a:br>
              <a:rPr lang="en-US" dirty="0"/>
            </a:br>
            <a:endParaRPr lang="en-US" dirty="0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DCA29-CEC5-4BEA-A59B-E2A7F691331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1679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Scopul</a:t>
            </a:r>
            <a:r>
              <a:rPr lang="en-US" dirty="0"/>
              <a:t> principal al </a:t>
            </a:r>
            <a:r>
              <a:rPr lang="en-US" dirty="0" err="1"/>
              <a:t>proiectului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clasificarea</a:t>
            </a:r>
            <a:r>
              <a:rPr lang="en-US" dirty="0"/>
              <a:t> </a:t>
            </a:r>
            <a:r>
              <a:rPr lang="en-US" dirty="0" err="1"/>
              <a:t>automată</a:t>
            </a:r>
            <a:r>
              <a:rPr lang="en-US" dirty="0"/>
              <a:t> a </a:t>
            </a:r>
            <a:r>
              <a:rPr lang="en-US" dirty="0" err="1"/>
              <a:t>sentimentului</a:t>
            </a:r>
            <a:r>
              <a:rPr lang="en-US" dirty="0"/>
              <a:t> </a:t>
            </a:r>
            <a:r>
              <a:rPr lang="en-US" dirty="0" err="1"/>
              <a:t>recenziilor</a:t>
            </a:r>
            <a:r>
              <a:rPr lang="en-US" dirty="0"/>
              <a:t> de </a:t>
            </a:r>
            <a:r>
              <a:rPr lang="en-US" dirty="0" err="1"/>
              <a:t>filme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 err="1"/>
              <a:t>Pentru</a:t>
            </a:r>
            <a:r>
              <a:rPr lang="en-US" dirty="0"/>
              <a:t> a </a:t>
            </a:r>
            <a:r>
              <a:rPr lang="en-US" dirty="0" err="1"/>
              <a:t>atinge</a:t>
            </a:r>
            <a:r>
              <a:rPr lang="en-US" dirty="0"/>
              <a:t> </a:t>
            </a:r>
            <a:r>
              <a:rPr lang="en-US" dirty="0" err="1"/>
              <a:t>acest</a:t>
            </a:r>
            <a:r>
              <a:rPr lang="en-US" dirty="0"/>
              <a:t> scop, am </a:t>
            </a:r>
            <a:r>
              <a:rPr lang="en-US" dirty="0" err="1"/>
              <a:t>avut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multe</a:t>
            </a:r>
            <a:r>
              <a:rPr lang="en-US" dirty="0"/>
              <a:t> </a:t>
            </a:r>
            <a:r>
              <a:rPr lang="en-US" dirty="0" err="1"/>
              <a:t>obiective</a:t>
            </a:r>
            <a:r>
              <a:rPr lang="en-US" dirty="0"/>
              <a:t>: </a:t>
            </a:r>
            <a:r>
              <a:rPr lang="en-US" dirty="0" err="1"/>
              <a:t>preprocesarea</a:t>
            </a:r>
            <a:r>
              <a:rPr lang="en-US" dirty="0"/>
              <a:t> </a:t>
            </a:r>
            <a:r>
              <a:rPr lang="en-US" dirty="0" err="1"/>
              <a:t>textului</a:t>
            </a:r>
            <a:r>
              <a:rPr lang="en-US" dirty="0"/>
              <a:t>, </a:t>
            </a:r>
            <a:r>
              <a:rPr lang="en-US" dirty="0" err="1"/>
              <a:t>implementarea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multor</a:t>
            </a:r>
            <a:r>
              <a:rPr lang="en-US" dirty="0"/>
              <a:t> </a:t>
            </a:r>
            <a:r>
              <a:rPr lang="en-US" dirty="0" err="1"/>
              <a:t>arhitecturi</a:t>
            </a:r>
            <a:r>
              <a:rPr lang="en-US" dirty="0"/>
              <a:t> RNN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compararea</a:t>
            </a:r>
            <a:r>
              <a:rPr lang="en-US" dirty="0"/>
              <a:t> </a:t>
            </a:r>
            <a:r>
              <a:rPr lang="en-US" dirty="0" err="1"/>
              <a:t>performanțelor</a:t>
            </a:r>
            <a:r>
              <a:rPr lang="en-US" dirty="0"/>
              <a:t> </a:t>
            </a:r>
            <a:r>
              <a:rPr lang="en-US" dirty="0" err="1"/>
              <a:t>acestora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a </a:t>
            </a:r>
            <a:r>
              <a:rPr lang="en-US" dirty="0" err="1"/>
              <a:t>observa</a:t>
            </a:r>
            <a:r>
              <a:rPr lang="en-US" dirty="0"/>
              <a:t> </a:t>
            </a:r>
            <a:r>
              <a:rPr lang="en-US" dirty="0" err="1"/>
              <a:t>diferențele</a:t>
            </a:r>
            <a:r>
              <a:rPr lang="en-US" dirty="0"/>
              <a:t> </a:t>
            </a:r>
            <a:r>
              <a:rPr lang="en-US" dirty="0" err="1"/>
              <a:t>dintre</a:t>
            </a:r>
            <a:r>
              <a:rPr lang="en-US" dirty="0"/>
              <a:t> </a:t>
            </a:r>
            <a:r>
              <a:rPr lang="en-US" dirty="0" err="1"/>
              <a:t>ele</a:t>
            </a:r>
            <a:r>
              <a:rPr lang="en-US" dirty="0"/>
              <a:t>.</a:t>
            </a:r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DCA29-CEC5-4BEA-A59B-E2A7F691331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1535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Dataset-ul </a:t>
            </a:r>
            <a:r>
              <a:rPr lang="en-US" dirty="0" err="1"/>
              <a:t>utilizat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IMDB Dataset of 50K Movie Reviews, </a:t>
            </a:r>
            <a:r>
              <a:rPr lang="en-US" dirty="0" err="1"/>
              <a:t>disponibil</a:t>
            </a:r>
            <a:r>
              <a:rPr lang="en-US" dirty="0"/>
              <a:t> pe Kaggle.</a:t>
            </a:r>
            <a:br>
              <a:rPr lang="en-US" dirty="0"/>
            </a:br>
            <a:r>
              <a:rPr lang="en-US" dirty="0" err="1"/>
              <a:t>Conține</a:t>
            </a:r>
            <a:r>
              <a:rPr lang="en-US" dirty="0"/>
              <a:t> 50.000 de </a:t>
            </a:r>
            <a:r>
              <a:rPr lang="en-US" dirty="0" err="1"/>
              <a:t>recenzii</a:t>
            </a:r>
            <a:r>
              <a:rPr lang="en-US" dirty="0"/>
              <a:t> </a:t>
            </a:r>
            <a:r>
              <a:rPr lang="en-US" dirty="0" err="1"/>
              <a:t>etichetate</a:t>
            </a:r>
            <a:r>
              <a:rPr lang="en-US" dirty="0"/>
              <a:t> manual ca </a:t>
            </a:r>
            <a:r>
              <a:rPr lang="en-US" dirty="0" err="1"/>
              <a:t>fiind</a:t>
            </a:r>
            <a:r>
              <a:rPr lang="en-US" dirty="0"/>
              <a:t> </a:t>
            </a:r>
            <a:r>
              <a:rPr lang="en-US" dirty="0" err="1"/>
              <a:t>pozitive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negative.</a:t>
            </a:r>
            <a:br>
              <a:rPr lang="en-US" dirty="0"/>
            </a:br>
            <a:r>
              <a:rPr lang="en-US" dirty="0"/>
              <a:t>Un </a:t>
            </a:r>
            <a:r>
              <a:rPr lang="en-US" dirty="0" err="1"/>
              <a:t>avantaj</a:t>
            </a:r>
            <a:r>
              <a:rPr lang="en-US" dirty="0"/>
              <a:t> major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faptul</a:t>
            </a:r>
            <a:r>
              <a:rPr lang="en-US" dirty="0"/>
              <a:t> </a:t>
            </a:r>
            <a:r>
              <a:rPr lang="en-US" dirty="0" err="1"/>
              <a:t>că</a:t>
            </a:r>
            <a:r>
              <a:rPr lang="en-US" dirty="0"/>
              <a:t> dataset-ul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echilibrat</a:t>
            </a:r>
            <a:r>
              <a:rPr lang="en-US" dirty="0"/>
              <a:t>, </a:t>
            </a:r>
            <a:r>
              <a:rPr lang="en-US" dirty="0" err="1"/>
              <a:t>ceea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reduce </a:t>
            </a:r>
            <a:r>
              <a:rPr lang="en-US" dirty="0" err="1"/>
              <a:t>riscul</a:t>
            </a:r>
            <a:r>
              <a:rPr lang="en-US" dirty="0"/>
              <a:t> de bias </a:t>
            </a:r>
            <a:r>
              <a:rPr lang="en-US" dirty="0" err="1"/>
              <a:t>în</a:t>
            </a:r>
            <a:r>
              <a:rPr lang="en-US" dirty="0"/>
              <a:t> </a:t>
            </a:r>
            <a:r>
              <a:rPr lang="en-US" dirty="0" err="1"/>
              <a:t>antrenarea</a:t>
            </a:r>
            <a:r>
              <a:rPr lang="en-US" dirty="0"/>
              <a:t> </a:t>
            </a:r>
            <a:r>
              <a:rPr lang="en-US" dirty="0" err="1"/>
              <a:t>modelelor</a:t>
            </a:r>
            <a:r>
              <a:rPr lang="en-US" dirty="0"/>
              <a:t>.</a:t>
            </a:r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DCA29-CEC5-4BEA-A59B-E2A7F691331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8028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Preprocesarea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un pas </a:t>
            </a:r>
            <a:r>
              <a:rPr lang="en-US" dirty="0" err="1"/>
              <a:t>esențial</a:t>
            </a:r>
            <a:r>
              <a:rPr lang="en-US" dirty="0"/>
              <a:t> </a:t>
            </a:r>
            <a:r>
              <a:rPr lang="en-US" dirty="0" err="1"/>
              <a:t>în</a:t>
            </a:r>
            <a:r>
              <a:rPr lang="en-US" dirty="0"/>
              <a:t> NLP.</a:t>
            </a:r>
            <a:br>
              <a:rPr lang="en-US" dirty="0"/>
            </a:br>
            <a:r>
              <a:rPr lang="en-US" dirty="0"/>
              <a:t>Am </a:t>
            </a:r>
            <a:r>
              <a:rPr lang="en-US" dirty="0" err="1"/>
              <a:t>curățat</a:t>
            </a:r>
            <a:r>
              <a:rPr lang="en-US" dirty="0"/>
              <a:t> </a:t>
            </a:r>
            <a:r>
              <a:rPr lang="en-US" dirty="0" err="1"/>
              <a:t>textul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eliminarea</a:t>
            </a:r>
            <a:r>
              <a:rPr lang="en-US" dirty="0"/>
              <a:t> </a:t>
            </a:r>
            <a:r>
              <a:rPr lang="en-US" dirty="0" err="1"/>
              <a:t>caracterelor</a:t>
            </a:r>
            <a:r>
              <a:rPr lang="en-US" dirty="0"/>
              <a:t> inutile </a:t>
            </a:r>
            <a:r>
              <a:rPr lang="en-US" dirty="0" err="1"/>
              <a:t>și</a:t>
            </a:r>
            <a:r>
              <a:rPr lang="en-US" dirty="0"/>
              <a:t> a tag-</a:t>
            </a:r>
            <a:r>
              <a:rPr lang="en-US" dirty="0" err="1"/>
              <a:t>urilor</a:t>
            </a:r>
            <a:r>
              <a:rPr lang="en-US" dirty="0"/>
              <a:t> HTML, </a:t>
            </a:r>
            <a:r>
              <a:rPr lang="en-US" dirty="0" err="1"/>
              <a:t>apoi</a:t>
            </a:r>
            <a:r>
              <a:rPr lang="en-US" dirty="0"/>
              <a:t> am </a:t>
            </a:r>
            <a:r>
              <a:rPr lang="en-US" dirty="0" err="1"/>
              <a:t>transformat</a:t>
            </a:r>
            <a:r>
              <a:rPr lang="en-US" dirty="0"/>
              <a:t> </a:t>
            </a:r>
            <a:r>
              <a:rPr lang="en-US" dirty="0" err="1"/>
              <a:t>totul</a:t>
            </a:r>
            <a:r>
              <a:rPr lang="en-US" dirty="0"/>
              <a:t> </a:t>
            </a:r>
            <a:r>
              <a:rPr lang="en-US" dirty="0" err="1"/>
              <a:t>în</a:t>
            </a:r>
            <a:r>
              <a:rPr lang="en-US" dirty="0"/>
              <a:t> lowercase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consistență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 err="1"/>
              <a:t>Tokenizarea</a:t>
            </a:r>
            <a:r>
              <a:rPr lang="en-US" dirty="0"/>
              <a:t> </a:t>
            </a:r>
            <a:r>
              <a:rPr lang="en-US" dirty="0" err="1"/>
              <a:t>transformă</a:t>
            </a:r>
            <a:r>
              <a:rPr lang="en-US" dirty="0"/>
              <a:t> </a:t>
            </a:r>
            <a:r>
              <a:rPr lang="en-US" dirty="0" err="1"/>
              <a:t>textul</a:t>
            </a:r>
            <a:r>
              <a:rPr lang="en-US" dirty="0"/>
              <a:t> </a:t>
            </a:r>
            <a:r>
              <a:rPr lang="en-US" dirty="0" err="1"/>
              <a:t>în</a:t>
            </a:r>
            <a:r>
              <a:rPr lang="en-US" dirty="0"/>
              <a:t> </a:t>
            </a:r>
            <a:r>
              <a:rPr lang="en-US" dirty="0" err="1"/>
              <a:t>secvențe</a:t>
            </a:r>
            <a:r>
              <a:rPr lang="en-US" dirty="0"/>
              <a:t> </a:t>
            </a:r>
            <a:r>
              <a:rPr lang="en-US" dirty="0" err="1"/>
              <a:t>numerice</a:t>
            </a:r>
            <a:r>
              <a:rPr lang="en-US" dirty="0"/>
              <a:t>, </a:t>
            </a:r>
            <a:r>
              <a:rPr lang="en-US" dirty="0" err="1"/>
              <a:t>iar</a:t>
            </a:r>
            <a:r>
              <a:rPr lang="en-US" dirty="0"/>
              <a:t> padding-ul </a:t>
            </a:r>
            <a:r>
              <a:rPr lang="en-US" dirty="0" err="1"/>
              <a:t>permite</a:t>
            </a:r>
            <a:r>
              <a:rPr lang="en-US" dirty="0"/>
              <a:t> ca </a:t>
            </a:r>
            <a:r>
              <a:rPr lang="en-US" dirty="0" err="1"/>
              <a:t>toate</a:t>
            </a:r>
            <a:r>
              <a:rPr lang="en-US" dirty="0"/>
              <a:t> </a:t>
            </a:r>
            <a:r>
              <a:rPr lang="en-US" dirty="0" err="1"/>
              <a:t>secvențele</a:t>
            </a:r>
            <a:r>
              <a:rPr lang="en-US" dirty="0"/>
              <a:t> </a:t>
            </a:r>
            <a:r>
              <a:rPr lang="en-US" dirty="0" err="1"/>
              <a:t>să</a:t>
            </a:r>
            <a:r>
              <a:rPr lang="en-US" dirty="0"/>
              <a:t> </a:t>
            </a:r>
            <a:r>
              <a:rPr lang="en-US" dirty="0" err="1"/>
              <a:t>aibă</a:t>
            </a:r>
            <a:r>
              <a:rPr lang="en-US" dirty="0"/>
              <a:t> </a:t>
            </a:r>
            <a:r>
              <a:rPr lang="en-US" dirty="0" err="1"/>
              <a:t>aceeași</a:t>
            </a:r>
            <a:r>
              <a:rPr lang="en-US" dirty="0"/>
              <a:t> </a:t>
            </a:r>
            <a:r>
              <a:rPr lang="en-US" dirty="0" err="1"/>
              <a:t>lungime</a:t>
            </a:r>
            <a:r>
              <a:rPr lang="en-US" dirty="0"/>
              <a:t>.</a:t>
            </a:r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DCA29-CEC5-4BEA-A59B-E2A7F691331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9475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 </a:t>
            </a:r>
            <a:r>
              <a:rPr lang="en-US" dirty="0" err="1"/>
              <a:t>limitat</a:t>
            </a:r>
            <a:r>
              <a:rPr lang="en-US" dirty="0"/>
              <a:t> </a:t>
            </a:r>
            <a:r>
              <a:rPr lang="en-US" dirty="0" err="1"/>
              <a:t>vocabularul</a:t>
            </a:r>
            <a:r>
              <a:rPr lang="en-US" dirty="0"/>
              <a:t> la 20.000 de </a:t>
            </a:r>
            <a:r>
              <a:rPr lang="en-US" dirty="0" err="1"/>
              <a:t>cuvinte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a reduce </a:t>
            </a:r>
            <a:r>
              <a:rPr lang="en-US" dirty="0" err="1"/>
              <a:t>complexitatea</a:t>
            </a:r>
            <a:r>
              <a:rPr lang="en-US" dirty="0"/>
              <a:t> </a:t>
            </a:r>
            <a:r>
              <a:rPr lang="en-US" dirty="0" err="1"/>
              <a:t>modelului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 err="1"/>
              <a:t>Secvențele</a:t>
            </a:r>
            <a:r>
              <a:rPr lang="en-US" dirty="0"/>
              <a:t> au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en-US" dirty="0" err="1"/>
              <a:t>trunchiate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completate</a:t>
            </a:r>
            <a:r>
              <a:rPr lang="en-US" dirty="0"/>
              <a:t> </a:t>
            </a:r>
            <a:r>
              <a:rPr lang="en-US" dirty="0" err="1"/>
              <a:t>până</a:t>
            </a:r>
            <a:r>
              <a:rPr lang="en-US" dirty="0"/>
              <a:t> la o </a:t>
            </a:r>
            <a:r>
              <a:rPr lang="en-US" dirty="0" err="1"/>
              <a:t>lungime</a:t>
            </a:r>
            <a:r>
              <a:rPr lang="en-US" dirty="0"/>
              <a:t> de 200 de </a:t>
            </a:r>
            <a:r>
              <a:rPr lang="en-US" dirty="0" err="1"/>
              <a:t>tokeni</a:t>
            </a:r>
            <a:r>
              <a:rPr lang="en-US" dirty="0"/>
              <a:t>, </a:t>
            </a:r>
            <a:r>
              <a:rPr lang="en-US" dirty="0" err="1"/>
              <a:t>suficientă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a </a:t>
            </a:r>
            <a:r>
              <a:rPr lang="en-US" dirty="0" err="1"/>
              <a:t>surprinde</a:t>
            </a:r>
            <a:r>
              <a:rPr lang="en-US" dirty="0"/>
              <a:t> </a:t>
            </a:r>
            <a:r>
              <a:rPr lang="en-US" dirty="0" err="1"/>
              <a:t>contextul</a:t>
            </a:r>
            <a:r>
              <a:rPr lang="en-US" dirty="0"/>
              <a:t> </a:t>
            </a:r>
            <a:r>
              <a:rPr lang="en-US" dirty="0" err="1"/>
              <a:t>majorității</a:t>
            </a:r>
            <a:r>
              <a:rPr lang="en-US" dirty="0"/>
              <a:t> </a:t>
            </a:r>
            <a:r>
              <a:rPr lang="en-US" dirty="0" err="1"/>
              <a:t>recenziilor</a:t>
            </a:r>
            <a:r>
              <a:rPr lang="en-US" dirty="0"/>
              <a:t>.</a:t>
            </a:r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DCA29-CEC5-4BEA-A59B-E2A7F691331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7751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 layer-ul </a:t>
            </a:r>
            <a:r>
              <a:rPr lang="en-US" dirty="0" err="1"/>
              <a:t>transformă</a:t>
            </a:r>
            <a:r>
              <a:rPr lang="en-US" dirty="0"/>
              <a:t> </a:t>
            </a:r>
            <a:r>
              <a:rPr lang="en-US" dirty="0" err="1"/>
              <a:t>fiecare</a:t>
            </a:r>
            <a:r>
              <a:rPr lang="en-US" dirty="0"/>
              <a:t> </a:t>
            </a:r>
            <a:r>
              <a:rPr lang="en-US" dirty="0" err="1"/>
              <a:t>cuvânt</a:t>
            </a:r>
            <a:r>
              <a:rPr lang="en-US" dirty="0"/>
              <a:t> </a:t>
            </a:r>
            <a:r>
              <a:rPr lang="en-US" dirty="0" err="1"/>
              <a:t>într</a:t>
            </a:r>
            <a:r>
              <a:rPr lang="en-US" dirty="0"/>
              <a:t>-un vector numeric dens.</a:t>
            </a:r>
            <a:br>
              <a:rPr lang="en-US" dirty="0"/>
            </a:br>
            <a:r>
              <a:rPr lang="en-US" dirty="0" err="1"/>
              <a:t>Acești</a:t>
            </a:r>
            <a:r>
              <a:rPr lang="en-US" dirty="0"/>
              <a:t> </a:t>
            </a:r>
            <a:r>
              <a:rPr lang="en-US" dirty="0" err="1"/>
              <a:t>vectori</a:t>
            </a:r>
            <a:r>
              <a:rPr lang="en-US" dirty="0"/>
              <a:t> sunt </a:t>
            </a:r>
            <a:r>
              <a:rPr lang="en-US" dirty="0" err="1"/>
              <a:t>învățați</a:t>
            </a:r>
            <a:r>
              <a:rPr lang="en-US" dirty="0"/>
              <a:t> automat </a:t>
            </a:r>
            <a:r>
              <a:rPr lang="en-US" dirty="0" err="1"/>
              <a:t>în</a:t>
            </a:r>
            <a:r>
              <a:rPr lang="en-US" dirty="0"/>
              <a:t> </a:t>
            </a:r>
            <a:r>
              <a:rPr lang="en-US" dirty="0" err="1"/>
              <a:t>timpul</a:t>
            </a:r>
            <a:r>
              <a:rPr lang="en-US" dirty="0"/>
              <a:t> </a:t>
            </a:r>
            <a:r>
              <a:rPr lang="en-US" dirty="0" err="1"/>
              <a:t>antrenării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permit </a:t>
            </a:r>
            <a:r>
              <a:rPr lang="en-US" dirty="0" err="1"/>
              <a:t>modelului</a:t>
            </a:r>
            <a:r>
              <a:rPr lang="en-US" dirty="0"/>
              <a:t> </a:t>
            </a:r>
            <a:r>
              <a:rPr lang="en-US" dirty="0" err="1"/>
              <a:t>să</a:t>
            </a:r>
            <a:r>
              <a:rPr lang="en-US" dirty="0"/>
              <a:t> </a:t>
            </a:r>
            <a:r>
              <a:rPr lang="en-US" dirty="0" err="1"/>
              <a:t>înțeleagă</a:t>
            </a:r>
            <a:r>
              <a:rPr lang="en-US" dirty="0"/>
              <a:t> </a:t>
            </a:r>
            <a:r>
              <a:rPr lang="en-US" dirty="0" err="1"/>
              <a:t>relațiile</a:t>
            </a:r>
            <a:r>
              <a:rPr lang="en-US" dirty="0"/>
              <a:t> </a:t>
            </a:r>
            <a:r>
              <a:rPr lang="en-US" dirty="0" err="1"/>
              <a:t>semantice</a:t>
            </a:r>
            <a:r>
              <a:rPr lang="en-US" dirty="0"/>
              <a:t> </a:t>
            </a:r>
            <a:r>
              <a:rPr lang="en-US" dirty="0" err="1"/>
              <a:t>dintre</a:t>
            </a:r>
            <a:r>
              <a:rPr lang="en-US" dirty="0"/>
              <a:t> </a:t>
            </a:r>
            <a:r>
              <a:rPr lang="en-US" dirty="0" err="1"/>
              <a:t>cuvinte</a:t>
            </a:r>
            <a:r>
              <a:rPr lang="en-US" dirty="0"/>
              <a:t>, nu </a:t>
            </a:r>
            <a:r>
              <a:rPr lang="en-US" dirty="0" err="1"/>
              <a:t>doar</a:t>
            </a:r>
            <a:r>
              <a:rPr lang="en-US" dirty="0"/>
              <a:t> </a:t>
            </a:r>
            <a:r>
              <a:rPr lang="en-US" dirty="0" err="1"/>
              <a:t>frecvența</a:t>
            </a:r>
            <a:r>
              <a:rPr lang="en-US" dirty="0"/>
              <a:t> lor.</a:t>
            </a:r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DCA29-CEC5-4BEA-A59B-E2A7F691331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621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Rețelele</a:t>
            </a:r>
            <a:r>
              <a:rPr lang="en-US" dirty="0"/>
              <a:t> </a:t>
            </a:r>
            <a:r>
              <a:rPr lang="en-US" dirty="0" err="1"/>
              <a:t>neurale</a:t>
            </a:r>
            <a:r>
              <a:rPr lang="en-US" dirty="0"/>
              <a:t> </a:t>
            </a:r>
            <a:r>
              <a:rPr lang="en-US" dirty="0" err="1"/>
              <a:t>recurente</a:t>
            </a:r>
            <a:r>
              <a:rPr lang="en-US" dirty="0"/>
              <a:t> sunt </a:t>
            </a:r>
            <a:r>
              <a:rPr lang="en-US" dirty="0" err="1"/>
              <a:t>proiectate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date </a:t>
            </a:r>
            <a:r>
              <a:rPr lang="en-US" dirty="0" err="1"/>
              <a:t>secvențiale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Ele </a:t>
            </a:r>
            <a:r>
              <a:rPr lang="en-US" dirty="0" err="1"/>
              <a:t>mențin</a:t>
            </a:r>
            <a:r>
              <a:rPr lang="en-US" dirty="0"/>
              <a:t> un hidden state care se </a:t>
            </a:r>
            <a:r>
              <a:rPr lang="en-US" dirty="0" err="1"/>
              <a:t>propagă</a:t>
            </a:r>
            <a:r>
              <a:rPr lang="en-US" dirty="0"/>
              <a:t> de-a </a:t>
            </a:r>
            <a:r>
              <a:rPr lang="en-US" dirty="0" err="1"/>
              <a:t>lungul</a:t>
            </a:r>
            <a:r>
              <a:rPr lang="en-US" dirty="0"/>
              <a:t> </a:t>
            </a:r>
            <a:r>
              <a:rPr lang="en-US" dirty="0" err="1"/>
              <a:t>secvenței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 err="1"/>
              <a:t>Totuși</a:t>
            </a:r>
            <a:r>
              <a:rPr lang="en-US" dirty="0"/>
              <a:t>, RNN-urile simple </a:t>
            </a:r>
            <a:r>
              <a:rPr lang="en-US" dirty="0" err="1"/>
              <a:t>suferă</a:t>
            </a:r>
            <a:r>
              <a:rPr lang="en-US" dirty="0"/>
              <a:t> de </a:t>
            </a:r>
            <a:r>
              <a:rPr lang="en-US" dirty="0" err="1"/>
              <a:t>problema</a:t>
            </a:r>
            <a:r>
              <a:rPr lang="en-US" dirty="0"/>
              <a:t> vanishing gradient, </a:t>
            </a:r>
            <a:r>
              <a:rPr lang="en-US" dirty="0" err="1"/>
              <a:t>ceea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le face </a:t>
            </a:r>
            <a:r>
              <a:rPr lang="en-US" dirty="0" err="1"/>
              <a:t>ineficiente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texte</a:t>
            </a:r>
            <a:r>
              <a:rPr lang="en-US" dirty="0"/>
              <a:t> lungi.</a:t>
            </a:r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DCA29-CEC5-4BEA-A59B-E2A7F691331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3528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LSTM-urile </a:t>
            </a:r>
            <a:r>
              <a:rPr lang="en-US" dirty="0" err="1"/>
              <a:t>rezolvă</a:t>
            </a:r>
            <a:r>
              <a:rPr lang="en-US" dirty="0"/>
              <a:t> </a:t>
            </a:r>
            <a:r>
              <a:rPr lang="en-US" dirty="0" err="1"/>
              <a:t>problema</a:t>
            </a:r>
            <a:r>
              <a:rPr lang="en-US" dirty="0"/>
              <a:t> vanishing gradient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introducerea</a:t>
            </a:r>
            <a:r>
              <a:rPr lang="en-US" dirty="0"/>
              <a:t> </a:t>
            </a:r>
            <a:r>
              <a:rPr lang="en-US" dirty="0" err="1"/>
              <a:t>unor</a:t>
            </a:r>
            <a:r>
              <a:rPr lang="en-US" dirty="0"/>
              <a:t> </a:t>
            </a:r>
            <a:r>
              <a:rPr lang="en-US" dirty="0" err="1"/>
              <a:t>porți</a:t>
            </a:r>
            <a:r>
              <a:rPr lang="en-US" dirty="0"/>
              <a:t> care </a:t>
            </a:r>
            <a:r>
              <a:rPr lang="en-US" dirty="0" err="1"/>
              <a:t>controlează</a:t>
            </a:r>
            <a:r>
              <a:rPr lang="en-US" dirty="0"/>
              <a:t> </a:t>
            </a:r>
            <a:r>
              <a:rPr lang="en-US" dirty="0" err="1"/>
              <a:t>fluxul</a:t>
            </a:r>
            <a:r>
              <a:rPr lang="en-US" dirty="0"/>
              <a:t> de </a:t>
            </a:r>
            <a:r>
              <a:rPr lang="en-US" dirty="0" err="1"/>
              <a:t>informație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 err="1"/>
              <a:t>Acest</a:t>
            </a:r>
            <a:r>
              <a:rPr lang="en-US" dirty="0"/>
              <a:t> </a:t>
            </a:r>
            <a:r>
              <a:rPr lang="en-US" dirty="0" err="1"/>
              <a:t>lucru</a:t>
            </a:r>
            <a:r>
              <a:rPr lang="en-US" dirty="0"/>
              <a:t> </a:t>
            </a:r>
            <a:r>
              <a:rPr lang="en-US" dirty="0" err="1"/>
              <a:t>permite</a:t>
            </a:r>
            <a:r>
              <a:rPr lang="en-US" dirty="0"/>
              <a:t> </a:t>
            </a:r>
            <a:r>
              <a:rPr lang="en-US" dirty="0" err="1"/>
              <a:t>reținerea</a:t>
            </a:r>
            <a:r>
              <a:rPr lang="en-US" dirty="0"/>
              <a:t> </a:t>
            </a:r>
            <a:r>
              <a:rPr lang="en-US" dirty="0" err="1"/>
              <a:t>informațiilor</a:t>
            </a:r>
            <a:r>
              <a:rPr lang="en-US" dirty="0"/>
              <a:t> </a:t>
            </a:r>
            <a:r>
              <a:rPr lang="en-US" dirty="0" err="1"/>
              <a:t>importante</a:t>
            </a:r>
            <a:r>
              <a:rPr lang="en-US" dirty="0"/>
              <a:t> pe termen lung, </a:t>
            </a:r>
            <a:r>
              <a:rPr lang="en-US" dirty="0" err="1"/>
              <a:t>fiind</a:t>
            </a:r>
            <a:r>
              <a:rPr lang="en-US" dirty="0"/>
              <a:t> </a:t>
            </a:r>
            <a:r>
              <a:rPr lang="en-US" dirty="0" err="1"/>
              <a:t>ideale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analiza</a:t>
            </a:r>
            <a:r>
              <a:rPr lang="en-US" dirty="0"/>
              <a:t> </a:t>
            </a:r>
            <a:r>
              <a:rPr lang="en-US" dirty="0" err="1"/>
              <a:t>textului</a:t>
            </a:r>
            <a:r>
              <a:rPr lang="en-US" dirty="0"/>
              <a:t>.</a:t>
            </a:r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DCA29-CEC5-4BEA-A59B-E2A7F691331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6927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GRU </a:t>
            </a:r>
            <a:r>
              <a:rPr lang="en-US" dirty="0" err="1"/>
              <a:t>este</a:t>
            </a:r>
            <a:r>
              <a:rPr lang="en-US" dirty="0"/>
              <a:t> o </a:t>
            </a:r>
            <a:r>
              <a:rPr lang="en-US" dirty="0" err="1"/>
              <a:t>variantă</a:t>
            </a:r>
            <a:r>
              <a:rPr lang="en-US" dirty="0"/>
              <a:t> </a:t>
            </a:r>
            <a:r>
              <a:rPr lang="en-US" dirty="0" err="1"/>
              <a:t>simplificată</a:t>
            </a:r>
            <a:r>
              <a:rPr lang="en-US" dirty="0"/>
              <a:t> a LSTM, cu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puțini</a:t>
            </a:r>
            <a:r>
              <a:rPr lang="en-US" dirty="0"/>
              <a:t> </a:t>
            </a:r>
            <a:r>
              <a:rPr lang="en-US" dirty="0" err="1"/>
              <a:t>parametri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 err="1"/>
              <a:t>Deși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simplu</a:t>
            </a:r>
            <a:r>
              <a:rPr lang="en-US" dirty="0"/>
              <a:t>, </a:t>
            </a:r>
            <a:r>
              <a:rPr lang="en-US" dirty="0" err="1"/>
              <a:t>performanța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comparabilă</a:t>
            </a:r>
            <a:r>
              <a:rPr lang="en-US" dirty="0"/>
              <a:t>, </a:t>
            </a:r>
            <a:r>
              <a:rPr lang="en-US" dirty="0" err="1"/>
              <a:t>iar</a:t>
            </a:r>
            <a:r>
              <a:rPr lang="en-US" dirty="0"/>
              <a:t> </a:t>
            </a:r>
            <a:r>
              <a:rPr lang="en-US" dirty="0" err="1"/>
              <a:t>timpul</a:t>
            </a:r>
            <a:r>
              <a:rPr lang="en-US" dirty="0"/>
              <a:t> de </a:t>
            </a:r>
            <a:r>
              <a:rPr lang="en-US" dirty="0" err="1"/>
              <a:t>antrenare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mic.</a:t>
            </a:r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DCA29-CEC5-4BEA-A59B-E2A7F691331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4669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Bidirectional LSTM </a:t>
            </a:r>
            <a:r>
              <a:rPr lang="en-US" dirty="0" err="1"/>
              <a:t>procesează</a:t>
            </a:r>
            <a:r>
              <a:rPr lang="en-US" dirty="0"/>
              <a:t> </a:t>
            </a:r>
            <a:r>
              <a:rPr lang="en-US" dirty="0" err="1"/>
              <a:t>textul</a:t>
            </a:r>
            <a:r>
              <a:rPr lang="en-US" dirty="0"/>
              <a:t> </a:t>
            </a:r>
            <a:r>
              <a:rPr lang="en-US" dirty="0" err="1"/>
              <a:t>în</a:t>
            </a:r>
            <a:r>
              <a:rPr lang="en-US" dirty="0"/>
              <a:t> </a:t>
            </a:r>
            <a:r>
              <a:rPr lang="en-US" dirty="0" err="1"/>
              <a:t>ambele</a:t>
            </a:r>
            <a:r>
              <a:rPr lang="en-US" dirty="0"/>
              <a:t> </a:t>
            </a:r>
            <a:r>
              <a:rPr lang="en-US" dirty="0" err="1"/>
              <a:t>direcții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 err="1"/>
              <a:t>Acest</a:t>
            </a:r>
            <a:r>
              <a:rPr lang="en-US" dirty="0"/>
              <a:t> </a:t>
            </a:r>
            <a:r>
              <a:rPr lang="en-US" dirty="0" err="1"/>
              <a:t>lucru</a:t>
            </a:r>
            <a:r>
              <a:rPr lang="en-US" dirty="0"/>
              <a:t> </a:t>
            </a:r>
            <a:r>
              <a:rPr lang="en-US" dirty="0" err="1"/>
              <a:t>permite</a:t>
            </a:r>
            <a:r>
              <a:rPr lang="en-US" dirty="0"/>
              <a:t> </a:t>
            </a:r>
            <a:r>
              <a:rPr lang="en-US" dirty="0" err="1"/>
              <a:t>modelului</a:t>
            </a:r>
            <a:r>
              <a:rPr lang="en-US" dirty="0"/>
              <a:t> </a:t>
            </a:r>
            <a:r>
              <a:rPr lang="en-US" dirty="0" err="1"/>
              <a:t>să</a:t>
            </a:r>
            <a:r>
              <a:rPr lang="en-US" dirty="0"/>
              <a:t> </a:t>
            </a:r>
            <a:r>
              <a:rPr lang="en-US" dirty="0" err="1"/>
              <a:t>folosească</a:t>
            </a:r>
            <a:r>
              <a:rPr lang="en-US" dirty="0"/>
              <a:t> </a:t>
            </a:r>
            <a:r>
              <a:rPr lang="en-US" dirty="0" err="1"/>
              <a:t>atât</a:t>
            </a:r>
            <a:r>
              <a:rPr lang="en-US" dirty="0"/>
              <a:t> </a:t>
            </a:r>
            <a:r>
              <a:rPr lang="en-US" dirty="0" err="1"/>
              <a:t>contextul</a:t>
            </a:r>
            <a:r>
              <a:rPr lang="en-US" dirty="0"/>
              <a:t> anterior, </a:t>
            </a:r>
            <a:r>
              <a:rPr lang="en-US" dirty="0" err="1"/>
              <a:t>cât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pe cel ulterior, </a:t>
            </a:r>
            <a:r>
              <a:rPr lang="en-US" dirty="0" err="1"/>
              <a:t>ceea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foarte</a:t>
            </a:r>
            <a:r>
              <a:rPr lang="en-US" dirty="0"/>
              <a:t> util </a:t>
            </a:r>
            <a:r>
              <a:rPr lang="en-US" dirty="0" err="1"/>
              <a:t>în</a:t>
            </a:r>
            <a:r>
              <a:rPr lang="en-US" dirty="0"/>
              <a:t> </a:t>
            </a:r>
            <a:r>
              <a:rPr lang="en-US" dirty="0" err="1"/>
              <a:t>limbajul</a:t>
            </a:r>
            <a:r>
              <a:rPr lang="en-US" dirty="0"/>
              <a:t> natural.</a:t>
            </a:r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DCA29-CEC5-4BEA-A59B-E2A7F691331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8942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87109-8C8A-479D-761D-DFCDBB84C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>
            <a:extLst>
              <a:ext uri="{FF2B5EF4-FFF2-40B4-BE49-F238E27FC236}">
                <a16:creationId xmlns:a16="http://schemas.microsoft.com/office/drawing/2014/main" id="{BD2E6E33-99D1-3495-1B12-98175D5FDD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ubstituent note 2">
            <a:extLst>
              <a:ext uri="{FF2B5EF4-FFF2-40B4-BE49-F238E27FC236}">
                <a16:creationId xmlns:a16="http://schemas.microsoft.com/office/drawing/2014/main" id="{7FEB9757-D888-6828-1B86-8B95534EC1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ubstituent număr diapozitiv 3">
            <a:extLst>
              <a:ext uri="{FF2B5EF4-FFF2-40B4-BE49-F238E27FC236}">
                <a16:creationId xmlns:a16="http://schemas.microsoft.com/office/drawing/2014/main" id="{AF40B051-6AF5-AABC-F992-034402116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DCA29-CEC5-4BEA-A59B-E2A7F691331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4118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Modelele</a:t>
            </a:r>
            <a:r>
              <a:rPr lang="en-US" dirty="0"/>
              <a:t> au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en-US" dirty="0" err="1"/>
              <a:t>antrenate</a:t>
            </a:r>
            <a:r>
              <a:rPr lang="en-US" dirty="0"/>
              <a:t> </a:t>
            </a:r>
            <a:r>
              <a:rPr lang="en-US" dirty="0" err="1"/>
              <a:t>folosind</a:t>
            </a:r>
            <a:r>
              <a:rPr lang="en-US" dirty="0"/>
              <a:t> </a:t>
            </a:r>
            <a:r>
              <a:rPr lang="en-US" dirty="0" err="1"/>
              <a:t>optimizerul</a:t>
            </a:r>
            <a:r>
              <a:rPr lang="en-US" dirty="0"/>
              <a:t> Adam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funcția</a:t>
            </a:r>
            <a:r>
              <a:rPr lang="en-US" dirty="0"/>
              <a:t> de </a:t>
            </a:r>
            <a:r>
              <a:rPr lang="en-US" dirty="0" err="1"/>
              <a:t>pierdere</a:t>
            </a:r>
            <a:r>
              <a:rPr lang="en-US" dirty="0"/>
              <a:t> Binary Cross-Entropy.</a:t>
            </a:r>
            <a:br>
              <a:rPr lang="en-US" dirty="0"/>
            </a:br>
            <a:r>
              <a:rPr lang="en-US" dirty="0"/>
              <a:t>Am </a:t>
            </a:r>
            <a:r>
              <a:rPr lang="en-US" dirty="0" err="1"/>
              <a:t>folosit</a:t>
            </a:r>
            <a:r>
              <a:rPr lang="en-US" dirty="0"/>
              <a:t> </a:t>
            </a:r>
            <a:r>
              <a:rPr lang="en-US" dirty="0" err="1"/>
              <a:t>EarlyStopping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a </a:t>
            </a:r>
            <a:r>
              <a:rPr lang="en-US" dirty="0" err="1"/>
              <a:t>preveni</a:t>
            </a:r>
            <a:r>
              <a:rPr lang="en-US" dirty="0"/>
              <a:t> overfitting-ul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a </a:t>
            </a:r>
            <a:r>
              <a:rPr lang="en-US" dirty="0" err="1"/>
              <a:t>opri</a:t>
            </a:r>
            <a:r>
              <a:rPr lang="en-US" dirty="0"/>
              <a:t> </a:t>
            </a:r>
            <a:r>
              <a:rPr lang="en-US" dirty="0" err="1"/>
              <a:t>antrenarea</a:t>
            </a:r>
            <a:r>
              <a:rPr lang="en-US" dirty="0"/>
              <a:t> </a:t>
            </a:r>
            <a:r>
              <a:rPr lang="en-US" dirty="0" err="1"/>
              <a:t>când</a:t>
            </a:r>
            <a:r>
              <a:rPr lang="en-US" dirty="0"/>
              <a:t> </a:t>
            </a:r>
            <a:r>
              <a:rPr lang="en-US" dirty="0" err="1"/>
              <a:t>performanța</a:t>
            </a:r>
            <a:r>
              <a:rPr lang="en-US" dirty="0"/>
              <a:t> pe </a:t>
            </a:r>
            <a:r>
              <a:rPr lang="en-US" dirty="0" err="1"/>
              <a:t>validare</a:t>
            </a:r>
            <a:r>
              <a:rPr lang="en-US" dirty="0"/>
              <a:t> nu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crește</a:t>
            </a:r>
            <a:r>
              <a:rPr lang="en-US" dirty="0"/>
              <a:t>.</a:t>
            </a:r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DCA29-CEC5-4BEA-A59B-E2A7F691331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0846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Accuracy </a:t>
            </a:r>
            <a:r>
              <a:rPr lang="en-US" dirty="0" err="1"/>
              <a:t>măsoară</a:t>
            </a:r>
            <a:r>
              <a:rPr lang="en-US" dirty="0"/>
              <a:t> </a:t>
            </a:r>
            <a:r>
              <a:rPr lang="en-US" dirty="0" err="1"/>
              <a:t>procentul</a:t>
            </a:r>
            <a:r>
              <a:rPr lang="en-US" dirty="0"/>
              <a:t> de </a:t>
            </a:r>
            <a:r>
              <a:rPr lang="en-US" dirty="0" err="1"/>
              <a:t>predicții</a:t>
            </a:r>
            <a:r>
              <a:rPr lang="en-US" dirty="0"/>
              <a:t> </a:t>
            </a:r>
            <a:r>
              <a:rPr lang="en-US" dirty="0" err="1"/>
              <a:t>corecte</a:t>
            </a:r>
            <a:r>
              <a:rPr lang="en-US" dirty="0"/>
              <a:t>, </a:t>
            </a:r>
            <a:r>
              <a:rPr lang="en-US" dirty="0" err="1"/>
              <a:t>dar</a:t>
            </a:r>
            <a:r>
              <a:rPr lang="en-US" dirty="0"/>
              <a:t> nu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suficientă</a:t>
            </a:r>
            <a:r>
              <a:rPr lang="en-US" dirty="0"/>
              <a:t> </a:t>
            </a:r>
            <a:r>
              <a:rPr lang="en-US" dirty="0" err="1"/>
              <a:t>singură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De </a:t>
            </a:r>
            <a:r>
              <a:rPr lang="en-US" dirty="0" err="1"/>
              <a:t>aceea</a:t>
            </a:r>
            <a:r>
              <a:rPr lang="en-US" dirty="0"/>
              <a:t>, am </a:t>
            </a:r>
            <a:r>
              <a:rPr lang="en-US" dirty="0" err="1"/>
              <a:t>folosit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F1-score, care </a:t>
            </a:r>
            <a:r>
              <a:rPr lang="en-US" dirty="0" err="1"/>
              <a:t>echilibrează</a:t>
            </a:r>
            <a:r>
              <a:rPr lang="en-US" dirty="0"/>
              <a:t> precision </a:t>
            </a:r>
            <a:r>
              <a:rPr lang="en-US" dirty="0" err="1"/>
              <a:t>și</a:t>
            </a:r>
            <a:r>
              <a:rPr lang="en-US" dirty="0"/>
              <a:t> recall, precum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matricea</a:t>
            </a:r>
            <a:r>
              <a:rPr lang="en-US" dirty="0"/>
              <a:t> de </a:t>
            </a:r>
            <a:r>
              <a:rPr lang="en-US" dirty="0" err="1"/>
              <a:t>confuzie</a:t>
            </a:r>
            <a:r>
              <a:rPr lang="en-US" dirty="0"/>
              <a:t>.</a:t>
            </a:r>
            <a:endParaRPr lang="ro-RO" dirty="0"/>
          </a:p>
          <a:p>
            <a:r>
              <a:rPr lang="en-US" dirty="0" err="1"/>
              <a:t>Rezultatele</a:t>
            </a:r>
            <a:r>
              <a:rPr lang="en-US" dirty="0"/>
              <a:t> </a:t>
            </a:r>
            <a:r>
              <a:rPr lang="en-US" dirty="0" err="1"/>
              <a:t>arată</a:t>
            </a:r>
            <a:r>
              <a:rPr lang="en-US" dirty="0"/>
              <a:t> </a:t>
            </a:r>
            <a:r>
              <a:rPr lang="en-US" dirty="0" err="1"/>
              <a:t>clar</a:t>
            </a:r>
            <a:r>
              <a:rPr lang="en-US" dirty="0"/>
              <a:t> </a:t>
            </a:r>
            <a:r>
              <a:rPr lang="en-US" dirty="0" err="1"/>
              <a:t>diferențele</a:t>
            </a:r>
            <a:r>
              <a:rPr lang="en-US" dirty="0"/>
              <a:t> </a:t>
            </a:r>
            <a:r>
              <a:rPr lang="en-US" dirty="0" err="1"/>
              <a:t>dintre</a:t>
            </a:r>
            <a:r>
              <a:rPr lang="en-US" dirty="0"/>
              <a:t> </a:t>
            </a:r>
            <a:r>
              <a:rPr lang="en-US" dirty="0" err="1"/>
              <a:t>modele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RNN-ul </a:t>
            </a:r>
            <a:r>
              <a:rPr lang="en-US" dirty="0" err="1"/>
              <a:t>simplu</a:t>
            </a:r>
            <a:r>
              <a:rPr lang="en-US" dirty="0"/>
              <a:t> are </a:t>
            </a:r>
            <a:r>
              <a:rPr lang="en-US" dirty="0" err="1"/>
              <a:t>performanță</a:t>
            </a:r>
            <a:r>
              <a:rPr lang="en-US" dirty="0"/>
              <a:t> </a:t>
            </a:r>
            <a:r>
              <a:rPr lang="en-US" dirty="0" err="1"/>
              <a:t>slabă</a:t>
            </a:r>
            <a:r>
              <a:rPr lang="en-US" dirty="0"/>
              <a:t>, </a:t>
            </a:r>
            <a:r>
              <a:rPr lang="en-US" dirty="0" err="1"/>
              <a:t>în</a:t>
            </a:r>
            <a:r>
              <a:rPr lang="en-US" dirty="0"/>
              <a:t> </a:t>
            </a:r>
            <a:r>
              <a:rPr lang="en-US" dirty="0" err="1"/>
              <a:t>timp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LSTM </a:t>
            </a:r>
            <a:r>
              <a:rPr lang="en-US" dirty="0" err="1"/>
              <a:t>și</a:t>
            </a:r>
            <a:r>
              <a:rPr lang="en-US" dirty="0"/>
              <a:t> GRU </a:t>
            </a:r>
            <a:r>
              <a:rPr lang="en-US" dirty="0" err="1"/>
              <a:t>obțin</a:t>
            </a:r>
            <a:r>
              <a:rPr lang="en-US" dirty="0"/>
              <a:t> </a:t>
            </a:r>
            <a:r>
              <a:rPr lang="en-US" dirty="0" err="1"/>
              <a:t>rezultate</a:t>
            </a:r>
            <a:r>
              <a:rPr lang="en-US" dirty="0"/>
              <a:t> </a:t>
            </a:r>
            <a:r>
              <a:rPr lang="en-US" dirty="0" err="1"/>
              <a:t>mult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bune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GRU </a:t>
            </a:r>
            <a:r>
              <a:rPr lang="en-US" dirty="0" err="1"/>
              <a:t>este</a:t>
            </a:r>
            <a:r>
              <a:rPr lang="en-US" dirty="0"/>
              <a:t> cel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eficient</a:t>
            </a:r>
            <a:r>
              <a:rPr lang="en-US" dirty="0"/>
              <a:t> din </a:t>
            </a:r>
            <a:r>
              <a:rPr lang="en-US" dirty="0" err="1"/>
              <a:t>punct</a:t>
            </a:r>
            <a:r>
              <a:rPr lang="en-US" dirty="0"/>
              <a:t> de </a:t>
            </a:r>
            <a:r>
              <a:rPr lang="en-US" dirty="0" err="1"/>
              <a:t>vedere</a:t>
            </a:r>
            <a:r>
              <a:rPr lang="en-US" dirty="0"/>
              <a:t> al </a:t>
            </a:r>
            <a:r>
              <a:rPr lang="en-US" dirty="0" err="1"/>
              <a:t>performanței</a:t>
            </a:r>
            <a:r>
              <a:rPr lang="en-US" dirty="0"/>
              <a:t> vs </a:t>
            </a:r>
            <a:r>
              <a:rPr lang="en-US" dirty="0" err="1"/>
              <a:t>complexitate</a:t>
            </a:r>
            <a:r>
              <a:rPr lang="en-US" dirty="0"/>
              <a:t>.</a:t>
            </a:r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DCA29-CEC5-4BEA-A59B-E2A7F691331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5911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BiLSTM</a:t>
            </a:r>
            <a:r>
              <a:rPr lang="en-US" dirty="0"/>
              <a:t> </a:t>
            </a:r>
            <a:r>
              <a:rPr lang="en-US" dirty="0" err="1"/>
              <a:t>oferă</a:t>
            </a:r>
            <a:r>
              <a:rPr lang="en-US" dirty="0"/>
              <a:t> context </a:t>
            </a:r>
            <a:r>
              <a:rPr lang="en-US" dirty="0" err="1"/>
              <a:t>complet</a:t>
            </a:r>
            <a:r>
              <a:rPr lang="en-US" dirty="0"/>
              <a:t>, </a:t>
            </a:r>
            <a:r>
              <a:rPr lang="en-US" dirty="0" err="1"/>
              <a:t>dar</a:t>
            </a:r>
            <a:r>
              <a:rPr lang="en-US" dirty="0"/>
              <a:t> are </a:t>
            </a:r>
            <a:r>
              <a:rPr lang="en-US" dirty="0" err="1"/>
              <a:t>risc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mare de overfitting.</a:t>
            </a:r>
            <a:br>
              <a:rPr lang="en-US" dirty="0"/>
            </a:br>
            <a:r>
              <a:rPr lang="en-US" dirty="0" err="1"/>
              <a:t>În</a:t>
            </a:r>
            <a:r>
              <a:rPr lang="en-US" dirty="0"/>
              <a:t> </a:t>
            </a:r>
            <a:r>
              <a:rPr lang="en-US" dirty="0" err="1"/>
              <a:t>acest</a:t>
            </a:r>
            <a:r>
              <a:rPr lang="en-US" dirty="0"/>
              <a:t> </a:t>
            </a:r>
            <a:r>
              <a:rPr lang="en-US" dirty="0" err="1"/>
              <a:t>proiect</a:t>
            </a:r>
            <a:r>
              <a:rPr lang="en-US" dirty="0"/>
              <a:t>, LSTM </a:t>
            </a:r>
            <a:r>
              <a:rPr lang="en-US" dirty="0" err="1"/>
              <a:t>și</a:t>
            </a:r>
            <a:r>
              <a:rPr lang="en-US" dirty="0"/>
              <a:t> GRU au </a:t>
            </a:r>
            <a:r>
              <a:rPr lang="en-US" dirty="0" err="1"/>
              <a:t>oferit</a:t>
            </a:r>
            <a:r>
              <a:rPr lang="en-US" dirty="0"/>
              <a:t> cel </a:t>
            </a:r>
            <a:r>
              <a:rPr lang="en-US" dirty="0" err="1"/>
              <a:t>mai</a:t>
            </a:r>
            <a:r>
              <a:rPr lang="en-US" dirty="0"/>
              <a:t> bun </a:t>
            </a:r>
            <a:r>
              <a:rPr lang="en-US" dirty="0" err="1"/>
              <a:t>compromis</a:t>
            </a:r>
            <a:r>
              <a:rPr lang="en-US" dirty="0"/>
              <a:t> </a:t>
            </a:r>
            <a:r>
              <a:rPr lang="en-US" dirty="0" err="1"/>
              <a:t>între</a:t>
            </a:r>
            <a:r>
              <a:rPr lang="en-US" dirty="0"/>
              <a:t> </a:t>
            </a:r>
            <a:r>
              <a:rPr lang="en-US" dirty="0" err="1"/>
              <a:t>acuratețe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complexitate</a:t>
            </a:r>
            <a:r>
              <a:rPr lang="en-US" dirty="0"/>
              <a:t>.</a:t>
            </a:r>
            <a:endParaRPr lang="ro-RO" dirty="0"/>
          </a:p>
          <a:p>
            <a:r>
              <a:rPr lang="en-US" dirty="0" err="1"/>
              <a:t>Graficele</a:t>
            </a:r>
            <a:r>
              <a:rPr lang="en-US" dirty="0"/>
              <a:t> de </a:t>
            </a:r>
            <a:r>
              <a:rPr lang="en-US" dirty="0" err="1"/>
              <a:t>antrenare</a:t>
            </a:r>
            <a:r>
              <a:rPr lang="en-US" dirty="0"/>
              <a:t> </a:t>
            </a:r>
            <a:r>
              <a:rPr lang="en-US" dirty="0" err="1"/>
              <a:t>arată</a:t>
            </a:r>
            <a:r>
              <a:rPr lang="en-US" dirty="0"/>
              <a:t> cum </a:t>
            </a:r>
            <a:r>
              <a:rPr lang="en-US" dirty="0" err="1"/>
              <a:t>evoluează</a:t>
            </a:r>
            <a:r>
              <a:rPr lang="en-US" dirty="0"/>
              <a:t> </a:t>
            </a:r>
            <a:r>
              <a:rPr lang="en-US" dirty="0" err="1"/>
              <a:t>acuratețea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loss-ul.</a:t>
            </a:r>
            <a:br>
              <a:rPr lang="en-US" dirty="0"/>
            </a:br>
            <a:r>
              <a:rPr lang="en-US" dirty="0" err="1"/>
              <a:t>Diferențele</a:t>
            </a:r>
            <a:r>
              <a:rPr lang="en-US" dirty="0"/>
              <a:t> </a:t>
            </a:r>
            <a:r>
              <a:rPr lang="en-US" dirty="0" err="1"/>
              <a:t>între</a:t>
            </a:r>
            <a:r>
              <a:rPr lang="en-US" dirty="0"/>
              <a:t> train </a:t>
            </a:r>
            <a:r>
              <a:rPr lang="en-US" dirty="0" err="1"/>
              <a:t>și</a:t>
            </a:r>
            <a:r>
              <a:rPr lang="en-US" dirty="0"/>
              <a:t> validation ne </a:t>
            </a:r>
            <a:r>
              <a:rPr lang="en-US" dirty="0" err="1"/>
              <a:t>ajută</a:t>
            </a:r>
            <a:r>
              <a:rPr lang="en-US" dirty="0"/>
              <a:t> </a:t>
            </a:r>
            <a:r>
              <a:rPr lang="en-US" dirty="0" err="1"/>
              <a:t>să</a:t>
            </a:r>
            <a:r>
              <a:rPr lang="en-US" dirty="0"/>
              <a:t> </a:t>
            </a:r>
            <a:r>
              <a:rPr lang="en-US" dirty="0" err="1"/>
              <a:t>identificăm</a:t>
            </a:r>
            <a:r>
              <a:rPr lang="en-US" dirty="0"/>
              <a:t> overfitting-ul.</a:t>
            </a:r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DCA29-CEC5-4BEA-A59B-E2A7F691331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0638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 </a:t>
            </a:r>
            <a:r>
              <a:rPr lang="en-US" dirty="0" err="1"/>
              <a:t>testat</a:t>
            </a:r>
            <a:r>
              <a:rPr lang="en-US" dirty="0"/>
              <a:t> </a:t>
            </a:r>
            <a:r>
              <a:rPr lang="en-US" dirty="0" err="1"/>
              <a:t>modelele</a:t>
            </a:r>
            <a:r>
              <a:rPr lang="en-US" dirty="0"/>
              <a:t> pe </a:t>
            </a:r>
            <a:r>
              <a:rPr lang="en-US" dirty="0" err="1"/>
              <a:t>exemple</a:t>
            </a:r>
            <a:r>
              <a:rPr lang="en-US" dirty="0"/>
              <a:t> </a:t>
            </a:r>
            <a:r>
              <a:rPr lang="en-US" dirty="0" err="1"/>
              <a:t>reale</a:t>
            </a:r>
            <a:r>
              <a:rPr lang="en-US" dirty="0"/>
              <a:t> de </a:t>
            </a:r>
            <a:r>
              <a:rPr lang="en-US" dirty="0" err="1"/>
              <a:t>recenzii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a </a:t>
            </a:r>
            <a:r>
              <a:rPr lang="en-US" dirty="0" err="1"/>
              <a:t>demonstra</a:t>
            </a:r>
            <a:r>
              <a:rPr lang="en-US" dirty="0"/>
              <a:t> </a:t>
            </a:r>
            <a:r>
              <a:rPr lang="en-US" dirty="0" err="1"/>
              <a:t>funcționarea</a:t>
            </a:r>
            <a:r>
              <a:rPr lang="en-US" dirty="0"/>
              <a:t> </a:t>
            </a:r>
            <a:r>
              <a:rPr lang="en-US" dirty="0" err="1"/>
              <a:t>practică</a:t>
            </a:r>
            <a:r>
              <a:rPr lang="en-US" dirty="0"/>
              <a:t> a </a:t>
            </a:r>
            <a:r>
              <a:rPr lang="en-US" dirty="0" err="1"/>
              <a:t>sistemului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 err="1"/>
              <a:t>Predicțiile</a:t>
            </a:r>
            <a:r>
              <a:rPr lang="en-US" dirty="0"/>
              <a:t> sunt </a:t>
            </a:r>
            <a:r>
              <a:rPr lang="en-US" dirty="0" err="1"/>
              <a:t>însoțite</a:t>
            </a:r>
            <a:r>
              <a:rPr lang="en-US" dirty="0"/>
              <a:t> de </a:t>
            </a:r>
            <a:r>
              <a:rPr lang="en-US" dirty="0" err="1"/>
              <a:t>probabilitate</a:t>
            </a:r>
            <a:r>
              <a:rPr lang="en-US" dirty="0"/>
              <a:t>, </a:t>
            </a:r>
            <a:r>
              <a:rPr lang="en-US" dirty="0" err="1"/>
              <a:t>ceea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</a:t>
            </a:r>
            <a:r>
              <a:rPr lang="en-US" dirty="0" err="1"/>
              <a:t>indică</a:t>
            </a:r>
            <a:r>
              <a:rPr lang="en-US" dirty="0"/>
              <a:t> </a:t>
            </a:r>
            <a:r>
              <a:rPr lang="en-US" dirty="0" err="1"/>
              <a:t>nivelul</a:t>
            </a:r>
            <a:r>
              <a:rPr lang="en-US" dirty="0"/>
              <a:t> de </a:t>
            </a:r>
            <a:r>
              <a:rPr lang="en-US" dirty="0" err="1"/>
              <a:t>încredere</a:t>
            </a:r>
            <a:r>
              <a:rPr lang="en-US" dirty="0"/>
              <a:t> al </a:t>
            </a:r>
            <a:r>
              <a:rPr lang="en-US" dirty="0" err="1"/>
              <a:t>modelului</a:t>
            </a:r>
            <a:r>
              <a:rPr lang="en-US" dirty="0"/>
              <a:t>.</a:t>
            </a:r>
            <a:endParaRPr lang="ro-RO" dirty="0"/>
          </a:p>
          <a:p>
            <a:r>
              <a:rPr lang="en-US" dirty="0" err="1"/>
              <a:t>Proiectul</a:t>
            </a:r>
            <a:r>
              <a:rPr lang="en-US" dirty="0"/>
              <a:t> are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limitări</a:t>
            </a:r>
            <a:r>
              <a:rPr lang="en-US" dirty="0"/>
              <a:t>, precum </a:t>
            </a:r>
            <a:r>
              <a:rPr lang="en-US" dirty="0" err="1"/>
              <a:t>lipsa</a:t>
            </a:r>
            <a:r>
              <a:rPr lang="en-US" dirty="0"/>
              <a:t> embedding-</a:t>
            </a:r>
            <a:r>
              <a:rPr lang="en-US" dirty="0" err="1"/>
              <a:t>urilor</a:t>
            </a:r>
            <a:r>
              <a:rPr lang="en-US" dirty="0"/>
              <a:t> pre-</a:t>
            </a:r>
            <a:r>
              <a:rPr lang="en-US" dirty="0" err="1"/>
              <a:t>antrenate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a cross-validation-</a:t>
            </a:r>
            <a:r>
              <a:rPr lang="en-US" dirty="0" err="1"/>
              <a:t>ului</a:t>
            </a:r>
            <a:r>
              <a:rPr lang="en-US" dirty="0"/>
              <a:t>, care </a:t>
            </a:r>
            <a:r>
              <a:rPr lang="en-US" dirty="0" err="1"/>
              <a:t>ar</a:t>
            </a:r>
            <a:r>
              <a:rPr lang="en-US" dirty="0"/>
              <a:t> </a:t>
            </a:r>
            <a:r>
              <a:rPr lang="en-US" dirty="0" err="1"/>
              <a:t>putea</a:t>
            </a:r>
            <a:r>
              <a:rPr lang="en-US" dirty="0"/>
              <a:t> </a:t>
            </a:r>
            <a:r>
              <a:rPr lang="en-US" dirty="0" err="1"/>
              <a:t>îmbunătăți</a:t>
            </a:r>
            <a:r>
              <a:rPr lang="en-US" dirty="0"/>
              <a:t> </a:t>
            </a:r>
            <a:r>
              <a:rPr lang="en-US" dirty="0" err="1"/>
              <a:t>performanța</a:t>
            </a:r>
            <a:r>
              <a:rPr lang="en-US" dirty="0"/>
              <a:t>.</a:t>
            </a:r>
            <a:endParaRPr lang="ro-RO" dirty="0"/>
          </a:p>
          <a:p>
            <a:r>
              <a:rPr lang="en-US" dirty="0"/>
              <a:t>Pe </a:t>
            </a:r>
            <a:r>
              <a:rPr lang="en-US" dirty="0" err="1"/>
              <a:t>viitor</a:t>
            </a:r>
            <a:r>
              <a:rPr lang="en-US" dirty="0"/>
              <a:t>, </a:t>
            </a:r>
            <a:r>
              <a:rPr lang="en-US" dirty="0" err="1"/>
              <a:t>proiectul</a:t>
            </a:r>
            <a:r>
              <a:rPr lang="en-US" dirty="0"/>
              <a:t> </a:t>
            </a:r>
            <a:r>
              <a:rPr lang="en-US" dirty="0" err="1"/>
              <a:t>poate</a:t>
            </a:r>
            <a:r>
              <a:rPr lang="en-US" dirty="0"/>
              <a:t> fi </a:t>
            </a:r>
            <a:r>
              <a:rPr lang="en-US" dirty="0" err="1"/>
              <a:t>extins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utilizarea</a:t>
            </a:r>
            <a:r>
              <a:rPr lang="en-US" dirty="0"/>
              <a:t> </a:t>
            </a:r>
            <a:r>
              <a:rPr lang="en-US" dirty="0" err="1"/>
              <a:t>modelelor</a:t>
            </a:r>
            <a:r>
              <a:rPr lang="en-US" dirty="0"/>
              <a:t> Transformer, precum BERT, care </a:t>
            </a:r>
            <a:r>
              <a:rPr lang="en-US" dirty="0" err="1"/>
              <a:t>oferă</a:t>
            </a:r>
            <a:r>
              <a:rPr lang="en-US" dirty="0"/>
              <a:t> </a:t>
            </a:r>
            <a:r>
              <a:rPr lang="en-US" dirty="0" err="1"/>
              <a:t>rezultate</a:t>
            </a:r>
            <a:r>
              <a:rPr lang="en-US" dirty="0"/>
              <a:t> </a:t>
            </a:r>
            <a:r>
              <a:rPr lang="en-US" dirty="0" err="1"/>
              <a:t>superioare</a:t>
            </a:r>
            <a:r>
              <a:rPr lang="en-US" dirty="0"/>
              <a:t> </a:t>
            </a:r>
            <a:r>
              <a:rPr lang="en-US" dirty="0" err="1"/>
              <a:t>în</a:t>
            </a:r>
            <a:r>
              <a:rPr lang="en-US" dirty="0"/>
              <a:t> NLP.</a:t>
            </a:r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DCA29-CEC5-4BEA-A59B-E2A7F691331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350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Proiectul</a:t>
            </a:r>
            <a:r>
              <a:rPr lang="en-US" dirty="0"/>
              <a:t> </a:t>
            </a:r>
            <a:r>
              <a:rPr lang="en-US" dirty="0" err="1"/>
              <a:t>demonstrează</a:t>
            </a:r>
            <a:r>
              <a:rPr lang="en-US" dirty="0"/>
              <a:t> </a:t>
            </a:r>
            <a:r>
              <a:rPr lang="en-US" dirty="0" err="1"/>
              <a:t>eficiența</a:t>
            </a:r>
            <a:r>
              <a:rPr lang="en-US" dirty="0"/>
              <a:t> </a:t>
            </a:r>
            <a:r>
              <a:rPr lang="en-US" dirty="0" err="1"/>
              <a:t>modelelor</a:t>
            </a:r>
            <a:r>
              <a:rPr lang="en-US" dirty="0"/>
              <a:t> </a:t>
            </a:r>
            <a:r>
              <a:rPr lang="en-US" dirty="0" err="1"/>
              <a:t>recurente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analiza</a:t>
            </a:r>
            <a:r>
              <a:rPr lang="en-US" dirty="0"/>
              <a:t> </a:t>
            </a:r>
            <a:r>
              <a:rPr lang="en-US" dirty="0" err="1"/>
              <a:t>sentimentelor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LSTM </a:t>
            </a:r>
            <a:r>
              <a:rPr lang="en-US" dirty="0" err="1"/>
              <a:t>și</a:t>
            </a:r>
            <a:r>
              <a:rPr lang="en-US" dirty="0"/>
              <a:t> GRU sunt </a:t>
            </a:r>
            <a:r>
              <a:rPr lang="en-US" dirty="0" err="1"/>
              <a:t>cele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potrivite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această</a:t>
            </a:r>
            <a:r>
              <a:rPr lang="en-US" dirty="0"/>
              <a:t> </a:t>
            </a:r>
            <a:r>
              <a:rPr lang="en-US" dirty="0" err="1"/>
              <a:t>sarcină</a:t>
            </a:r>
            <a:r>
              <a:rPr lang="en-US" dirty="0"/>
              <a:t>.</a:t>
            </a:r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DCA29-CEC5-4BEA-A59B-E2A7F691331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3735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zitiv tit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o-RO"/>
              <a:t>Faceți clic pentru a edita stilul de subtitlu coordonator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1/11/2026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u și conțin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ntet secțiu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uă tipuri de conțin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ț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1/11/2026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oar tit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1/11/2026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Necomple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1/11/2026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ținut cu legend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ine cu legend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o-RO"/>
              <a:t>Faceți clic pe pictogramă pentru a adăuga o imagine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ine panoramică cu legend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ro-RO"/>
              <a:t>Faceți clic pe pictogramă pentru a adăuga o imagine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u și legend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 cu legend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de vizit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a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1/11/2026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oană cu trei imagin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o-RO"/>
              <a:t>Faceți clic pe pictogramă pentru a adăuga o imagine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o-RO"/>
              <a:t>Faceți clic pe pictogramă pentru a adăuga o imagine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o-RO"/>
              <a:t>Faceți clic pe pictogramă pentru a adăuga o imagine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1/11/2026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ext vertical și tit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lu vertical și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/kaggle/input/imdb-dataset-of-50k-movie-review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hyperlink" Target="/kaggle/input/stanfords-glove-pretrained-word-vectors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7.pn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Relationship Id="rId9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BB64123A-D89A-EB4D-52CC-3A3A102871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17233" y="4539573"/>
            <a:ext cx="8957534" cy="1182838"/>
          </a:xfrm>
        </p:spPr>
        <p:txBody>
          <a:bodyPr>
            <a:normAutofit/>
          </a:bodyPr>
          <a:lstStyle/>
          <a:p>
            <a:pPr algn="ctr"/>
            <a:r>
              <a:rPr lang="en-US" sz="3700" dirty="0"/>
              <a:t>Analiza </a:t>
            </a:r>
            <a:r>
              <a:rPr lang="en-US" sz="3700" dirty="0" err="1"/>
              <a:t>sentimentelor</a:t>
            </a:r>
            <a:r>
              <a:rPr lang="en-US" sz="3700" dirty="0"/>
              <a:t> din </a:t>
            </a:r>
            <a:r>
              <a:rPr lang="en-US" sz="3700" dirty="0" err="1"/>
              <a:t>recenziile</a:t>
            </a:r>
            <a:r>
              <a:rPr lang="en-US" sz="3700" dirty="0"/>
              <a:t> </a:t>
            </a:r>
            <a:r>
              <a:rPr lang="en-US" sz="3700" dirty="0" err="1"/>
              <a:t>filmelor</a:t>
            </a:r>
            <a:endParaRPr lang="en-US" sz="3700" dirty="0"/>
          </a:p>
        </p:txBody>
      </p:sp>
      <p:sp>
        <p:nvSpPr>
          <p:cNvPr id="3" name="Subtitlu 2">
            <a:extLst>
              <a:ext uri="{FF2B5EF4-FFF2-40B4-BE49-F238E27FC236}">
                <a16:creationId xmlns:a16="http://schemas.microsoft.com/office/drawing/2014/main" id="{3D4C7437-6E5E-F1C1-05BB-718F924037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11274" y="5722410"/>
            <a:ext cx="8394775" cy="1053039"/>
          </a:xfrm>
        </p:spPr>
        <p:txBody>
          <a:bodyPr>
            <a:noAutofit/>
          </a:bodyPr>
          <a:lstStyle/>
          <a:p>
            <a:pPr algn="r">
              <a:lnSpc>
                <a:spcPct val="110000"/>
              </a:lnSpc>
            </a:pPr>
            <a:r>
              <a:rPr lang="en-US" sz="1400" b="1" dirty="0"/>
              <a:t>Student: </a:t>
            </a:r>
            <a:r>
              <a:rPr lang="en-US" sz="1400" b="1" dirty="0" err="1"/>
              <a:t>Cocei</a:t>
            </a:r>
            <a:r>
              <a:rPr lang="en-US" sz="1400" b="1" dirty="0"/>
              <a:t> Janina Constantina</a:t>
            </a:r>
          </a:p>
          <a:p>
            <a:pPr algn="r">
              <a:lnSpc>
                <a:spcPct val="110000"/>
              </a:lnSpc>
            </a:pPr>
            <a:r>
              <a:rPr lang="en-US" sz="1400" b="1" dirty="0" err="1"/>
              <a:t>Specializarea</a:t>
            </a:r>
            <a:r>
              <a:rPr lang="en-US" sz="1400" b="1" dirty="0"/>
              <a:t>: </a:t>
            </a:r>
            <a:r>
              <a:rPr lang="en-US" sz="1400" b="1" dirty="0" err="1"/>
              <a:t>Inginerie</a:t>
            </a:r>
            <a:r>
              <a:rPr lang="en-US" sz="1400" b="1" dirty="0"/>
              <a:t> Software</a:t>
            </a:r>
          </a:p>
          <a:p>
            <a:pPr algn="r">
              <a:lnSpc>
                <a:spcPct val="110000"/>
              </a:lnSpc>
            </a:pPr>
            <a:r>
              <a:rPr lang="en-US" sz="1400" b="1" dirty="0" err="1"/>
              <a:t>Coordonatori</a:t>
            </a:r>
            <a:r>
              <a:rPr lang="en-US" sz="1400" b="1" dirty="0"/>
              <a:t>: Costin </a:t>
            </a:r>
            <a:r>
              <a:rPr lang="en-US" sz="1400" b="1" dirty="0" err="1"/>
              <a:t>Badica</a:t>
            </a:r>
            <a:r>
              <a:rPr lang="en-US" sz="1400" b="1" dirty="0"/>
              <a:t> </a:t>
            </a:r>
            <a:r>
              <a:rPr lang="en-US" sz="1400" b="1" dirty="0" err="1"/>
              <a:t>si</a:t>
            </a:r>
            <a:r>
              <a:rPr lang="en-US" sz="1400" b="1" dirty="0"/>
              <a:t> Alexandru </a:t>
            </a:r>
            <a:r>
              <a:rPr lang="en-US" sz="1400" b="1" dirty="0" err="1"/>
              <a:t>becheru</a:t>
            </a:r>
            <a:endParaRPr lang="en-US" sz="1400" b="1" dirty="0"/>
          </a:p>
        </p:txBody>
      </p:sp>
      <p:sp>
        <p:nvSpPr>
          <p:cNvPr id="16" name="Round Diagonal Corner Rectangle 6">
            <a:extLst>
              <a:ext uri="{FF2B5EF4-FFF2-40B4-BE49-F238E27FC236}">
                <a16:creationId xmlns:a16="http://schemas.microsoft.com/office/drawing/2014/main" id="{66D7BB2A-2127-4B10-B638-E01043C896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6974" y="639965"/>
            <a:ext cx="10879991" cy="3598548"/>
          </a:xfrm>
          <a:prstGeom prst="round2DiagRect">
            <a:avLst>
              <a:gd name="adj1" fmla="val 9529"/>
              <a:gd name="adj2" fmla="val 0"/>
            </a:avLst>
          </a:prstGeom>
          <a:solidFill>
            <a:srgbClr val="FFFFFF"/>
          </a:solidFill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06FAEA3B-68DC-9BB6-515E-53A1D20698F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6450" y="951492"/>
            <a:ext cx="3159691" cy="2975493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2FCEF779-0409-D8C3-3DC5-C041B8D8E7D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7233" y="1384945"/>
            <a:ext cx="5051472" cy="170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91135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F32EBD04-BFB8-542C-58DE-3C349D3C0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Problema</a:t>
            </a:r>
            <a:r>
              <a:rPr lang="en-US" dirty="0"/>
              <a:t> </a:t>
            </a:r>
            <a:r>
              <a:rPr lang="en-US" dirty="0" err="1"/>
              <a:t>studiat</a:t>
            </a:r>
            <a:r>
              <a:rPr lang="ro-RO" dirty="0"/>
              <a:t>ă</a:t>
            </a:r>
            <a:endParaRPr lang="en-US" dirty="0"/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0FDFF330-E375-BFFE-61BF-BB11366FF5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 err="1"/>
              <a:t>Problema</a:t>
            </a:r>
            <a:r>
              <a:rPr lang="en-US" dirty="0"/>
              <a:t> </a:t>
            </a:r>
            <a:r>
              <a:rPr lang="en-US" dirty="0" err="1"/>
              <a:t>analizei</a:t>
            </a:r>
            <a:r>
              <a:rPr lang="en-US" dirty="0"/>
              <a:t> </a:t>
            </a:r>
            <a:r>
              <a:rPr lang="en-US" dirty="0" err="1"/>
              <a:t>sentimentelor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complexă</a:t>
            </a:r>
            <a:r>
              <a:rPr lang="en-US" dirty="0"/>
              <a:t> </a:t>
            </a:r>
            <a:r>
              <a:rPr lang="en-US" dirty="0" err="1"/>
              <a:t>deoarece</a:t>
            </a:r>
            <a:r>
              <a:rPr lang="en-US" dirty="0"/>
              <a:t> </a:t>
            </a:r>
            <a:r>
              <a:rPr lang="en-US" dirty="0" err="1"/>
              <a:t>implică</a:t>
            </a:r>
            <a:r>
              <a:rPr lang="en-US" dirty="0"/>
              <a:t> </a:t>
            </a:r>
            <a:r>
              <a:rPr lang="en-US" dirty="0" err="1"/>
              <a:t>interpretarea</a:t>
            </a:r>
            <a:r>
              <a:rPr lang="en-US" dirty="0"/>
              <a:t> </a:t>
            </a:r>
            <a:r>
              <a:rPr lang="en-US" dirty="0" err="1"/>
              <a:t>limbajului</a:t>
            </a:r>
            <a:r>
              <a:rPr lang="en-US" dirty="0"/>
              <a:t> natural, un </a:t>
            </a:r>
            <a:r>
              <a:rPr lang="en-US" dirty="0" err="1"/>
              <a:t>domeniu</a:t>
            </a:r>
            <a:r>
              <a:rPr lang="en-US" dirty="0"/>
              <a:t> </a:t>
            </a:r>
            <a:r>
              <a:rPr lang="en-US" dirty="0" err="1"/>
              <a:t>în</a:t>
            </a:r>
            <a:r>
              <a:rPr lang="en-US" dirty="0"/>
              <a:t> care </a:t>
            </a:r>
            <a:r>
              <a:rPr lang="en-US" dirty="0" err="1"/>
              <a:t>semnificația</a:t>
            </a:r>
            <a:r>
              <a:rPr lang="en-US" dirty="0"/>
              <a:t> </a:t>
            </a:r>
            <a:r>
              <a:rPr lang="en-US" dirty="0" err="1"/>
              <a:t>poate</a:t>
            </a:r>
            <a:r>
              <a:rPr lang="en-US" dirty="0"/>
              <a:t> fi </a:t>
            </a:r>
            <a:r>
              <a:rPr lang="en-US" dirty="0" err="1"/>
              <a:t>transmisă</a:t>
            </a:r>
            <a:r>
              <a:rPr lang="en-US" dirty="0"/>
              <a:t> nu </a:t>
            </a:r>
            <a:r>
              <a:rPr lang="en-US" dirty="0" err="1"/>
              <a:t>doar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cuvinte</a:t>
            </a:r>
            <a:r>
              <a:rPr lang="en-US" dirty="0"/>
              <a:t> </a:t>
            </a:r>
            <a:r>
              <a:rPr lang="en-US" dirty="0" err="1"/>
              <a:t>individuale</a:t>
            </a:r>
            <a:r>
              <a:rPr lang="en-US" dirty="0"/>
              <a:t>, ci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structuri</a:t>
            </a:r>
            <a:r>
              <a:rPr lang="en-US" dirty="0"/>
              <a:t> </a:t>
            </a:r>
            <a:r>
              <a:rPr lang="en-US" dirty="0" err="1"/>
              <a:t>sintactice</a:t>
            </a:r>
            <a:r>
              <a:rPr lang="en-US" dirty="0"/>
              <a:t>, context, ton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stil</a:t>
            </a:r>
            <a:r>
              <a:rPr lang="en-US" dirty="0"/>
              <a:t>. </a:t>
            </a:r>
            <a:r>
              <a:rPr lang="en-US" dirty="0" err="1"/>
              <a:t>Recenziile</a:t>
            </a:r>
            <a:r>
              <a:rPr lang="en-US" dirty="0"/>
              <a:t> de </a:t>
            </a:r>
            <a:r>
              <a:rPr lang="en-US" dirty="0" err="1"/>
              <a:t>filme</a:t>
            </a:r>
            <a:r>
              <a:rPr lang="en-US" dirty="0"/>
              <a:t> </a:t>
            </a:r>
            <a:r>
              <a:rPr lang="en-US" dirty="0" err="1"/>
              <a:t>conțin</a:t>
            </a:r>
            <a:r>
              <a:rPr lang="en-US" dirty="0"/>
              <a:t> </a:t>
            </a:r>
            <a:r>
              <a:rPr lang="en-US" dirty="0" err="1"/>
              <a:t>adesea</a:t>
            </a:r>
            <a:r>
              <a:rPr lang="en-US" dirty="0"/>
              <a:t> </a:t>
            </a:r>
            <a:r>
              <a:rPr lang="en-US" dirty="0" err="1"/>
              <a:t>opinii</a:t>
            </a:r>
            <a:r>
              <a:rPr lang="en-US" dirty="0"/>
              <a:t> </a:t>
            </a:r>
            <a:r>
              <a:rPr lang="en-US" dirty="0" err="1"/>
              <a:t>subiective</a:t>
            </a:r>
            <a:r>
              <a:rPr lang="en-US" dirty="0"/>
              <a:t>, </a:t>
            </a:r>
            <a:r>
              <a:rPr lang="en-US" dirty="0" err="1"/>
              <a:t>metafore</a:t>
            </a:r>
            <a:r>
              <a:rPr lang="en-US" dirty="0"/>
              <a:t>, </a:t>
            </a:r>
            <a:r>
              <a:rPr lang="en-US" dirty="0" err="1"/>
              <a:t>comparații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expresii</a:t>
            </a:r>
            <a:r>
              <a:rPr lang="en-US" dirty="0"/>
              <a:t> </a:t>
            </a:r>
            <a:r>
              <a:rPr lang="en-US" dirty="0" err="1"/>
              <a:t>idiomatice</a:t>
            </a:r>
            <a:r>
              <a:rPr lang="en-US" dirty="0"/>
              <a:t>, </a:t>
            </a:r>
            <a:r>
              <a:rPr lang="en-US" dirty="0" err="1"/>
              <a:t>ceea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face </a:t>
            </a:r>
            <a:r>
              <a:rPr lang="en-US" dirty="0" err="1"/>
              <a:t>dificilă</a:t>
            </a:r>
            <a:r>
              <a:rPr lang="en-US" dirty="0"/>
              <a:t> </a:t>
            </a:r>
            <a:r>
              <a:rPr lang="en-US" dirty="0" err="1"/>
              <a:t>clasificarea</a:t>
            </a:r>
            <a:r>
              <a:rPr lang="en-US" dirty="0"/>
              <a:t> </a:t>
            </a:r>
            <a:r>
              <a:rPr lang="en-US" dirty="0" err="1"/>
              <a:t>automată</a:t>
            </a:r>
            <a:r>
              <a:rPr lang="en-US" dirty="0"/>
              <a:t>. </a:t>
            </a:r>
            <a:r>
              <a:rPr lang="en-US" dirty="0" err="1"/>
              <a:t>În</a:t>
            </a:r>
            <a:r>
              <a:rPr lang="en-US" dirty="0"/>
              <a:t> plus, </a:t>
            </a:r>
            <a:r>
              <a:rPr lang="en-US" dirty="0" err="1"/>
              <a:t>limbajul</a:t>
            </a:r>
            <a:r>
              <a:rPr lang="en-US" dirty="0"/>
              <a:t> </a:t>
            </a:r>
            <a:r>
              <a:rPr lang="en-US" dirty="0" err="1"/>
              <a:t>folosit</a:t>
            </a:r>
            <a:r>
              <a:rPr lang="en-US" dirty="0"/>
              <a:t> nu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întotdeauna</a:t>
            </a:r>
            <a:r>
              <a:rPr lang="en-US" dirty="0"/>
              <a:t> </a:t>
            </a:r>
            <a:r>
              <a:rPr lang="en-US" dirty="0" err="1"/>
              <a:t>standardizat</a:t>
            </a:r>
            <a:r>
              <a:rPr lang="en-US" dirty="0"/>
              <a:t>: </a:t>
            </a:r>
            <a:r>
              <a:rPr lang="en-US" dirty="0" err="1"/>
              <a:t>utilizatorii</a:t>
            </a:r>
            <a:r>
              <a:rPr lang="en-US" dirty="0"/>
              <a:t> pot </a:t>
            </a:r>
            <a:r>
              <a:rPr lang="en-US" dirty="0" err="1"/>
              <a:t>utiliza</a:t>
            </a:r>
            <a:r>
              <a:rPr lang="en-US" dirty="0"/>
              <a:t> slang, </a:t>
            </a:r>
            <a:r>
              <a:rPr lang="en-US" dirty="0" err="1"/>
              <a:t>abrevieri</a:t>
            </a:r>
            <a:r>
              <a:rPr lang="en-US" dirty="0"/>
              <a:t>, </a:t>
            </a:r>
            <a:r>
              <a:rPr lang="en-US" dirty="0" err="1"/>
              <a:t>greșeli</a:t>
            </a:r>
            <a:r>
              <a:rPr lang="en-US" dirty="0"/>
              <a:t> </a:t>
            </a:r>
            <a:r>
              <a:rPr lang="en-US" dirty="0" err="1"/>
              <a:t>gramaticale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forme</a:t>
            </a:r>
            <a:r>
              <a:rPr lang="en-US" dirty="0"/>
              <a:t> </a:t>
            </a:r>
            <a:r>
              <a:rPr lang="en-US" dirty="0" err="1"/>
              <a:t>colocviale</a:t>
            </a:r>
            <a:r>
              <a:rPr lang="en-US" dirty="0"/>
              <a:t>. </a:t>
            </a:r>
            <a:r>
              <a:rPr lang="en-US" dirty="0" err="1"/>
              <a:t>Sistemul</a:t>
            </a:r>
            <a:r>
              <a:rPr lang="en-US" dirty="0"/>
              <a:t> </a:t>
            </a:r>
            <a:r>
              <a:rPr lang="en-US" dirty="0" err="1"/>
              <a:t>trebuie</a:t>
            </a:r>
            <a:r>
              <a:rPr lang="en-US" dirty="0"/>
              <a:t> </a:t>
            </a:r>
            <a:r>
              <a:rPr lang="en-US" dirty="0" err="1"/>
              <a:t>să</a:t>
            </a:r>
            <a:r>
              <a:rPr lang="en-US" dirty="0"/>
              <a:t> fie </a:t>
            </a:r>
            <a:r>
              <a:rPr lang="en-US" dirty="0" err="1"/>
              <a:t>suficient</a:t>
            </a:r>
            <a:r>
              <a:rPr lang="en-US" dirty="0"/>
              <a:t> de robust </a:t>
            </a:r>
            <a:r>
              <a:rPr lang="en-US" dirty="0" err="1"/>
              <a:t>pentru</a:t>
            </a:r>
            <a:r>
              <a:rPr lang="en-US" dirty="0"/>
              <a:t> a </a:t>
            </a:r>
            <a:r>
              <a:rPr lang="en-US" dirty="0" err="1"/>
              <a:t>generaliza</a:t>
            </a:r>
            <a:r>
              <a:rPr lang="en-US" dirty="0"/>
              <a:t> </a:t>
            </a:r>
            <a:r>
              <a:rPr lang="en-US" dirty="0" err="1"/>
              <a:t>în</a:t>
            </a:r>
            <a:r>
              <a:rPr lang="en-US" dirty="0"/>
              <a:t> </a:t>
            </a:r>
            <a:r>
              <a:rPr lang="en-US" dirty="0" err="1"/>
              <a:t>aceste</a:t>
            </a:r>
            <a:r>
              <a:rPr lang="en-US" dirty="0"/>
              <a:t> </a:t>
            </a:r>
            <a:r>
              <a:rPr lang="en-US" dirty="0" err="1"/>
              <a:t>circumstanțe</a:t>
            </a:r>
            <a:r>
              <a:rPr lang="en-US" dirty="0"/>
              <a:t>.</a:t>
            </a:r>
          </a:p>
          <a:p>
            <a:r>
              <a:rPr lang="en-US" dirty="0"/>
              <a:t>Pe </a:t>
            </a:r>
            <a:r>
              <a:rPr lang="en-US" dirty="0" err="1"/>
              <a:t>lângă</a:t>
            </a:r>
            <a:r>
              <a:rPr lang="en-US" dirty="0"/>
              <a:t> </a:t>
            </a:r>
            <a:r>
              <a:rPr lang="en-US" dirty="0" err="1"/>
              <a:t>aceste</a:t>
            </a:r>
            <a:r>
              <a:rPr lang="en-US" dirty="0"/>
              <a:t> </a:t>
            </a:r>
            <a:r>
              <a:rPr lang="en-US" dirty="0" err="1"/>
              <a:t>aspecte</a:t>
            </a:r>
            <a:r>
              <a:rPr lang="en-US" dirty="0"/>
              <a:t>, </a:t>
            </a:r>
            <a:r>
              <a:rPr lang="en-US" dirty="0" err="1"/>
              <a:t>recenziile</a:t>
            </a:r>
            <a:r>
              <a:rPr lang="en-US" dirty="0"/>
              <a:t> sunt </a:t>
            </a:r>
            <a:r>
              <a:rPr lang="en-US" dirty="0" err="1"/>
              <a:t>foarte</a:t>
            </a:r>
            <a:r>
              <a:rPr lang="en-US" dirty="0"/>
              <a:t> variate ca </a:t>
            </a:r>
            <a:r>
              <a:rPr lang="en-US" dirty="0" err="1"/>
              <a:t>lungime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conținut</a:t>
            </a:r>
            <a:r>
              <a:rPr lang="en-US" dirty="0"/>
              <a:t>. </a:t>
            </a:r>
            <a:r>
              <a:rPr lang="en-US" dirty="0" err="1"/>
              <a:t>Unele</a:t>
            </a:r>
            <a:r>
              <a:rPr lang="en-US" dirty="0"/>
              <a:t> pot </a:t>
            </a:r>
            <a:r>
              <a:rPr lang="en-US" dirty="0" err="1"/>
              <a:t>conține</a:t>
            </a:r>
            <a:r>
              <a:rPr lang="en-US" dirty="0"/>
              <a:t> </a:t>
            </a:r>
            <a:r>
              <a:rPr lang="en-US" dirty="0" err="1"/>
              <a:t>doar</a:t>
            </a:r>
            <a:r>
              <a:rPr lang="en-US" dirty="0"/>
              <a:t> </a:t>
            </a:r>
            <a:r>
              <a:rPr lang="en-US" dirty="0" err="1"/>
              <a:t>câteva</a:t>
            </a:r>
            <a:r>
              <a:rPr lang="en-US" dirty="0"/>
              <a:t> </a:t>
            </a:r>
            <a:r>
              <a:rPr lang="en-US" dirty="0" err="1"/>
              <a:t>cuvinte</a:t>
            </a:r>
            <a:r>
              <a:rPr lang="en-US" dirty="0"/>
              <a:t>, </a:t>
            </a:r>
            <a:r>
              <a:rPr lang="en-US" dirty="0" err="1"/>
              <a:t>în</a:t>
            </a:r>
            <a:r>
              <a:rPr lang="en-US" dirty="0"/>
              <a:t> </a:t>
            </a:r>
            <a:r>
              <a:rPr lang="en-US" dirty="0" err="1"/>
              <a:t>timp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</a:t>
            </a:r>
            <a:r>
              <a:rPr lang="en-US" dirty="0" err="1"/>
              <a:t>altele</a:t>
            </a:r>
            <a:r>
              <a:rPr lang="en-US" dirty="0"/>
              <a:t> pot include </a:t>
            </a:r>
            <a:r>
              <a:rPr lang="en-US" dirty="0" err="1"/>
              <a:t>paragrafe</a:t>
            </a:r>
            <a:r>
              <a:rPr lang="en-US" dirty="0"/>
              <a:t> </a:t>
            </a:r>
            <a:r>
              <a:rPr lang="en-US" dirty="0" err="1"/>
              <a:t>întregi</a:t>
            </a:r>
            <a:r>
              <a:rPr lang="en-US" dirty="0"/>
              <a:t> de </a:t>
            </a:r>
            <a:r>
              <a:rPr lang="en-US" dirty="0" err="1"/>
              <a:t>analiză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845003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473D35BF-E34C-F922-326D-D950E85DF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Obiective</a:t>
            </a:r>
            <a:endParaRPr lang="en-US" dirty="0"/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6AD53CEB-5DFD-DDA1-9EF4-EA30B945E0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 err="1"/>
              <a:t>Scopul</a:t>
            </a:r>
            <a:r>
              <a:rPr lang="en-US" b="1" dirty="0"/>
              <a:t> principal:</a:t>
            </a:r>
            <a:endParaRPr lang="en-US" dirty="0"/>
          </a:p>
          <a:p>
            <a:r>
              <a:rPr lang="en-US" dirty="0" err="1"/>
              <a:t>Clasificarea</a:t>
            </a:r>
            <a:r>
              <a:rPr lang="en-US" dirty="0"/>
              <a:t> </a:t>
            </a:r>
            <a:r>
              <a:rPr lang="en-US" dirty="0" err="1"/>
              <a:t>automată</a:t>
            </a:r>
            <a:r>
              <a:rPr lang="en-US" dirty="0"/>
              <a:t> a </a:t>
            </a:r>
            <a:r>
              <a:rPr lang="en-US" dirty="0" err="1"/>
              <a:t>sentimentului</a:t>
            </a:r>
            <a:r>
              <a:rPr lang="en-US" dirty="0"/>
              <a:t> </a:t>
            </a:r>
            <a:r>
              <a:rPr lang="en-US" dirty="0" err="1"/>
              <a:t>recenziilor</a:t>
            </a:r>
            <a:r>
              <a:rPr lang="en-US" dirty="0"/>
              <a:t> din </a:t>
            </a:r>
            <a:r>
              <a:rPr lang="en-US" dirty="0" err="1"/>
              <a:t>filme</a:t>
            </a:r>
            <a:endParaRPr lang="en-US" dirty="0"/>
          </a:p>
          <a:p>
            <a:pPr marL="0" indent="0">
              <a:buNone/>
            </a:pPr>
            <a:r>
              <a:rPr lang="en-US" b="1" dirty="0" err="1"/>
              <a:t>Obiective</a:t>
            </a:r>
            <a:r>
              <a:rPr lang="en-US" b="1" dirty="0"/>
              <a:t> </a:t>
            </a:r>
            <a:r>
              <a:rPr lang="en-US" b="1" dirty="0" err="1"/>
              <a:t>specifice</a:t>
            </a:r>
            <a:endParaRPr lang="en-US" dirty="0"/>
          </a:p>
          <a:p>
            <a:r>
              <a:rPr lang="en-US" dirty="0" err="1"/>
              <a:t>Preprocesarea</a:t>
            </a:r>
            <a:r>
              <a:rPr lang="en-US" dirty="0"/>
              <a:t> </a:t>
            </a:r>
            <a:r>
              <a:rPr lang="en-US" dirty="0" err="1"/>
              <a:t>datelor</a:t>
            </a:r>
            <a:r>
              <a:rPr lang="en-US" dirty="0"/>
              <a:t> </a:t>
            </a:r>
            <a:r>
              <a:rPr lang="en-US" dirty="0" err="1"/>
              <a:t>textuale</a:t>
            </a:r>
            <a:endParaRPr lang="en-US" dirty="0"/>
          </a:p>
          <a:p>
            <a:r>
              <a:rPr lang="en-US" dirty="0" err="1"/>
              <a:t>Implementarea</a:t>
            </a:r>
            <a:r>
              <a:rPr lang="en-US" dirty="0"/>
              <a:t> </a:t>
            </a:r>
            <a:r>
              <a:rPr lang="en-US" dirty="0" err="1"/>
              <a:t>modelelor</a:t>
            </a:r>
            <a:r>
              <a:rPr lang="en-US" dirty="0"/>
              <a:t> RNN</a:t>
            </a:r>
          </a:p>
          <a:p>
            <a:r>
              <a:rPr lang="en-US" dirty="0" err="1"/>
              <a:t>Compararea</a:t>
            </a:r>
            <a:r>
              <a:rPr lang="en-US" dirty="0"/>
              <a:t> </a:t>
            </a:r>
            <a:r>
              <a:rPr lang="en-US" dirty="0" err="1"/>
              <a:t>performanțelor</a:t>
            </a:r>
            <a:endParaRPr lang="en-US" dirty="0"/>
          </a:p>
          <a:p>
            <a:r>
              <a:rPr lang="en-US" dirty="0"/>
              <a:t>Analiza </a:t>
            </a:r>
            <a:r>
              <a:rPr lang="en-US" dirty="0" err="1"/>
              <a:t>avantajelor</a:t>
            </a:r>
            <a:r>
              <a:rPr lang="en-US" dirty="0"/>
              <a:t> </a:t>
            </a:r>
            <a:r>
              <a:rPr lang="en-US" dirty="0" err="1"/>
              <a:t>fiecărei</a:t>
            </a:r>
            <a:r>
              <a:rPr lang="en-US" dirty="0"/>
              <a:t> </a:t>
            </a:r>
            <a:r>
              <a:rPr lang="en-US" dirty="0" err="1"/>
              <a:t>arhitecturi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048232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5EC4ACB2-39DA-8622-CD5B-7DE0D3EB1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</a:t>
            </a:r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05B71BDC-833C-546B-D831-39410F974F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hlinkClick r:id="rId3" action="ppaction://hlinkfile"/>
              </a:rPr>
              <a:t>IMDB Dataset of 50K Movie Reviews</a:t>
            </a:r>
            <a:endParaRPr lang="en-US" dirty="0"/>
          </a:p>
          <a:p>
            <a:r>
              <a:rPr lang="en-US" dirty="0"/>
              <a:t>50.000 </a:t>
            </a:r>
            <a:r>
              <a:rPr lang="en-US" dirty="0" err="1"/>
              <a:t>recenzii</a:t>
            </a:r>
            <a:endParaRPr lang="en-US" dirty="0"/>
          </a:p>
          <a:p>
            <a:r>
              <a:rPr lang="en-US" dirty="0" err="1"/>
              <a:t>Echilibrat</a:t>
            </a:r>
            <a:r>
              <a:rPr lang="en-US" dirty="0"/>
              <a:t>: 50% </a:t>
            </a:r>
            <a:r>
              <a:rPr lang="en-US" dirty="0" err="1"/>
              <a:t>pozitiv</a:t>
            </a:r>
            <a:r>
              <a:rPr lang="en-US" dirty="0"/>
              <a:t> / 50% </a:t>
            </a:r>
            <a:r>
              <a:rPr lang="en-US" dirty="0" err="1"/>
              <a:t>negativ</a:t>
            </a:r>
            <a:endParaRPr lang="en-US" dirty="0"/>
          </a:p>
          <a:p>
            <a:r>
              <a:rPr lang="en-US" dirty="0" err="1"/>
              <a:t>Fără</a:t>
            </a:r>
            <a:r>
              <a:rPr lang="en-US" dirty="0"/>
              <a:t> date </a:t>
            </a:r>
            <a:r>
              <a:rPr lang="en-US" dirty="0" err="1"/>
              <a:t>lipsă</a:t>
            </a:r>
            <a:endParaRPr lang="en-US" dirty="0"/>
          </a:p>
          <a:p>
            <a:r>
              <a:rPr lang="en-US" dirty="0"/>
              <a:t>Text brut, </a:t>
            </a:r>
            <a:r>
              <a:rPr lang="en-US" dirty="0" err="1"/>
              <a:t>nepreprocesat</a:t>
            </a:r>
            <a:endParaRPr lang="en-US" dirty="0"/>
          </a:p>
          <a:p>
            <a:pPr marL="0" indent="0">
              <a:buNone/>
            </a:pPr>
            <a:r>
              <a:rPr lang="en-US" dirty="0" err="1">
                <a:hlinkClick r:id="rId4" action="ppaction://hlinkfile"/>
              </a:rPr>
              <a:t>Stanfords</a:t>
            </a:r>
            <a:r>
              <a:rPr lang="en-US" dirty="0">
                <a:hlinkClick r:id="rId4" action="ppaction://hlinkfile"/>
              </a:rPr>
              <a:t> </a:t>
            </a:r>
            <a:r>
              <a:rPr lang="en-US" dirty="0" err="1">
                <a:hlinkClick r:id="rId4" action="ppaction://hlinkfile"/>
              </a:rPr>
              <a:t>GloVe</a:t>
            </a:r>
            <a:r>
              <a:rPr lang="en-US" dirty="0">
                <a:hlinkClick r:id="rId4" action="ppaction://hlinkfile"/>
              </a:rPr>
              <a:t> pretrained word vectors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83536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>
            <a:extLst>
              <a:ext uri="{FF2B5EF4-FFF2-40B4-BE49-F238E27FC236}">
                <a16:creationId xmlns:a16="http://schemas.microsoft.com/office/drawing/2014/main" id="{5B367C29-5200-4FF1-83B7-18B105A0B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EC711491-7BB6-4BE6-A470-44BF61D562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E4F104B-68BE-4E53-A6A5-5C5F93FF72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6" name="Rectangle 5">
                <a:extLst>
                  <a:ext uri="{FF2B5EF4-FFF2-40B4-BE49-F238E27FC236}">
                    <a16:creationId xmlns:a16="http://schemas.microsoft.com/office/drawing/2014/main" id="{EF4A7076-D6BC-4AE1-AE2C-C09B16AAB4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6">
                <a:extLst>
                  <a:ext uri="{FF2B5EF4-FFF2-40B4-BE49-F238E27FC236}">
                    <a16:creationId xmlns:a16="http://schemas.microsoft.com/office/drawing/2014/main" id="{58FA119B-7250-4EC7-912F-F5613CC281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7">
                <a:extLst>
                  <a:ext uri="{FF2B5EF4-FFF2-40B4-BE49-F238E27FC236}">
                    <a16:creationId xmlns:a16="http://schemas.microsoft.com/office/drawing/2014/main" id="{7B9A9AED-D47E-44AD-AD6E-2EECC94D88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8">
                <a:extLst>
                  <a:ext uri="{FF2B5EF4-FFF2-40B4-BE49-F238E27FC236}">
                    <a16:creationId xmlns:a16="http://schemas.microsoft.com/office/drawing/2014/main" id="{00A30ECA-328D-4512-825B-0AD59604678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9">
                <a:extLst>
                  <a:ext uri="{FF2B5EF4-FFF2-40B4-BE49-F238E27FC236}">
                    <a16:creationId xmlns:a16="http://schemas.microsoft.com/office/drawing/2014/main" id="{14A218CE-B3D8-4A43-86CC-48980645AC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0">
                <a:extLst>
                  <a:ext uri="{FF2B5EF4-FFF2-40B4-BE49-F238E27FC236}">
                    <a16:creationId xmlns:a16="http://schemas.microsoft.com/office/drawing/2014/main" id="{E9743B7D-51BF-425C-A4B8-33B2E001EF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Freeform 11">
                <a:extLst>
                  <a:ext uri="{FF2B5EF4-FFF2-40B4-BE49-F238E27FC236}">
                    <a16:creationId xmlns:a16="http://schemas.microsoft.com/office/drawing/2014/main" id="{9BA633B3-C879-4E15-B66C-788B4C60A1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2">
                <a:extLst>
                  <a:ext uri="{FF2B5EF4-FFF2-40B4-BE49-F238E27FC236}">
                    <a16:creationId xmlns:a16="http://schemas.microsoft.com/office/drawing/2014/main" id="{324C8953-B4E2-4DA0-B5D5-BD2A735E67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3">
                <a:extLst>
                  <a:ext uri="{FF2B5EF4-FFF2-40B4-BE49-F238E27FC236}">
                    <a16:creationId xmlns:a16="http://schemas.microsoft.com/office/drawing/2014/main" id="{717A3B65-FE80-419B-AB5D-48B5E3A7B4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4">
                <a:extLst>
                  <a:ext uri="{FF2B5EF4-FFF2-40B4-BE49-F238E27FC236}">
                    <a16:creationId xmlns:a16="http://schemas.microsoft.com/office/drawing/2014/main" id="{675ECD78-7D6B-4A3F-8163-392D7F8D69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15">
                <a:extLst>
                  <a:ext uri="{FF2B5EF4-FFF2-40B4-BE49-F238E27FC236}">
                    <a16:creationId xmlns:a16="http://schemas.microsoft.com/office/drawing/2014/main" id="{8D036282-E32F-461D-BFB6-2A58D6D27AC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Line 16">
                <a:extLst>
                  <a:ext uri="{FF2B5EF4-FFF2-40B4-BE49-F238E27FC236}">
                    <a16:creationId xmlns:a16="http://schemas.microsoft.com/office/drawing/2014/main" id="{F95EB10E-5264-467D-8382-A77C4DED25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17">
                <a:extLst>
                  <a:ext uri="{FF2B5EF4-FFF2-40B4-BE49-F238E27FC236}">
                    <a16:creationId xmlns:a16="http://schemas.microsoft.com/office/drawing/2014/main" id="{218F9268-D2F0-487B-A021-8786B65518D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18">
                <a:extLst>
                  <a:ext uri="{FF2B5EF4-FFF2-40B4-BE49-F238E27FC236}">
                    <a16:creationId xmlns:a16="http://schemas.microsoft.com/office/drawing/2014/main" id="{B4AEE5AC-EF5C-42E4-B185-A176E19976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19">
                <a:extLst>
                  <a:ext uri="{FF2B5EF4-FFF2-40B4-BE49-F238E27FC236}">
                    <a16:creationId xmlns:a16="http://schemas.microsoft.com/office/drawing/2014/main" id="{E961E89F-C1DB-48E5-8B52-FDDAED9E0E4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0">
                <a:extLst>
                  <a:ext uri="{FF2B5EF4-FFF2-40B4-BE49-F238E27FC236}">
                    <a16:creationId xmlns:a16="http://schemas.microsoft.com/office/drawing/2014/main" id="{412962B4-425A-4C36-A65A-0F66ED7CD3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Rectangle 21">
                <a:extLst>
                  <a:ext uri="{FF2B5EF4-FFF2-40B4-BE49-F238E27FC236}">
                    <a16:creationId xmlns:a16="http://schemas.microsoft.com/office/drawing/2014/main" id="{037BE3F7-563A-4D9A-BC98-C71F727D23A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2">
                <a:extLst>
                  <a:ext uri="{FF2B5EF4-FFF2-40B4-BE49-F238E27FC236}">
                    <a16:creationId xmlns:a16="http://schemas.microsoft.com/office/drawing/2014/main" id="{2FDB1005-EB5E-475A-AC43-4ED3E563DE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3">
                <a:extLst>
                  <a:ext uri="{FF2B5EF4-FFF2-40B4-BE49-F238E27FC236}">
                    <a16:creationId xmlns:a16="http://schemas.microsoft.com/office/drawing/2014/main" id="{68BFFBC6-C704-42A7-9D7E-AFB5C37FBDA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4">
                <a:extLst>
                  <a:ext uri="{FF2B5EF4-FFF2-40B4-BE49-F238E27FC236}">
                    <a16:creationId xmlns:a16="http://schemas.microsoft.com/office/drawing/2014/main" id="{4888EAD7-EBE9-4549-9A91-6FEC611536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25">
                <a:extLst>
                  <a:ext uri="{FF2B5EF4-FFF2-40B4-BE49-F238E27FC236}">
                    <a16:creationId xmlns:a16="http://schemas.microsoft.com/office/drawing/2014/main" id="{B79BC975-BE42-4B57-8335-1699BC0AB1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26">
                <a:extLst>
                  <a:ext uri="{FF2B5EF4-FFF2-40B4-BE49-F238E27FC236}">
                    <a16:creationId xmlns:a16="http://schemas.microsoft.com/office/drawing/2014/main" id="{3998B4F0-CA80-490A-A256-1600E7EA886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Freeform 27">
                <a:extLst>
                  <a:ext uri="{FF2B5EF4-FFF2-40B4-BE49-F238E27FC236}">
                    <a16:creationId xmlns:a16="http://schemas.microsoft.com/office/drawing/2014/main" id="{2052C104-8168-487E-9044-454DA83AB2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" name="Freeform 28">
                <a:extLst>
                  <a:ext uri="{FF2B5EF4-FFF2-40B4-BE49-F238E27FC236}">
                    <a16:creationId xmlns:a16="http://schemas.microsoft.com/office/drawing/2014/main" id="{63ACA30B-5F59-400C-A7CE-D17B5647EE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" name="Freeform 29">
                <a:extLst>
                  <a:ext uri="{FF2B5EF4-FFF2-40B4-BE49-F238E27FC236}">
                    <a16:creationId xmlns:a16="http://schemas.microsoft.com/office/drawing/2014/main" id="{2E16F318-A142-4353-9949-B4E3A09FE0B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" name="Freeform 30">
                <a:extLst>
                  <a:ext uri="{FF2B5EF4-FFF2-40B4-BE49-F238E27FC236}">
                    <a16:creationId xmlns:a16="http://schemas.microsoft.com/office/drawing/2014/main" id="{8AE8DBB4-2468-4A78-A54D-FD77C5DC88A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" name="Freeform 31">
                <a:extLst>
                  <a:ext uri="{FF2B5EF4-FFF2-40B4-BE49-F238E27FC236}">
                    <a16:creationId xmlns:a16="http://schemas.microsoft.com/office/drawing/2014/main" id="{B0E7CEF2-11E4-465C-8F1F-AA8367F96A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8B30AFD-E104-45DD-BFBB-5A41F1413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6" name="Freeform 32">
                <a:extLst>
                  <a:ext uri="{FF2B5EF4-FFF2-40B4-BE49-F238E27FC236}">
                    <a16:creationId xmlns:a16="http://schemas.microsoft.com/office/drawing/2014/main" id="{CE45A3DF-350B-4A5E-AEBE-F0F280AD037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3">
                <a:extLst>
                  <a:ext uri="{FF2B5EF4-FFF2-40B4-BE49-F238E27FC236}">
                    <a16:creationId xmlns:a16="http://schemas.microsoft.com/office/drawing/2014/main" id="{966D2640-A438-4FB6-B781-5A52DEC85C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4">
                <a:extLst>
                  <a:ext uri="{FF2B5EF4-FFF2-40B4-BE49-F238E27FC236}">
                    <a16:creationId xmlns:a16="http://schemas.microsoft.com/office/drawing/2014/main" id="{34E1EFFF-720C-4CC0-9F95-DD1DAF99AD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35">
                <a:extLst>
                  <a:ext uri="{FF2B5EF4-FFF2-40B4-BE49-F238E27FC236}">
                    <a16:creationId xmlns:a16="http://schemas.microsoft.com/office/drawing/2014/main" id="{EA7AB0E1-6C49-409D-86F5-BE00BDDFC0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36">
                <a:extLst>
                  <a:ext uri="{FF2B5EF4-FFF2-40B4-BE49-F238E27FC236}">
                    <a16:creationId xmlns:a16="http://schemas.microsoft.com/office/drawing/2014/main" id="{5D17598C-0C57-4F4E-8F6B-A2AD8071F8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37">
                <a:extLst>
                  <a:ext uri="{FF2B5EF4-FFF2-40B4-BE49-F238E27FC236}">
                    <a16:creationId xmlns:a16="http://schemas.microsoft.com/office/drawing/2014/main" id="{EBEBC0DC-F56F-48FE-824E-E9378C48976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38">
                <a:extLst>
                  <a:ext uri="{FF2B5EF4-FFF2-40B4-BE49-F238E27FC236}">
                    <a16:creationId xmlns:a16="http://schemas.microsoft.com/office/drawing/2014/main" id="{CC7FDCF1-1736-48A0-BDB2-87D6E09067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39">
                <a:extLst>
                  <a:ext uri="{FF2B5EF4-FFF2-40B4-BE49-F238E27FC236}">
                    <a16:creationId xmlns:a16="http://schemas.microsoft.com/office/drawing/2014/main" id="{2A650CF5-564F-44D1-AB08-6C500DD3CED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40">
                <a:extLst>
                  <a:ext uri="{FF2B5EF4-FFF2-40B4-BE49-F238E27FC236}">
                    <a16:creationId xmlns:a16="http://schemas.microsoft.com/office/drawing/2014/main" id="{3108FEFA-0402-4C1C-AE39-5ADC09402F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Rectangle 41">
                <a:extLst>
                  <a:ext uri="{FF2B5EF4-FFF2-40B4-BE49-F238E27FC236}">
                    <a16:creationId xmlns:a16="http://schemas.microsoft.com/office/drawing/2014/main" id="{340AE827-F344-464F-851C-E03AFC98DC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u 1">
            <a:extLst>
              <a:ext uri="{FF2B5EF4-FFF2-40B4-BE49-F238E27FC236}">
                <a16:creationId xmlns:a16="http://schemas.microsoft.com/office/drawing/2014/main" id="{73DDEB3E-7A04-FC53-8889-916987F03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7"/>
            <a:ext cx="2877336" cy="550732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 dirty="0" err="1"/>
              <a:t>Preprocesarea</a:t>
            </a:r>
            <a:r>
              <a:rPr lang="en-US" sz="2800" dirty="0"/>
              <a:t> </a:t>
            </a:r>
            <a:r>
              <a:rPr lang="en-US" sz="2800" dirty="0" err="1"/>
              <a:t>Datelor</a:t>
            </a:r>
            <a:endParaRPr lang="en-US" sz="2800" dirty="0"/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9010EF53-8A7C-E00A-6DB0-4DE49E1D9A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40743" y="638650"/>
            <a:ext cx="7034485" cy="3782778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b="1" dirty="0" err="1"/>
              <a:t>Pași</a:t>
            </a:r>
            <a:r>
              <a:rPr lang="en-US" b="1" dirty="0"/>
              <a:t> </a:t>
            </a:r>
            <a:r>
              <a:rPr lang="en-US" b="1" dirty="0" err="1"/>
              <a:t>aplicați</a:t>
            </a:r>
            <a:r>
              <a:rPr lang="en-US" b="1" dirty="0"/>
              <a:t>:</a:t>
            </a:r>
            <a:endParaRPr lang="en-US" dirty="0"/>
          </a:p>
          <a:p>
            <a:pPr>
              <a:lnSpc>
                <a:spcPct val="110000"/>
              </a:lnSpc>
            </a:pPr>
            <a:r>
              <a:rPr lang="en-US" dirty="0" err="1"/>
              <a:t>Conversie</a:t>
            </a:r>
            <a:r>
              <a:rPr lang="en-US" dirty="0"/>
              <a:t> la lowercase</a:t>
            </a:r>
          </a:p>
          <a:p>
            <a:pPr>
              <a:lnSpc>
                <a:spcPct val="110000"/>
              </a:lnSpc>
            </a:pPr>
            <a:r>
              <a:rPr lang="en-US" dirty="0" err="1"/>
              <a:t>Eliminare</a:t>
            </a:r>
            <a:r>
              <a:rPr lang="en-US" dirty="0"/>
              <a:t> tag-</a:t>
            </a:r>
            <a:r>
              <a:rPr lang="en-US" dirty="0" err="1"/>
              <a:t>uri</a:t>
            </a:r>
            <a:r>
              <a:rPr lang="en-US" dirty="0"/>
              <a:t> HTML</a:t>
            </a:r>
          </a:p>
          <a:p>
            <a:pPr>
              <a:lnSpc>
                <a:spcPct val="110000"/>
              </a:lnSpc>
            </a:pPr>
            <a:r>
              <a:rPr lang="en-US" dirty="0" err="1"/>
              <a:t>Eliminare</a:t>
            </a:r>
            <a:r>
              <a:rPr lang="en-US" dirty="0"/>
              <a:t> </a:t>
            </a:r>
            <a:r>
              <a:rPr lang="en-US" dirty="0" err="1"/>
              <a:t>caractere</a:t>
            </a:r>
            <a:r>
              <a:rPr lang="en-US" dirty="0"/>
              <a:t> non-</a:t>
            </a:r>
            <a:r>
              <a:rPr lang="en-US" dirty="0" err="1"/>
              <a:t>alfabetice</a:t>
            </a:r>
            <a:endParaRPr lang="en-US" dirty="0"/>
          </a:p>
          <a:p>
            <a:pPr>
              <a:lnSpc>
                <a:spcPct val="110000"/>
              </a:lnSpc>
            </a:pPr>
            <a:r>
              <a:rPr lang="en-US" dirty="0" err="1"/>
              <a:t>Normalizare</a:t>
            </a:r>
            <a:r>
              <a:rPr lang="en-US" dirty="0"/>
              <a:t> </a:t>
            </a:r>
            <a:r>
              <a:rPr lang="en-US" dirty="0" err="1"/>
              <a:t>spații</a:t>
            </a:r>
            <a:endParaRPr lang="en-US" dirty="0"/>
          </a:p>
          <a:p>
            <a:pPr>
              <a:lnSpc>
                <a:spcPct val="110000"/>
              </a:lnSpc>
            </a:pPr>
            <a:r>
              <a:rPr lang="en-US" dirty="0" err="1"/>
              <a:t>Tokenizare</a:t>
            </a:r>
            <a:endParaRPr lang="en-US" dirty="0"/>
          </a:p>
          <a:p>
            <a:pPr>
              <a:lnSpc>
                <a:spcPct val="110000"/>
              </a:lnSpc>
            </a:pPr>
            <a:r>
              <a:rPr lang="en-US" dirty="0"/>
              <a:t>Padding</a:t>
            </a:r>
          </a:p>
          <a:p>
            <a:pPr>
              <a:lnSpc>
                <a:spcPct val="110000"/>
              </a:lnSpc>
            </a:pPr>
            <a:endParaRPr lang="en-US" dirty="0"/>
          </a:p>
        </p:txBody>
      </p:sp>
      <p:pic>
        <p:nvPicPr>
          <p:cNvPr id="6" name="Substituent conținut 5" descr="O imagine care conține text, captură de ecran, Font&#10;&#10;Conținutul generat de inteligența artificială poate fi incorect.">
            <a:extLst>
              <a:ext uri="{FF2B5EF4-FFF2-40B4-BE49-F238E27FC236}">
                <a16:creationId xmlns:a16="http://schemas.microsoft.com/office/drawing/2014/main" id="{51580043-18EC-84EA-FC06-6EF2D3FA313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5894668" y="4604942"/>
            <a:ext cx="4574143" cy="1520903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1248990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3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>
            <a:extLst>
              <a:ext uri="{FF2B5EF4-FFF2-40B4-BE49-F238E27FC236}">
                <a16:creationId xmlns:a16="http://schemas.microsoft.com/office/drawing/2014/main" id="{519FA62B-A2C9-49F5-8C45-9D5CDCD72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A24E966C-35F3-4DB1-8C23-4BC252E4E4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24ADCBC-2A94-4F6E-BC8D-278612B7AC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6" name="Rectangle 5">
                <a:extLst>
                  <a:ext uri="{FF2B5EF4-FFF2-40B4-BE49-F238E27FC236}">
                    <a16:creationId xmlns:a16="http://schemas.microsoft.com/office/drawing/2014/main" id="{38F45A3E-0BAF-4E7A-AD24-51B345041D5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6">
                <a:extLst>
                  <a:ext uri="{FF2B5EF4-FFF2-40B4-BE49-F238E27FC236}">
                    <a16:creationId xmlns:a16="http://schemas.microsoft.com/office/drawing/2014/main" id="{5340FE26-BABB-409C-A32A-B3D10BD2355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7">
                <a:extLst>
                  <a:ext uri="{FF2B5EF4-FFF2-40B4-BE49-F238E27FC236}">
                    <a16:creationId xmlns:a16="http://schemas.microsoft.com/office/drawing/2014/main" id="{A9468B59-1984-42C3-88A4-942CF6EF75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8">
                <a:extLst>
                  <a:ext uri="{FF2B5EF4-FFF2-40B4-BE49-F238E27FC236}">
                    <a16:creationId xmlns:a16="http://schemas.microsoft.com/office/drawing/2014/main" id="{F6B5E914-0078-49CC-AD42-C97DC361CD0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9">
                <a:extLst>
                  <a:ext uri="{FF2B5EF4-FFF2-40B4-BE49-F238E27FC236}">
                    <a16:creationId xmlns:a16="http://schemas.microsoft.com/office/drawing/2014/main" id="{D18B3F5A-0978-48AE-9360-8ABC8CEABB1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0">
                <a:extLst>
                  <a:ext uri="{FF2B5EF4-FFF2-40B4-BE49-F238E27FC236}">
                    <a16:creationId xmlns:a16="http://schemas.microsoft.com/office/drawing/2014/main" id="{27E73F9B-CBFF-473A-9B41-8964B831E9F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Freeform 11">
                <a:extLst>
                  <a:ext uri="{FF2B5EF4-FFF2-40B4-BE49-F238E27FC236}">
                    <a16:creationId xmlns:a16="http://schemas.microsoft.com/office/drawing/2014/main" id="{558218B5-0904-4C19-8935-1A64432BC2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2">
                <a:extLst>
                  <a:ext uri="{FF2B5EF4-FFF2-40B4-BE49-F238E27FC236}">
                    <a16:creationId xmlns:a16="http://schemas.microsoft.com/office/drawing/2014/main" id="{DBCBCB59-A700-4032-AB43-CB06687996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3">
                <a:extLst>
                  <a:ext uri="{FF2B5EF4-FFF2-40B4-BE49-F238E27FC236}">
                    <a16:creationId xmlns:a16="http://schemas.microsoft.com/office/drawing/2014/main" id="{861A9C11-1685-4F09-B995-D5ECAD153FE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4">
                <a:extLst>
                  <a:ext uri="{FF2B5EF4-FFF2-40B4-BE49-F238E27FC236}">
                    <a16:creationId xmlns:a16="http://schemas.microsoft.com/office/drawing/2014/main" id="{57CCC420-3BF0-4A3E-A4FB-41537B0642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15">
                <a:extLst>
                  <a:ext uri="{FF2B5EF4-FFF2-40B4-BE49-F238E27FC236}">
                    <a16:creationId xmlns:a16="http://schemas.microsoft.com/office/drawing/2014/main" id="{1DEFC6D1-15DA-4DDC-8FD1-B7630B8D607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Line 16">
                <a:extLst>
                  <a:ext uri="{FF2B5EF4-FFF2-40B4-BE49-F238E27FC236}">
                    <a16:creationId xmlns:a16="http://schemas.microsoft.com/office/drawing/2014/main" id="{0C6F2EE9-81FE-4B46-9513-6EC7D930124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17">
                <a:extLst>
                  <a:ext uri="{FF2B5EF4-FFF2-40B4-BE49-F238E27FC236}">
                    <a16:creationId xmlns:a16="http://schemas.microsoft.com/office/drawing/2014/main" id="{26DF77E9-F68C-4FE0-864E-A4A4DE3616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18">
                <a:extLst>
                  <a:ext uri="{FF2B5EF4-FFF2-40B4-BE49-F238E27FC236}">
                    <a16:creationId xmlns:a16="http://schemas.microsoft.com/office/drawing/2014/main" id="{9D3495ED-B588-4755-B8BB-18D33E4AC41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19">
                <a:extLst>
                  <a:ext uri="{FF2B5EF4-FFF2-40B4-BE49-F238E27FC236}">
                    <a16:creationId xmlns:a16="http://schemas.microsoft.com/office/drawing/2014/main" id="{E76105FE-305A-42A7-B2DD-388B99FAB8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0">
                <a:extLst>
                  <a:ext uri="{FF2B5EF4-FFF2-40B4-BE49-F238E27FC236}">
                    <a16:creationId xmlns:a16="http://schemas.microsoft.com/office/drawing/2014/main" id="{F1883F6E-6FAE-49E2-AE28-02B88BEBF6D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Rectangle 21">
                <a:extLst>
                  <a:ext uri="{FF2B5EF4-FFF2-40B4-BE49-F238E27FC236}">
                    <a16:creationId xmlns:a16="http://schemas.microsoft.com/office/drawing/2014/main" id="{8C8A198F-A0AA-455F-ACD5-8587457BDD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2">
                <a:extLst>
                  <a:ext uri="{FF2B5EF4-FFF2-40B4-BE49-F238E27FC236}">
                    <a16:creationId xmlns:a16="http://schemas.microsoft.com/office/drawing/2014/main" id="{E57E155C-0F05-498E-B0E3-33AE15B7E85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3">
                <a:extLst>
                  <a:ext uri="{FF2B5EF4-FFF2-40B4-BE49-F238E27FC236}">
                    <a16:creationId xmlns:a16="http://schemas.microsoft.com/office/drawing/2014/main" id="{3D7FB1D7-F9DB-443D-A2D4-40C46F6975A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4">
                <a:extLst>
                  <a:ext uri="{FF2B5EF4-FFF2-40B4-BE49-F238E27FC236}">
                    <a16:creationId xmlns:a16="http://schemas.microsoft.com/office/drawing/2014/main" id="{9EF7FB08-B52A-4C0D-BF32-AC6D91AE99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25">
                <a:extLst>
                  <a:ext uri="{FF2B5EF4-FFF2-40B4-BE49-F238E27FC236}">
                    <a16:creationId xmlns:a16="http://schemas.microsoft.com/office/drawing/2014/main" id="{2A27D708-7911-4EAB-8A9D-E608726B57C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26">
                <a:extLst>
                  <a:ext uri="{FF2B5EF4-FFF2-40B4-BE49-F238E27FC236}">
                    <a16:creationId xmlns:a16="http://schemas.microsoft.com/office/drawing/2014/main" id="{40A3E3AC-335B-4EAB-A5D4-E72C8434AB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Freeform 27">
                <a:extLst>
                  <a:ext uri="{FF2B5EF4-FFF2-40B4-BE49-F238E27FC236}">
                    <a16:creationId xmlns:a16="http://schemas.microsoft.com/office/drawing/2014/main" id="{FC4E923E-7CEC-4950-8C12-F40EAE7A367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" name="Freeform 28">
                <a:extLst>
                  <a:ext uri="{FF2B5EF4-FFF2-40B4-BE49-F238E27FC236}">
                    <a16:creationId xmlns:a16="http://schemas.microsoft.com/office/drawing/2014/main" id="{23A92FB5-3211-4195-8FFA-A8F49F6777E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" name="Freeform 29">
                <a:extLst>
                  <a:ext uri="{FF2B5EF4-FFF2-40B4-BE49-F238E27FC236}">
                    <a16:creationId xmlns:a16="http://schemas.microsoft.com/office/drawing/2014/main" id="{BB88442A-84E1-4264-BD24-B14020F21E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" name="Freeform 30">
                <a:extLst>
                  <a:ext uri="{FF2B5EF4-FFF2-40B4-BE49-F238E27FC236}">
                    <a16:creationId xmlns:a16="http://schemas.microsoft.com/office/drawing/2014/main" id="{B47AD665-0844-40BF-AE62-BA493929C50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" name="Freeform 31">
                <a:extLst>
                  <a:ext uri="{FF2B5EF4-FFF2-40B4-BE49-F238E27FC236}">
                    <a16:creationId xmlns:a16="http://schemas.microsoft.com/office/drawing/2014/main" id="{01D8E540-292C-4867-BD21-43910262E9F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A00C8F50-D632-4BE8-B5BF-8AEAE2D132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6" name="Freeform 32">
                <a:extLst>
                  <a:ext uri="{FF2B5EF4-FFF2-40B4-BE49-F238E27FC236}">
                    <a16:creationId xmlns:a16="http://schemas.microsoft.com/office/drawing/2014/main" id="{7870CC07-8D37-4F4D-A73B-9762FFAB178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3">
                <a:extLst>
                  <a:ext uri="{FF2B5EF4-FFF2-40B4-BE49-F238E27FC236}">
                    <a16:creationId xmlns:a16="http://schemas.microsoft.com/office/drawing/2014/main" id="{06B84BAB-C27B-4804-9496-FDDA7FF6F24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4">
                <a:extLst>
                  <a:ext uri="{FF2B5EF4-FFF2-40B4-BE49-F238E27FC236}">
                    <a16:creationId xmlns:a16="http://schemas.microsoft.com/office/drawing/2014/main" id="{45E90447-AF32-4C90-8940-D5EBE9F6406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35">
                <a:extLst>
                  <a:ext uri="{FF2B5EF4-FFF2-40B4-BE49-F238E27FC236}">
                    <a16:creationId xmlns:a16="http://schemas.microsoft.com/office/drawing/2014/main" id="{DFD35AB5-2871-471E-87D3-C3C024C31E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36">
                <a:extLst>
                  <a:ext uri="{FF2B5EF4-FFF2-40B4-BE49-F238E27FC236}">
                    <a16:creationId xmlns:a16="http://schemas.microsoft.com/office/drawing/2014/main" id="{60EED77B-C4CD-44DE-B7AA-472CBEE6EC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37">
                <a:extLst>
                  <a:ext uri="{FF2B5EF4-FFF2-40B4-BE49-F238E27FC236}">
                    <a16:creationId xmlns:a16="http://schemas.microsoft.com/office/drawing/2014/main" id="{68122908-2E24-4971-A70E-29CFE953E57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38">
                <a:extLst>
                  <a:ext uri="{FF2B5EF4-FFF2-40B4-BE49-F238E27FC236}">
                    <a16:creationId xmlns:a16="http://schemas.microsoft.com/office/drawing/2014/main" id="{43930918-848F-4F70-8C42-426DCCB4D4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39">
                <a:extLst>
                  <a:ext uri="{FF2B5EF4-FFF2-40B4-BE49-F238E27FC236}">
                    <a16:creationId xmlns:a16="http://schemas.microsoft.com/office/drawing/2014/main" id="{7C2C1A0B-06A1-4F89-9A58-66CAB57F1FD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40">
                <a:extLst>
                  <a:ext uri="{FF2B5EF4-FFF2-40B4-BE49-F238E27FC236}">
                    <a16:creationId xmlns:a16="http://schemas.microsoft.com/office/drawing/2014/main" id="{F26FAEF0-6EA1-41B4-AC1D-0BC56E43EFE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Rectangle 41">
                <a:extLst>
                  <a:ext uri="{FF2B5EF4-FFF2-40B4-BE49-F238E27FC236}">
                    <a16:creationId xmlns:a16="http://schemas.microsoft.com/office/drawing/2014/main" id="{563F085C-A9C1-47AB-9656-468B79DE5A2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u 1">
            <a:extLst>
              <a:ext uri="{FF2B5EF4-FFF2-40B4-BE49-F238E27FC236}">
                <a16:creationId xmlns:a16="http://schemas.microsoft.com/office/drawing/2014/main" id="{DD350B05-083C-6A29-8C8E-997733C5F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dirty="0" err="1"/>
              <a:t>Parametri</a:t>
            </a:r>
            <a:r>
              <a:rPr lang="en-US" dirty="0"/>
              <a:t> NLP</a:t>
            </a:r>
          </a:p>
        </p:txBody>
      </p:sp>
      <p:pic>
        <p:nvPicPr>
          <p:cNvPr id="6" name="Substituent conținut 5" descr="O imagine care conține text, captură de ecran, Font&#10;&#10;Conținutul generat de inteligența artificială poate fi incorect.">
            <a:extLst>
              <a:ext uri="{FF2B5EF4-FFF2-40B4-BE49-F238E27FC236}">
                <a16:creationId xmlns:a16="http://schemas.microsoft.com/office/drawing/2014/main" id="{24291AB4-50A8-92E7-D6F8-1C6F54DF1F5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/>
          <a:srcRect r="13957" b="-1"/>
          <a:stretch>
            <a:fillRect/>
          </a:stretch>
        </p:blipFill>
        <p:spPr>
          <a:xfrm>
            <a:off x="1141412" y="2497720"/>
            <a:ext cx="4662140" cy="3047892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4" name="Substituent conținut 3">
            <a:extLst>
              <a:ext uri="{FF2B5EF4-FFF2-40B4-BE49-F238E27FC236}">
                <a16:creationId xmlns:a16="http://schemas.microsoft.com/office/drawing/2014/main" id="{C2D1B0E9-81EC-913C-24DB-F3A751AE68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4479" y="2249487"/>
            <a:ext cx="4844521" cy="35417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200" b="1" dirty="0"/>
              <a:t>Tokenizer</a:t>
            </a:r>
            <a:endParaRPr lang="en-US" sz="2200" dirty="0"/>
          </a:p>
          <a:p>
            <a:pPr>
              <a:lnSpc>
                <a:spcPct val="110000"/>
              </a:lnSpc>
            </a:pPr>
            <a:r>
              <a:rPr lang="en-US" sz="2200" dirty="0"/>
              <a:t>Vocabular maxim: 20.000 </a:t>
            </a:r>
            <a:r>
              <a:rPr lang="en-US" sz="2200" dirty="0" err="1"/>
              <a:t>cuvinte</a:t>
            </a:r>
            <a:endParaRPr lang="en-US" sz="2200" dirty="0"/>
          </a:p>
          <a:p>
            <a:pPr>
              <a:lnSpc>
                <a:spcPct val="110000"/>
              </a:lnSpc>
            </a:pPr>
            <a:r>
              <a:rPr lang="en-US" sz="2200" dirty="0"/>
              <a:t>Token special </a:t>
            </a:r>
            <a:r>
              <a:rPr lang="en-US" sz="2200" dirty="0" err="1"/>
              <a:t>pentru</a:t>
            </a:r>
            <a:r>
              <a:rPr lang="en-US" sz="2200" dirty="0"/>
              <a:t> </a:t>
            </a:r>
            <a:r>
              <a:rPr lang="en-US" sz="2200" dirty="0" err="1"/>
              <a:t>cuvinte</a:t>
            </a:r>
            <a:r>
              <a:rPr lang="en-US" sz="2200" dirty="0"/>
              <a:t> </a:t>
            </a:r>
            <a:r>
              <a:rPr lang="en-US" sz="2200" dirty="0" err="1"/>
              <a:t>necunoscute</a:t>
            </a:r>
            <a:endParaRPr lang="en-US" sz="2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200" b="1" dirty="0"/>
              <a:t>Padding</a:t>
            </a:r>
            <a:endParaRPr lang="en-US" sz="2200" dirty="0"/>
          </a:p>
          <a:p>
            <a:pPr>
              <a:lnSpc>
                <a:spcPct val="110000"/>
              </a:lnSpc>
            </a:pPr>
            <a:r>
              <a:rPr lang="en-US" sz="2200" dirty="0" err="1"/>
              <a:t>Lungime</a:t>
            </a:r>
            <a:r>
              <a:rPr lang="en-US" sz="2200" dirty="0"/>
              <a:t> </a:t>
            </a:r>
            <a:r>
              <a:rPr lang="en-US" sz="2200" dirty="0" err="1"/>
              <a:t>maximă</a:t>
            </a:r>
            <a:r>
              <a:rPr lang="en-US" sz="2200" dirty="0"/>
              <a:t> </a:t>
            </a:r>
            <a:r>
              <a:rPr lang="en-US" sz="2200" dirty="0" err="1"/>
              <a:t>secvență</a:t>
            </a:r>
            <a:r>
              <a:rPr lang="en-US" sz="2200" dirty="0"/>
              <a:t>: 200 </a:t>
            </a:r>
            <a:r>
              <a:rPr lang="en-US" sz="2200" dirty="0" err="1"/>
              <a:t>tokeni</a:t>
            </a:r>
            <a:endParaRPr lang="en-US" sz="2200" dirty="0"/>
          </a:p>
          <a:p>
            <a:pPr>
              <a:lnSpc>
                <a:spcPct val="110000"/>
              </a:lnSpc>
            </a:pPr>
            <a:r>
              <a:rPr lang="en-US" sz="2200" dirty="0" err="1"/>
              <a:t>Trunchiere</a:t>
            </a:r>
            <a:r>
              <a:rPr lang="en-US" sz="2200" dirty="0"/>
              <a:t> </a:t>
            </a:r>
            <a:r>
              <a:rPr lang="en-US" sz="2200" dirty="0" err="1"/>
              <a:t>secvențe</a:t>
            </a:r>
            <a:r>
              <a:rPr lang="en-US" sz="2200" dirty="0"/>
              <a:t> lungi</a:t>
            </a:r>
          </a:p>
          <a:p>
            <a:pPr>
              <a:lnSpc>
                <a:spcPct val="110000"/>
              </a:lnSpc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68818991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00EFA8CB-3CF1-FAC8-67FD-E7AD17D56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Reprezentarea</a:t>
            </a:r>
            <a:r>
              <a:rPr lang="en-US" dirty="0"/>
              <a:t> </a:t>
            </a:r>
            <a:r>
              <a:rPr lang="en-US" dirty="0" err="1"/>
              <a:t>Textului</a:t>
            </a:r>
            <a:endParaRPr lang="en-US" dirty="0"/>
          </a:p>
        </p:txBody>
      </p:sp>
      <p:pic>
        <p:nvPicPr>
          <p:cNvPr id="6" name="Substituent conținut 5" descr="O imagine care conține text, Font, captură de ecran&#10;&#10;Conținutul generat de inteligența artificială poate fi incorect.">
            <a:extLst>
              <a:ext uri="{FF2B5EF4-FFF2-40B4-BE49-F238E27FC236}">
                <a16:creationId xmlns:a16="http://schemas.microsoft.com/office/drawing/2014/main" id="{03FDF7EF-9CBC-4E10-DB13-A6AFA346A50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6471144" y="618518"/>
            <a:ext cx="4277322" cy="1181265"/>
          </a:xfrm>
          <a:prstGeom prst="rect">
            <a:avLst/>
          </a:prstGeom>
        </p:spPr>
      </p:pic>
      <p:graphicFrame>
        <p:nvGraphicFramePr>
          <p:cNvPr id="8" name="Substituent conținut 3">
            <a:extLst>
              <a:ext uri="{FF2B5EF4-FFF2-40B4-BE49-F238E27FC236}">
                <a16:creationId xmlns:a16="http://schemas.microsoft.com/office/drawing/2014/main" id="{92FF4990-7AFD-6F46-8ABF-20B0BEF639A2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2249486"/>
          <a:ext cx="4875211" cy="35417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3" name="CasetăText 2">
            <a:extLst>
              <a:ext uri="{FF2B5EF4-FFF2-40B4-BE49-F238E27FC236}">
                <a16:creationId xmlns:a16="http://schemas.microsoft.com/office/drawing/2014/main" id="{479365BC-9C19-7094-3F56-33EB6313A40A}"/>
              </a:ext>
            </a:extLst>
          </p:cNvPr>
          <p:cNvSpPr txBox="1"/>
          <p:nvPr/>
        </p:nvSpPr>
        <p:spPr>
          <a:xfrm>
            <a:off x="396240" y="2249486"/>
            <a:ext cx="52425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	Embedding-urile pre-</a:t>
            </a:r>
            <a:r>
              <a:rPr lang="en-US" dirty="0" err="1"/>
              <a:t>antrenate</a:t>
            </a:r>
            <a:r>
              <a:rPr lang="en-US" dirty="0"/>
              <a:t> sunt </a:t>
            </a:r>
            <a:r>
              <a:rPr lang="en-US" dirty="0" err="1"/>
              <a:t>încărcate</a:t>
            </a:r>
            <a:r>
              <a:rPr lang="en-US" dirty="0"/>
              <a:t> </a:t>
            </a:r>
            <a:r>
              <a:rPr lang="en-US" dirty="0" err="1"/>
              <a:t>în</a:t>
            </a:r>
            <a:r>
              <a:rPr lang="en-US" dirty="0"/>
              <a:t> </a:t>
            </a:r>
            <a:r>
              <a:rPr lang="en-US" dirty="0" err="1"/>
              <a:t>modelul</a:t>
            </a:r>
            <a:r>
              <a:rPr lang="en-US" dirty="0"/>
              <a:t> LSTM </a:t>
            </a:r>
            <a:r>
              <a:rPr lang="en-US" dirty="0" err="1"/>
              <a:t>pentru</a:t>
            </a:r>
            <a:r>
              <a:rPr lang="en-US" dirty="0"/>
              <a:t> a </a:t>
            </a:r>
            <a:r>
              <a:rPr lang="en-US" dirty="0" err="1"/>
              <a:t>avea</a:t>
            </a:r>
            <a:r>
              <a:rPr lang="en-US" dirty="0"/>
              <a:t> o </a:t>
            </a:r>
            <a:r>
              <a:rPr lang="en-US" dirty="0" err="1"/>
              <a:t>reprezentare</a:t>
            </a:r>
            <a:r>
              <a:rPr lang="en-US" dirty="0"/>
              <a:t> </a:t>
            </a:r>
            <a:r>
              <a:rPr lang="en-US" dirty="0" err="1"/>
              <a:t>semantică</a:t>
            </a:r>
            <a:r>
              <a:rPr lang="en-US" dirty="0"/>
              <a:t> </a:t>
            </a:r>
            <a:r>
              <a:rPr lang="en-US" dirty="0" err="1"/>
              <a:t>bogată</a:t>
            </a:r>
            <a:r>
              <a:rPr lang="en-US" dirty="0"/>
              <a:t> </a:t>
            </a:r>
            <a:r>
              <a:rPr lang="en-US" dirty="0" err="1"/>
              <a:t>înainte</a:t>
            </a:r>
            <a:r>
              <a:rPr lang="en-US" dirty="0"/>
              <a:t> de </a:t>
            </a:r>
            <a:r>
              <a:rPr lang="en-US" dirty="0" err="1"/>
              <a:t>antrenare</a:t>
            </a:r>
            <a:endParaRPr lang="en-US" dirty="0"/>
          </a:p>
        </p:txBody>
      </p:sp>
      <p:pic>
        <p:nvPicPr>
          <p:cNvPr id="5" name="Imagine 4" descr="O imagine care conține text, captură de ecran, Font&#10;&#10;Conținutul generat de inteligența artificială poate fi incorect.">
            <a:extLst>
              <a:ext uri="{FF2B5EF4-FFF2-40B4-BE49-F238E27FC236}">
                <a16:creationId xmlns:a16="http://schemas.microsoft.com/office/drawing/2014/main" id="{4A2FB7C3-3F1F-4898-05CC-697D20EE0B2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2423" y="3429000"/>
            <a:ext cx="4867954" cy="1590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492395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8" grpId="0">
        <p:bldAsOne/>
      </p:bldGraphic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>
            <a:extLst>
              <a:ext uri="{FF2B5EF4-FFF2-40B4-BE49-F238E27FC236}">
                <a16:creationId xmlns:a16="http://schemas.microsoft.com/office/drawing/2014/main" id="{519FA62B-A2C9-49F5-8C45-9D5CDCD72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A24E966C-35F3-4DB1-8C23-4BC252E4E4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24ADCBC-2A94-4F6E-BC8D-278612B7AC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6" name="Rectangle 5">
                <a:extLst>
                  <a:ext uri="{FF2B5EF4-FFF2-40B4-BE49-F238E27FC236}">
                    <a16:creationId xmlns:a16="http://schemas.microsoft.com/office/drawing/2014/main" id="{38F45A3E-0BAF-4E7A-AD24-51B345041D5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6">
                <a:extLst>
                  <a:ext uri="{FF2B5EF4-FFF2-40B4-BE49-F238E27FC236}">
                    <a16:creationId xmlns:a16="http://schemas.microsoft.com/office/drawing/2014/main" id="{5340FE26-BABB-409C-A32A-B3D10BD2355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7">
                <a:extLst>
                  <a:ext uri="{FF2B5EF4-FFF2-40B4-BE49-F238E27FC236}">
                    <a16:creationId xmlns:a16="http://schemas.microsoft.com/office/drawing/2014/main" id="{A9468B59-1984-42C3-88A4-942CF6EF75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8">
                <a:extLst>
                  <a:ext uri="{FF2B5EF4-FFF2-40B4-BE49-F238E27FC236}">
                    <a16:creationId xmlns:a16="http://schemas.microsoft.com/office/drawing/2014/main" id="{F6B5E914-0078-49CC-AD42-C97DC361CD0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9">
                <a:extLst>
                  <a:ext uri="{FF2B5EF4-FFF2-40B4-BE49-F238E27FC236}">
                    <a16:creationId xmlns:a16="http://schemas.microsoft.com/office/drawing/2014/main" id="{D18B3F5A-0978-48AE-9360-8ABC8CEABB1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0">
                <a:extLst>
                  <a:ext uri="{FF2B5EF4-FFF2-40B4-BE49-F238E27FC236}">
                    <a16:creationId xmlns:a16="http://schemas.microsoft.com/office/drawing/2014/main" id="{27E73F9B-CBFF-473A-9B41-8964B831E9F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Freeform 11">
                <a:extLst>
                  <a:ext uri="{FF2B5EF4-FFF2-40B4-BE49-F238E27FC236}">
                    <a16:creationId xmlns:a16="http://schemas.microsoft.com/office/drawing/2014/main" id="{558218B5-0904-4C19-8935-1A64432BC2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2">
                <a:extLst>
                  <a:ext uri="{FF2B5EF4-FFF2-40B4-BE49-F238E27FC236}">
                    <a16:creationId xmlns:a16="http://schemas.microsoft.com/office/drawing/2014/main" id="{DBCBCB59-A700-4032-AB43-CB06687996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3">
                <a:extLst>
                  <a:ext uri="{FF2B5EF4-FFF2-40B4-BE49-F238E27FC236}">
                    <a16:creationId xmlns:a16="http://schemas.microsoft.com/office/drawing/2014/main" id="{861A9C11-1685-4F09-B995-D5ECAD153FE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4">
                <a:extLst>
                  <a:ext uri="{FF2B5EF4-FFF2-40B4-BE49-F238E27FC236}">
                    <a16:creationId xmlns:a16="http://schemas.microsoft.com/office/drawing/2014/main" id="{57CCC420-3BF0-4A3E-A4FB-41537B0642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15">
                <a:extLst>
                  <a:ext uri="{FF2B5EF4-FFF2-40B4-BE49-F238E27FC236}">
                    <a16:creationId xmlns:a16="http://schemas.microsoft.com/office/drawing/2014/main" id="{1DEFC6D1-15DA-4DDC-8FD1-B7630B8D607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Line 16">
                <a:extLst>
                  <a:ext uri="{FF2B5EF4-FFF2-40B4-BE49-F238E27FC236}">
                    <a16:creationId xmlns:a16="http://schemas.microsoft.com/office/drawing/2014/main" id="{0C6F2EE9-81FE-4B46-9513-6EC7D930124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17">
                <a:extLst>
                  <a:ext uri="{FF2B5EF4-FFF2-40B4-BE49-F238E27FC236}">
                    <a16:creationId xmlns:a16="http://schemas.microsoft.com/office/drawing/2014/main" id="{26DF77E9-F68C-4FE0-864E-A4A4DE3616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18">
                <a:extLst>
                  <a:ext uri="{FF2B5EF4-FFF2-40B4-BE49-F238E27FC236}">
                    <a16:creationId xmlns:a16="http://schemas.microsoft.com/office/drawing/2014/main" id="{9D3495ED-B588-4755-B8BB-18D33E4AC41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19">
                <a:extLst>
                  <a:ext uri="{FF2B5EF4-FFF2-40B4-BE49-F238E27FC236}">
                    <a16:creationId xmlns:a16="http://schemas.microsoft.com/office/drawing/2014/main" id="{E76105FE-305A-42A7-B2DD-388B99FAB8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0">
                <a:extLst>
                  <a:ext uri="{FF2B5EF4-FFF2-40B4-BE49-F238E27FC236}">
                    <a16:creationId xmlns:a16="http://schemas.microsoft.com/office/drawing/2014/main" id="{F1883F6E-6FAE-49E2-AE28-02B88BEBF6D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Rectangle 21">
                <a:extLst>
                  <a:ext uri="{FF2B5EF4-FFF2-40B4-BE49-F238E27FC236}">
                    <a16:creationId xmlns:a16="http://schemas.microsoft.com/office/drawing/2014/main" id="{8C8A198F-A0AA-455F-ACD5-8587457BDD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2">
                <a:extLst>
                  <a:ext uri="{FF2B5EF4-FFF2-40B4-BE49-F238E27FC236}">
                    <a16:creationId xmlns:a16="http://schemas.microsoft.com/office/drawing/2014/main" id="{E57E155C-0F05-498E-B0E3-33AE15B7E85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3">
                <a:extLst>
                  <a:ext uri="{FF2B5EF4-FFF2-40B4-BE49-F238E27FC236}">
                    <a16:creationId xmlns:a16="http://schemas.microsoft.com/office/drawing/2014/main" id="{3D7FB1D7-F9DB-443D-A2D4-40C46F6975A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4">
                <a:extLst>
                  <a:ext uri="{FF2B5EF4-FFF2-40B4-BE49-F238E27FC236}">
                    <a16:creationId xmlns:a16="http://schemas.microsoft.com/office/drawing/2014/main" id="{9EF7FB08-B52A-4C0D-BF32-AC6D91AE99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25">
                <a:extLst>
                  <a:ext uri="{FF2B5EF4-FFF2-40B4-BE49-F238E27FC236}">
                    <a16:creationId xmlns:a16="http://schemas.microsoft.com/office/drawing/2014/main" id="{2A27D708-7911-4EAB-8A9D-E608726B57C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26">
                <a:extLst>
                  <a:ext uri="{FF2B5EF4-FFF2-40B4-BE49-F238E27FC236}">
                    <a16:creationId xmlns:a16="http://schemas.microsoft.com/office/drawing/2014/main" id="{40A3E3AC-335B-4EAB-A5D4-E72C8434AB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Freeform 27">
                <a:extLst>
                  <a:ext uri="{FF2B5EF4-FFF2-40B4-BE49-F238E27FC236}">
                    <a16:creationId xmlns:a16="http://schemas.microsoft.com/office/drawing/2014/main" id="{FC4E923E-7CEC-4950-8C12-F40EAE7A367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" name="Freeform 28">
                <a:extLst>
                  <a:ext uri="{FF2B5EF4-FFF2-40B4-BE49-F238E27FC236}">
                    <a16:creationId xmlns:a16="http://schemas.microsoft.com/office/drawing/2014/main" id="{23A92FB5-3211-4195-8FFA-A8F49F6777E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" name="Freeform 29">
                <a:extLst>
                  <a:ext uri="{FF2B5EF4-FFF2-40B4-BE49-F238E27FC236}">
                    <a16:creationId xmlns:a16="http://schemas.microsoft.com/office/drawing/2014/main" id="{BB88442A-84E1-4264-BD24-B14020F21E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" name="Freeform 30">
                <a:extLst>
                  <a:ext uri="{FF2B5EF4-FFF2-40B4-BE49-F238E27FC236}">
                    <a16:creationId xmlns:a16="http://schemas.microsoft.com/office/drawing/2014/main" id="{B47AD665-0844-40BF-AE62-BA493929C50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" name="Freeform 31">
                <a:extLst>
                  <a:ext uri="{FF2B5EF4-FFF2-40B4-BE49-F238E27FC236}">
                    <a16:creationId xmlns:a16="http://schemas.microsoft.com/office/drawing/2014/main" id="{01D8E540-292C-4867-BD21-43910262E9F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A00C8F50-D632-4BE8-B5BF-8AEAE2D132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6" name="Freeform 32">
                <a:extLst>
                  <a:ext uri="{FF2B5EF4-FFF2-40B4-BE49-F238E27FC236}">
                    <a16:creationId xmlns:a16="http://schemas.microsoft.com/office/drawing/2014/main" id="{7870CC07-8D37-4F4D-A73B-9762FFAB178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3">
                <a:extLst>
                  <a:ext uri="{FF2B5EF4-FFF2-40B4-BE49-F238E27FC236}">
                    <a16:creationId xmlns:a16="http://schemas.microsoft.com/office/drawing/2014/main" id="{06B84BAB-C27B-4804-9496-FDDA7FF6F24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4">
                <a:extLst>
                  <a:ext uri="{FF2B5EF4-FFF2-40B4-BE49-F238E27FC236}">
                    <a16:creationId xmlns:a16="http://schemas.microsoft.com/office/drawing/2014/main" id="{45E90447-AF32-4C90-8940-D5EBE9F6406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35">
                <a:extLst>
                  <a:ext uri="{FF2B5EF4-FFF2-40B4-BE49-F238E27FC236}">
                    <a16:creationId xmlns:a16="http://schemas.microsoft.com/office/drawing/2014/main" id="{DFD35AB5-2871-471E-87D3-C3C024C31E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36">
                <a:extLst>
                  <a:ext uri="{FF2B5EF4-FFF2-40B4-BE49-F238E27FC236}">
                    <a16:creationId xmlns:a16="http://schemas.microsoft.com/office/drawing/2014/main" id="{60EED77B-C4CD-44DE-B7AA-472CBEE6EC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37">
                <a:extLst>
                  <a:ext uri="{FF2B5EF4-FFF2-40B4-BE49-F238E27FC236}">
                    <a16:creationId xmlns:a16="http://schemas.microsoft.com/office/drawing/2014/main" id="{68122908-2E24-4971-A70E-29CFE953E57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38">
                <a:extLst>
                  <a:ext uri="{FF2B5EF4-FFF2-40B4-BE49-F238E27FC236}">
                    <a16:creationId xmlns:a16="http://schemas.microsoft.com/office/drawing/2014/main" id="{43930918-848F-4F70-8C42-426DCCB4D4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39">
                <a:extLst>
                  <a:ext uri="{FF2B5EF4-FFF2-40B4-BE49-F238E27FC236}">
                    <a16:creationId xmlns:a16="http://schemas.microsoft.com/office/drawing/2014/main" id="{7C2C1A0B-06A1-4F89-9A58-66CAB57F1FD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40">
                <a:extLst>
                  <a:ext uri="{FF2B5EF4-FFF2-40B4-BE49-F238E27FC236}">
                    <a16:creationId xmlns:a16="http://schemas.microsoft.com/office/drawing/2014/main" id="{F26FAEF0-6EA1-41B4-AC1D-0BC56E43EFE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Rectangle 41">
                <a:extLst>
                  <a:ext uri="{FF2B5EF4-FFF2-40B4-BE49-F238E27FC236}">
                    <a16:creationId xmlns:a16="http://schemas.microsoft.com/office/drawing/2014/main" id="{563F085C-A9C1-47AB-9656-468B79DE5A2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u 1">
            <a:extLst>
              <a:ext uri="{FF2B5EF4-FFF2-40B4-BE49-F238E27FC236}">
                <a16:creationId xmlns:a16="http://schemas.microsoft.com/office/drawing/2014/main" id="{45DD43AF-4FAA-1088-646B-CC4AADD63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dirty="0"/>
              <a:t>Rețele </a:t>
            </a:r>
            <a:r>
              <a:rPr lang="en-US" dirty="0" err="1"/>
              <a:t>Neurale</a:t>
            </a:r>
            <a:r>
              <a:rPr lang="en-US" dirty="0"/>
              <a:t> </a:t>
            </a:r>
            <a:r>
              <a:rPr lang="en-US" dirty="0" err="1"/>
              <a:t>Recurente</a:t>
            </a:r>
            <a:r>
              <a:rPr lang="en-US" dirty="0"/>
              <a:t> (RNN)</a:t>
            </a:r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ED8B4867-C8F5-2011-FBE2-86BA02D300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1412" y="2249487"/>
            <a:ext cx="4844521" cy="35417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200" b="1" dirty="0"/>
              <a:t>Concept de </a:t>
            </a:r>
            <a:r>
              <a:rPr lang="en-US" sz="2200" b="1" dirty="0" err="1"/>
              <a:t>bază</a:t>
            </a:r>
            <a:endParaRPr lang="en-US" sz="2200" dirty="0"/>
          </a:p>
          <a:p>
            <a:pPr>
              <a:lnSpc>
                <a:spcPct val="110000"/>
              </a:lnSpc>
            </a:pPr>
            <a:r>
              <a:rPr lang="en-US" sz="2200" dirty="0" err="1"/>
              <a:t>Procesează</a:t>
            </a:r>
            <a:r>
              <a:rPr lang="en-US" sz="2200" dirty="0"/>
              <a:t> date </a:t>
            </a:r>
            <a:r>
              <a:rPr lang="en-US" sz="2200" dirty="0" err="1"/>
              <a:t>secvențiale</a:t>
            </a:r>
            <a:endParaRPr lang="en-US" sz="2200" dirty="0"/>
          </a:p>
          <a:p>
            <a:pPr>
              <a:lnSpc>
                <a:spcPct val="110000"/>
              </a:lnSpc>
            </a:pPr>
            <a:r>
              <a:rPr lang="en-US" sz="2200" dirty="0"/>
              <a:t>Hidden state </a:t>
            </a:r>
            <a:r>
              <a:rPr lang="en-US" sz="2200" dirty="0" err="1"/>
              <a:t>transmis</a:t>
            </a:r>
            <a:r>
              <a:rPr lang="en-US" sz="2200" dirty="0"/>
              <a:t> </a:t>
            </a:r>
            <a:r>
              <a:rPr lang="en-US" sz="2200" dirty="0" err="1"/>
              <a:t>între</a:t>
            </a:r>
            <a:r>
              <a:rPr lang="en-US" sz="2200" dirty="0"/>
              <a:t> </a:t>
            </a:r>
            <a:r>
              <a:rPr lang="en-US" sz="2200" dirty="0" err="1"/>
              <a:t>pași</a:t>
            </a:r>
            <a:r>
              <a:rPr lang="en-US" sz="2200" dirty="0"/>
              <a:t> </a:t>
            </a:r>
            <a:r>
              <a:rPr lang="en-US" sz="2200" dirty="0" err="1"/>
              <a:t>temporali</a:t>
            </a:r>
            <a:endParaRPr lang="en-US" sz="2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200" b="1" dirty="0" err="1"/>
              <a:t>Limitări</a:t>
            </a:r>
            <a:endParaRPr lang="en-US" sz="2200" dirty="0"/>
          </a:p>
          <a:p>
            <a:pPr>
              <a:lnSpc>
                <a:spcPct val="110000"/>
              </a:lnSpc>
            </a:pPr>
            <a:r>
              <a:rPr lang="en-US" sz="2200" dirty="0"/>
              <a:t>Vanishing gradient</a:t>
            </a:r>
          </a:p>
          <a:p>
            <a:pPr>
              <a:lnSpc>
                <a:spcPct val="110000"/>
              </a:lnSpc>
            </a:pPr>
            <a:r>
              <a:rPr lang="en-US" sz="2200" dirty="0"/>
              <a:t>Memorie pe termen </a:t>
            </a:r>
            <a:r>
              <a:rPr lang="en-US" sz="2200" dirty="0" err="1"/>
              <a:t>scurt</a:t>
            </a:r>
            <a:endParaRPr lang="en-US" sz="2200" dirty="0"/>
          </a:p>
          <a:p>
            <a:pPr>
              <a:lnSpc>
                <a:spcPct val="110000"/>
              </a:lnSpc>
            </a:pPr>
            <a:endParaRPr lang="en-US" sz="2200" dirty="0"/>
          </a:p>
        </p:txBody>
      </p:sp>
      <p:pic>
        <p:nvPicPr>
          <p:cNvPr id="6" name="Substituent conținut 5" descr="O imagine care conține text, captură de ecran, Font&#10;&#10;Conținutul generat de inteligența artificială poate fi incorect.">
            <a:extLst>
              <a:ext uri="{FF2B5EF4-FFF2-40B4-BE49-F238E27FC236}">
                <a16:creationId xmlns:a16="http://schemas.microsoft.com/office/drawing/2014/main" id="{62E99543-3191-D077-0990-B1E37CC56F7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rcRect r="15254" b="3"/>
          <a:stretch>
            <a:fillRect/>
          </a:stretch>
        </p:blipFill>
        <p:spPr>
          <a:xfrm>
            <a:off x="6392335" y="2497720"/>
            <a:ext cx="4655075" cy="3047892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7926058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>
            <a:extLst>
              <a:ext uri="{FF2B5EF4-FFF2-40B4-BE49-F238E27FC236}">
                <a16:creationId xmlns:a16="http://schemas.microsoft.com/office/drawing/2014/main" id="{5B367C29-5200-4FF1-83B7-18B105A0B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EC711491-7BB6-4BE6-A470-44BF61D562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E4F104B-68BE-4E53-A6A5-5C5F93FF72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6" name="Rectangle 5">
                <a:extLst>
                  <a:ext uri="{FF2B5EF4-FFF2-40B4-BE49-F238E27FC236}">
                    <a16:creationId xmlns:a16="http://schemas.microsoft.com/office/drawing/2014/main" id="{EF4A7076-D6BC-4AE1-AE2C-C09B16AAB4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6">
                <a:extLst>
                  <a:ext uri="{FF2B5EF4-FFF2-40B4-BE49-F238E27FC236}">
                    <a16:creationId xmlns:a16="http://schemas.microsoft.com/office/drawing/2014/main" id="{58FA119B-7250-4EC7-912F-F5613CC281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7">
                <a:extLst>
                  <a:ext uri="{FF2B5EF4-FFF2-40B4-BE49-F238E27FC236}">
                    <a16:creationId xmlns:a16="http://schemas.microsoft.com/office/drawing/2014/main" id="{7B9A9AED-D47E-44AD-AD6E-2EECC94D88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8">
                <a:extLst>
                  <a:ext uri="{FF2B5EF4-FFF2-40B4-BE49-F238E27FC236}">
                    <a16:creationId xmlns:a16="http://schemas.microsoft.com/office/drawing/2014/main" id="{00A30ECA-328D-4512-825B-0AD59604678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9">
                <a:extLst>
                  <a:ext uri="{FF2B5EF4-FFF2-40B4-BE49-F238E27FC236}">
                    <a16:creationId xmlns:a16="http://schemas.microsoft.com/office/drawing/2014/main" id="{14A218CE-B3D8-4A43-86CC-48980645AC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0">
                <a:extLst>
                  <a:ext uri="{FF2B5EF4-FFF2-40B4-BE49-F238E27FC236}">
                    <a16:creationId xmlns:a16="http://schemas.microsoft.com/office/drawing/2014/main" id="{E9743B7D-51BF-425C-A4B8-33B2E001EF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Freeform 11">
                <a:extLst>
                  <a:ext uri="{FF2B5EF4-FFF2-40B4-BE49-F238E27FC236}">
                    <a16:creationId xmlns:a16="http://schemas.microsoft.com/office/drawing/2014/main" id="{9BA633B3-C879-4E15-B66C-788B4C60A1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2">
                <a:extLst>
                  <a:ext uri="{FF2B5EF4-FFF2-40B4-BE49-F238E27FC236}">
                    <a16:creationId xmlns:a16="http://schemas.microsoft.com/office/drawing/2014/main" id="{324C8953-B4E2-4DA0-B5D5-BD2A735E67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3">
                <a:extLst>
                  <a:ext uri="{FF2B5EF4-FFF2-40B4-BE49-F238E27FC236}">
                    <a16:creationId xmlns:a16="http://schemas.microsoft.com/office/drawing/2014/main" id="{717A3B65-FE80-419B-AB5D-48B5E3A7B4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4">
                <a:extLst>
                  <a:ext uri="{FF2B5EF4-FFF2-40B4-BE49-F238E27FC236}">
                    <a16:creationId xmlns:a16="http://schemas.microsoft.com/office/drawing/2014/main" id="{675ECD78-7D6B-4A3F-8163-392D7F8D69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15">
                <a:extLst>
                  <a:ext uri="{FF2B5EF4-FFF2-40B4-BE49-F238E27FC236}">
                    <a16:creationId xmlns:a16="http://schemas.microsoft.com/office/drawing/2014/main" id="{8D036282-E32F-461D-BFB6-2A58D6D27AC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Line 16">
                <a:extLst>
                  <a:ext uri="{FF2B5EF4-FFF2-40B4-BE49-F238E27FC236}">
                    <a16:creationId xmlns:a16="http://schemas.microsoft.com/office/drawing/2014/main" id="{F95EB10E-5264-467D-8382-A77C4DED25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17">
                <a:extLst>
                  <a:ext uri="{FF2B5EF4-FFF2-40B4-BE49-F238E27FC236}">
                    <a16:creationId xmlns:a16="http://schemas.microsoft.com/office/drawing/2014/main" id="{218F9268-D2F0-487B-A021-8786B65518D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18">
                <a:extLst>
                  <a:ext uri="{FF2B5EF4-FFF2-40B4-BE49-F238E27FC236}">
                    <a16:creationId xmlns:a16="http://schemas.microsoft.com/office/drawing/2014/main" id="{B4AEE5AC-EF5C-42E4-B185-A176E19976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19">
                <a:extLst>
                  <a:ext uri="{FF2B5EF4-FFF2-40B4-BE49-F238E27FC236}">
                    <a16:creationId xmlns:a16="http://schemas.microsoft.com/office/drawing/2014/main" id="{E961E89F-C1DB-48E5-8B52-FDDAED9E0E4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0">
                <a:extLst>
                  <a:ext uri="{FF2B5EF4-FFF2-40B4-BE49-F238E27FC236}">
                    <a16:creationId xmlns:a16="http://schemas.microsoft.com/office/drawing/2014/main" id="{412962B4-425A-4C36-A65A-0F66ED7CD3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Rectangle 21">
                <a:extLst>
                  <a:ext uri="{FF2B5EF4-FFF2-40B4-BE49-F238E27FC236}">
                    <a16:creationId xmlns:a16="http://schemas.microsoft.com/office/drawing/2014/main" id="{037BE3F7-563A-4D9A-BC98-C71F727D23A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2">
                <a:extLst>
                  <a:ext uri="{FF2B5EF4-FFF2-40B4-BE49-F238E27FC236}">
                    <a16:creationId xmlns:a16="http://schemas.microsoft.com/office/drawing/2014/main" id="{2FDB1005-EB5E-475A-AC43-4ED3E563DE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3">
                <a:extLst>
                  <a:ext uri="{FF2B5EF4-FFF2-40B4-BE49-F238E27FC236}">
                    <a16:creationId xmlns:a16="http://schemas.microsoft.com/office/drawing/2014/main" id="{68BFFBC6-C704-42A7-9D7E-AFB5C37FBDA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4">
                <a:extLst>
                  <a:ext uri="{FF2B5EF4-FFF2-40B4-BE49-F238E27FC236}">
                    <a16:creationId xmlns:a16="http://schemas.microsoft.com/office/drawing/2014/main" id="{4888EAD7-EBE9-4549-9A91-6FEC611536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25">
                <a:extLst>
                  <a:ext uri="{FF2B5EF4-FFF2-40B4-BE49-F238E27FC236}">
                    <a16:creationId xmlns:a16="http://schemas.microsoft.com/office/drawing/2014/main" id="{B79BC975-BE42-4B57-8335-1699BC0AB1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26">
                <a:extLst>
                  <a:ext uri="{FF2B5EF4-FFF2-40B4-BE49-F238E27FC236}">
                    <a16:creationId xmlns:a16="http://schemas.microsoft.com/office/drawing/2014/main" id="{3998B4F0-CA80-490A-A256-1600E7EA886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Freeform 27">
                <a:extLst>
                  <a:ext uri="{FF2B5EF4-FFF2-40B4-BE49-F238E27FC236}">
                    <a16:creationId xmlns:a16="http://schemas.microsoft.com/office/drawing/2014/main" id="{2052C104-8168-487E-9044-454DA83AB2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" name="Freeform 28">
                <a:extLst>
                  <a:ext uri="{FF2B5EF4-FFF2-40B4-BE49-F238E27FC236}">
                    <a16:creationId xmlns:a16="http://schemas.microsoft.com/office/drawing/2014/main" id="{63ACA30B-5F59-400C-A7CE-D17B5647EE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" name="Freeform 29">
                <a:extLst>
                  <a:ext uri="{FF2B5EF4-FFF2-40B4-BE49-F238E27FC236}">
                    <a16:creationId xmlns:a16="http://schemas.microsoft.com/office/drawing/2014/main" id="{2E16F318-A142-4353-9949-B4E3A09FE0B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" name="Freeform 30">
                <a:extLst>
                  <a:ext uri="{FF2B5EF4-FFF2-40B4-BE49-F238E27FC236}">
                    <a16:creationId xmlns:a16="http://schemas.microsoft.com/office/drawing/2014/main" id="{8AE8DBB4-2468-4A78-A54D-FD77C5DC88A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" name="Freeform 31">
                <a:extLst>
                  <a:ext uri="{FF2B5EF4-FFF2-40B4-BE49-F238E27FC236}">
                    <a16:creationId xmlns:a16="http://schemas.microsoft.com/office/drawing/2014/main" id="{B0E7CEF2-11E4-465C-8F1F-AA8367F96A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8B30AFD-E104-45DD-BFBB-5A41F1413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6" name="Freeform 32">
                <a:extLst>
                  <a:ext uri="{FF2B5EF4-FFF2-40B4-BE49-F238E27FC236}">
                    <a16:creationId xmlns:a16="http://schemas.microsoft.com/office/drawing/2014/main" id="{CE45A3DF-350B-4A5E-AEBE-F0F280AD037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3">
                <a:extLst>
                  <a:ext uri="{FF2B5EF4-FFF2-40B4-BE49-F238E27FC236}">
                    <a16:creationId xmlns:a16="http://schemas.microsoft.com/office/drawing/2014/main" id="{966D2640-A438-4FB6-B781-5A52DEC85C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4">
                <a:extLst>
                  <a:ext uri="{FF2B5EF4-FFF2-40B4-BE49-F238E27FC236}">
                    <a16:creationId xmlns:a16="http://schemas.microsoft.com/office/drawing/2014/main" id="{34E1EFFF-720C-4CC0-9F95-DD1DAF99AD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35">
                <a:extLst>
                  <a:ext uri="{FF2B5EF4-FFF2-40B4-BE49-F238E27FC236}">
                    <a16:creationId xmlns:a16="http://schemas.microsoft.com/office/drawing/2014/main" id="{EA7AB0E1-6C49-409D-86F5-BE00BDDFC0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36">
                <a:extLst>
                  <a:ext uri="{FF2B5EF4-FFF2-40B4-BE49-F238E27FC236}">
                    <a16:creationId xmlns:a16="http://schemas.microsoft.com/office/drawing/2014/main" id="{5D17598C-0C57-4F4E-8F6B-A2AD8071F8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37">
                <a:extLst>
                  <a:ext uri="{FF2B5EF4-FFF2-40B4-BE49-F238E27FC236}">
                    <a16:creationId xmlns:a16="http://schemas.microsoft.com/office/drawing/2014/main" id="{EBEBC0DC-F56F-48FE-824E-E9378C48976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38">
                <a:extLst>
                  <a:ext uri="{FF2B5EF4-FFF2-40B4-BE49-F238E27FC236}">
                    <a16:creationId xmlns:a16="http://schemas.microsoft.com/office/drawing/2014/main" id="{CC7FDCF1-1736-48A0-BDB2-87D6E09067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39">
                <a:extLst>
                  <a:ext uri="{FF2B5EF4-FFF2-40B4-BE49-F238E27FC236}">
                    <a16:creationId xmlns:a16="http://schemas.microsoft.com/office/drawing/2014/main" id="{2A650CF5-564F-44D1-AB08-6C500DD3CED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40">
                <a:extLst>
                  <a:ext uri="{FF2B5EF4-FFF2-40B4-BE49-F238E27FC236}">
                    <a16:creationId xmlns:a16="http://schemas.microsoft.com/office/drawing/2014/main" id="{3108FEFA-0402-4C1C-AE39-5ADC09402F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Rectangle 41">
                <a:extLst>
                  <a:ext uri="{FF2B5EF4-FFF2-40B4-BE49-F238E27FC236}">
                    <a16:creationId xmlns:a16="http://schemas.microsoft.com/office/drawing/2014/main" id="{340AE827-F344-464F-851C-E03AFC98DC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u 1">
            <a:extLst>
              <a:ext uri="{FF2B5EF4-FFF2-40B4-BE49-F238E27FC236}">
                <a16:creationId xmlns:a16="http://schemas.microsoft.com/office/drawing/2014/main" id="{7B881B6A-68D9-4513-9C61-2BE07515A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7"/>
            <a:ext cx="2877336" cy="550732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100" b="1" dirty="0"/>
              <a:t>Long Short-Term Memory(</a:t>
            </a:r>
            <a:r>
              <a:rPr lang="en-US" sz="3100" b="1" dirty="0" err="1"/>
              <a:t>lstm</a:t>
            </a:r>
            <a:r>
              <a:rPr lang="en-US" sz="3100" b="1" dirty="0"/>
              <a:t>)</a:t>
            </a:r>
            <a:endParaRPr lang="en-US" sz="3100" dirty="0"/>
          </a:p>
        </p:txBody>
      </p:sp>
      <p:sp>
        <p:nvSpPr>
          <p:cNvPr id="4" name="Substituent conținut 3">
            <a:extLst>
              <a:ext uri="{FF2B5EF4-FFF2-40B4-BE49-F238E27FC236}">
                <a16:creationId xmlns:a16="http://schemas.microsoft.com/office/drawing/2014/main" id="{620010ED-4D4D-0B79-9628-BBC24D8CD3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40743" y="638650"/>
            <a:ext cx="7034485" cy="3782778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b="1" dirty="0"/>
              <a:t>Long Short-Term Memory</a:t>
            </a:r>
            <a:endParaRPr lang="en-US" dirty="0"/>
          </a:p>
          <a:p>
            <a:r>
              <a:rPr lang="en-US" dirty="0"/>
              <a:t>Introduce </a:t>
            </a:r>
            <a:r>
              <a:rPr lang="en-US" dirty="0" err="1"/>
              <a:t>mecanisme</a:t>
            </a:r>
            <a:r>
              <a:rPr lang="en-US" dirty="0"/>
              <a:t> de control al </a:t>
            </a:r>
            <a:r>
              <a:rPr lang="en-US" dirty="0" err="1"/>
              <a:t>memoriei</a:t>
            </a:r>
            <a:endParaRPr lang="en-US" dirty="0"/>
          </a:p>
          <a:p>
            <a:r>
              <a:rPr lang="en-US" dirty="0" err="1"/>
              <a:t>Porți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Input</a:t>
            </a:r>
          </a:p>
          <a:p>
            <a:pPr lvl="1"/>
            <a:r>
              <a:rPr lang="en-US" dirty="0"/>
              <a:t>Forget</a:t>
            </a:r>
          </a:p>
          <a:p>
            <a:pPr lvl="1"/>
            <a:r>
              <a:rPr lang="en-US" dirty="0"/>
              <a:t>Output</a:t>
            </a:r>
          </a:p>
          <a:p>
            <a:r>
              <a:rPr lang="en-US" dirty="0" err="1"/>
              <a:t>Capabil</a:t>
            </a:r>
            <a:r>
              <a:rPr lang="en-US" dirty="0"/>
              <a:t> </a:t>
            </a:r>
            <a:r>
              <a:rPr lang="en-US" dirty="0" err="1"/>
              <a:t>să</a:t>
            </a:r>
            <a:r>
              <a:rPr lang="en-US" dirty="0"/>
              <a:t> </a:t>
            </a:r>
            <a:r>
              <a:rPr lang="en-US" dirty="0" err="1"/>
              <a:t>rețină</a:t>
            </a:r>
            <a:r>
              <a:rPr lang="en-US" dirty="0"/>
              <a:t> context pe termen lung</a:t>
            </a:r>
          </a:p>
          <a:p>
            <a:endParaRPr lang="en-US" dirty="0"/>
          </a:p>
        </p:txBody>
      </p:sp>
      <p:pic>
        <p:nvPicPr>
          <p:cNvPr id="6" name="Substituent conținut 5" descr="O imagine care conține text, captură de ecran, Font&#10;&#10;Conținutul generat de inteligența artificială poate fi incorect.">
            <a:extLst>
              <a:ext uri="{FF2B5EF4-FFF2-40B4-BE49-F238E27FC236}">
                <a16:creationId xmlns:a16="http://schemas.microsoft.com/office/drawing/2014/main" id="{DBC7A0C7-2797-3334-C9A9-5AE46AF05D4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/>
          <a:stretch>
            <a:fillRect/>
          </a:stretch>
        </p:blipFill>
        <p:spPr>
          <a:xfrm>
            <a:off x="5365253" y="4604942"/>
            <a:ext cx="5632972" cy="1520903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648073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2">
            <a:extLst>
              <a:ext uri="{FF2B5EF4-FFF2-40B4-BE49-F238E27FC236}">
                <a16:creationId xmlns:a16="http://schemas.microsoft.com/office/drawing/2014/main" id="{5B367C29-5200-4FF1-83B7-18B105A0B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1" name="Group 60">
            <a:extLst>
              <a:ext uri="{FF2B5EF4-FFF2-40B4-BE49-F238E27FC236}">
                <a16:creationId xmlns:a16="http://schemas.microsoft.com/office/drawing/2014/main" id="{EC711491-7BB6-4BE6-A470-44BF61D562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FE4F104B-68BE-4E53-A6A5-5C5F93FF72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74" name="Rectangle 5">
                <a:extLst>
                  <a:ext uri="{FF2B5EF4-FFF2-40B4-BE49-F238E27FC236}">
                    <a16:creationId xmlns:a16="http://schemas.microsoft.com/office/drawing/2014/main" id="{EF4A7076-D6BC-4AE1-AE2C-C09B16AAB4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" name="Freeform 6">
                <a:extLst>
                  <a:ext uri="{FF2B5EF4-FFF2-40B4-BE49-F238E27FC236}">
                    <a16:creationId xmlns:a16="http://schemas.microsoft.com/office/drawing/2014/main" id="{58FA119B-7250-4EC7-912F-F5613CC281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6" name="Freeform 7">
                <a:extLst>
                  <a:ext uri="{FF2B5EF4-FFF2-40B4-BE49-F238E27FC236}">
                    <a16:creationId xmlns:a16="http://schemas.microsoft.com/office/drawing/2014/main" id="{7B9A9AED-D47E-44AD-AD6E-2EECC94D88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7" name="Freeform 8">
                <a:extLst>
                  <a:ext uri="{FF2B5EF4-FFF2-40B4-BE49-F238E27FC236}">
                    <a16:creationId xmlns:a16="http://schemas.microsoft.com/office/drawing/2014/main" id="{00A30ECA-328D-4512-825B-0AD59604678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Freeform 9">
                <a:extLst>
                  <a:ext uri="{FF2B5EF4-FFF2-40B4-BE49-F238E27FC236}">
                    <a16:creationId xmlns:a16="http://schemas.microsoft.com/office/drawing/2014/main" id="{14A218CE-B3D8-4A43-86CC-48980645AC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9" name="Freeform 10">
                <a:extLst>
                  <a:ext uri="{FF2B5EF4-FFF2-40B4-BE49-F238E27FC236}">
                    <a16:creationId xmlns:a16="http://schemas.microsoft.com/office/drawing/2014/main" id="{E9743B7D-51BF-425C-A4B8-33B2E001EF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0" name="Freeform 11">
                <a:extLst>
                  <a:ext uri="{FF2B5EF4-FFF2-40B4-BE49-F238E27FC236}">
                    <a16:creationId xmlns:a16="http://schemas.microsoft.com/office/drawing/2014/main" id="{9BA633B3-C879-4E15-B66C-788B4C60A1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1" name="Freeform 12">
                <a:extLst>
                  <a:ext uri="{FF2B5EF4-FFF2-40B4-BE49-F238E27FC236}">
                    <a16:creationId xmlns:a16="http://schemas.microsoft.com/office/drawing/2014/main" id="{324C8953-B4E2-4DA0-B5D5-BD2A735E67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Freeform 13">
                <a:extLst>
                  <a:ext uri="{FF2B5EF4-FFF2-40B4-BE49-F238E27FC236}">
                    <a16:creationId xmlns:a16="http://schemas.microsoft.com/office/drawing/2014/main" id="{717A3B65-FE80-419B-AB5D-48B5E3A7B4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3" name="Freeform 14">
                <a:extLst>
                  <a:ext uri="{FF2B5EF4-FFF2-40B4-BE49-F238E27FC236}">
                    <a16:creationId xmlns:a16="http://schemas.microsoft.com/office/drawing/2014/main" id="{675ECD78-7D6B-4A3F-8163-392D7F8D69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4" name="Freeform 15">
                <a:extLst>
                  <a:ext uri="{FF2B5EF4-FFF2-40B4-BE49-F238E27FC236}">
                    <a16:creationId xmlns:a16="http://schemas.microsoft.com/office/drawing/2014/main" id="{8D036282-E32F-461D-BFB6-2A58D6D27AC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" name="Line 16">
                <a:extLst>
                  <a:ext uri="{FF2B5EF4-FFF2-40B4-BE49-F238E27FC236}">
                    <a16:creationId xmlns:a16="http://schemas.microsoft.com/office/drawing/2014/main" id="{F95EB10E-5264-467D-8382-A77C4DED25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6" name="Freeform 17">
                <a:extLst>
                  <a:ext uri="{FF2B5EF4-FFF2-40B4-BE49-F238E27FC236}">
                    <a16:creationId xmlns:a16="http://schemas.microsoft.com/office/drawing/2014/main" id="{218F9268-D2F0-487B-A021-8786B65518D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7" name="Freeform 18">
                <a:extLst>
                  <a:ext uri="{FF2B5EF4-FFF2-40B4-BE49-F238E27FC236}">
                    <a16:creationId xmlns:a16="http://schemas.microsoft.com/office/drawing/2014/main" id="{B4AEE5AC-EF5C-42E4-B185-A176E19976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8" name="Freeform 19">
                <a:extLst>
                  <a:ext uri="{FF2B5EF4-FFF2-40B4-BE49-F238E27FC236}">
                    <a16:creationId xmlns:a16="http://schemas.microsoft.com/office/drawing/2014/main" id="{E961E89F-C1DB-48E5-8B52-FDDAED9E0E4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" name="Freeform 20">
                <a:extLst>
                  <a:ext uri="{FF2B5EF4-FFF2-40B4-BE49-F238E27FC236}">
                    <a16:creationId xmlns:a16="http://schemas.microsoft.com/office/drawing/2014/main" id="{412962B4-425A-4C36-A65A-0F66ED7CD3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" name="Rectangle 21">
                <a:extLst>
                  <a:ext uri="{FF2B5EF4-FFF2-40B4-BE49-F238E27FC236}">
                    <a16:creationId xmlns:a16="http://schemas.microsoft.com/office/drawing/2014/main" id="{037BE3F7-563A-4D9A-BC98-C71F727D23A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1" name="Freeform 22">
                <a:extLst>
                  <a:ext uri="{FF2B5EF4-FFF2-40B4-BE49-F238E27FC236}">
                    <a16:creationId xmlns:a16="http://schemas.microsoft.com/office/drawing/2014/main" id="{2FDB1005-EB5E-475A-AC43-4ED3E563DE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Freeform 23">
                <a:extLst>
                  <a:ext uri="{FF2B5EF4-FFF2-40B4-BE49-F238E27FC236}">
                    <a16:creationId xmlns:a16="http://schemas.microsoft.com/office/drawing/2014/main" id="{68BFFBC6-C704-42A7-9D7E-AFB5C37FBDA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3" name="Freeform 24">
                <a:extLst>
                  <a:ext uri="{FF2B5EF4-FFF2-40B4-BE49-F238E27FC236}">
                    <a16:creationId xmlns:a16="http://schemas.microsoft.com/office/drawing/2014/main" id="{4888EAD7-EBE9-4549-9A91-6FEC611536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4" name="Freeform 25">
                <a:extLst>
                  <a:ext uri="{FF2B5EF4-FFF2-40B4-BE49-F238E27FC236}">
                    <a16:creationId xmlns:a16="http://schemas.microsoft.com/office/drawing/2014/main" id="{B79BC975-BE42-4B57-8335-1699BC0AB1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5" name="Freeform 26">
                <a:extLst>
                  <a:ext uri="{FF2B5EF4-FFF2-40B4-BE49-F238E27FC236}">
                    <a16:creationId xmlns:a16="http://schemas.microsoft.com/office/drawing/2014/main" id="{3998B4F0-CA80-490A-A256-1600E7EA886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6" name="Freeform 27">
                <a:extLst>
                  <a:ext uri="{FF2B5EF4-FFF2-40B4-BE49-F238E27FC236}">
                    <a16:creationId xmlns:a16="http://schemas.microsoft.com/office/drawing/2014/main" id="{2052C104-8168-487E-9044-454DA83AB2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Freeform 28">
                <a:extLst>
                  <a:ext uri="{FF2B5EF4-FFF2-40B4-BE49-F238E27FC236}">
                    <a16:creationId xmlns:a16="http://schemas.microsoft.com/office/drawing/2014/main" id="{63ACA30B-5F59-400C-A7CE-D17B5647EE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8" name="Freeform 29">
                <a:extLst>
                  <a:ext uri="{FF2B5EF4-FFF2-40B4-BE49-F238E27FC236}">
                    <a16:creationId xmlns:a16="http://schemas.microsoft.com/office/drawing/2014/main" id="{2E16F318-A142-4353-9949-B4E3A09FE0B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9" name="Freeform 30">
                <a:extLst>
                  <a:ext uri="{FF2B5EF4-FFF2-40B4-BE49-F238E27FC236}">
                    <a16:creationId xmlns:a16="http://schemas.microsoft.com/office/drawing/2014/main" id="{8AE8DBB4-2468-4A78-A54D-FD77C5DC88A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0" name="Freeform 31">
                <a:extLst>
                  <a:ext uri="{FF2B5EF4-FFF2-40B4-BE49-F238E27FC236}">
                    <a16:creationId xmlns:a16="http://schemas.microsoft.com/office/drawing/2014/main" id="{B0E7CEF2-11E4-465C-8F1F-AA8367F96A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88B30AFD-E104-45DD-BFBB-5A41F1413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64" name="Freeform 32">
                <a:extLst>
                  <a:ext uri="{FF2B5EF4-FFF2-40B4-BE49-F238E27FC236}">
                    <a16:creationId xmlns:a16="http://schemas.microsoft.com/office/drawing/2014/main" id="{CE45A3DF-350B-4A5E-AEBE-F0F280AD037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" name="Freeform 33">
                <a:extLst>
                  <a:ext uri="{FF2B5EF4-FFF2-40B4-BE49-F238E27FC236}">
                    <a16:creationId xmlns:a16="http://schemas.microsoft.com/office/drawing/2014/main" id="{966D2640-A438-4FB6-B781-5A52DEC85C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" name="Freeform 34">
                <a:extLst>
                  <a:ext uri="{FF2B5EF4-FFF2-40B4-BE49-F238E27FC236}">
                    <a16:creationId xmlns:a16="http://schemas.microsoft.com/office/drawing/2014/main" id="{34E1EFFF-720C-4CC0-9F95-DD1DAF99AD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" name="Freeform 35">
                <a:extLst>
                  <a:ext uri="{FF2B5EF4-FFF2-40B4-BE49-F238E27FC236}">
                    <a16:creationId xmlns:a16="http://schemas.microsoft.com/office/drawing/2014/main" id="{EA7AB0E1-6C49-409D-86F5-BE00BDDFC0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" name="Freeform 36">
                <a:extLst>
                  <a:ext uri="{FF2B5EF4-FFF2-40B4-BE49-F238E27FC236}">
                    <a16:creationId xmlns:a16="http://schemas.microsoft.com/office/drawing/2014/main" id="{5D17598C-0C57-4F4E-8F6B-A2AD8071F8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" name="Freeform 37">
                <a:extLst>
                  <a:ext uri="{FF2B5EF4-FFF2-40B4-BE49-F238E27FC236}">
                    <a16:creationId xmlns:a16="http://schemas.microsoft.com/office/drawing/2014/main" id="{EBEBC0DC-F56F-48FE-824E-E9378C48976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" name="Freeform 38">
                <a:extLst>
                  <a:ext uri="{FF2B5EF4-FFF2-40B4-BE49-F238E27FC236}">
                    <a16:creationId xmlns:a16="http://schemas.microsoft.com/office/drawing/2014/main" id="{CC7FDCF1-1736-48A0-BDB2-87D6E09067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" name="Freeform 39">
                <a:extLst>
                  <a:ext uri="{FF2B5EF4-FFF2-40B4-BE49-F238E27FC236}">
                    <a16:creationId xmlns:a16="http://schemas.microsoft.com/office/drawing/2014/main" id="{2A650CF5-564F-44D1-AB08-6C500DD3CED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2" name="Freeform 40">
                <a:extLst>
                  <a:ext uri="{FF2B5EF4-FFF2-40B4-BE49-F238E27FC236}">
                    <a16:creationId xmlns:a16="http://schemas.microsoft.com/office/drawing/2014/main" id="{3108FEFA-0402-4C1C-AE39-5ADC09402F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3" name="Rectangle 41">
                <a:extLst>
                  <a:ext uri="{FF2B5EF4-FFF2-40B4-BE49-F238E27FC236}">
                    <a16:creationId xmlns:a16="http://schemas.microsoft.com/office/drawing/2014/main" id="{340AE827-F344-464F-851C-E03AFC98DC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u 1">
            <a:extLst>
              <a:ext uri="{FF2B5EF4-FFF2-40B4-BE49-F238E27FC236}">
                <a16:creationId xmlns:a16="http://schemas.microsoft.com/office/drawing/2014/main" id="{8A27EFE9-D309-D584-882E-EE6684AB1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7"/>
            <a:ext cx="2877336" cy="550732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1" dirty="0"/>
              <a:t>Gated Recurrent Unit(</a:t>
            </a:r>
            <a:r>
              <a:rPr lang="en-US" b="1" dirty="0" err="1"/>
              <a:t>gru</a:t>
            </a:r>
            <a:r>
              <a:rPr lang="en-US" b="1" dirty="0"/>
              <a:t>)</a:t>
            </a:r>
            <a:endParaRPr lang="en-US" dirty="0"/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25779054-F1F8-E1B5-234B-E11131A8E6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40743" y="638650"/>
            <a:ext cx="7034485" cy="378277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/>
              <a:t>Arhitectură mai simplă decât LSTM</a:t>
            </a:r>
          </a:p>
          <a:p>
            <a:r>
              <a:rPr lang="en-US"/>
              <a:t>Mai puțini parametri</a:t>
            </a:r>
          </a:p>
          <a:p>
            <a:r>
              <a:rPr lang="en-US"/>
              <a:t>Performanță comparabilă</a:t>
            </a:r>
          </a:p>
          <a:p>
            <a:r>
              <a:rPr lang="en-US"/>
              <a:t>Antrenare mai rapidă</a:t>
            </a:r>
          </a:p>
          <a:p>
            <a:endParaRPr lang="en-US"/>
          </a:p>
        </p:txBody>
      </p:sp>
      <p:pic>
        <p:nvPicPr>
          <p:cNvPr id="6" name="Substituent conținut 5" descr="O imagine care conține text, captură de ecran, Font&#10;&#10;Conținutul generat de inteligența artificială poate fi incorect.">
            <a:extLst>
              <a:ext uri="{FF2B5EF4-FFF2-40B4-BE49-F238E27FC236}">
                <a16:creationId xmlns:a16="http://schemas.microsoft.com/office/drawing/2014/main" id="{FCB787A6-CF40-00F7-7A25-106849C859B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5513490" y="4604942"/>
            <a:ext cx="5336499" cy="1520903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4331289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>
            <a:extLst>
              <a:ext uri="{FF2B5EF4-FFF2-40B4-BE49-F238E27FC236}">
                <a16:creationId xmlns:a16="http://schemas.microsoft.com/office/drawing/2014/main" id="{5B367C29-5200-4FF1-83B7-18B105A0B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EC711491-7BB6-4BE6-A470-44BF61D562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E4F104B-68BE-4E53-A6A5-5C5F93FF72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6" name="Rectangle 5">
                <a:extLst>
                  <a:ext uri="{FF2B5EF4-FFF2-40B4-BE49-F238E27FC236}">
                    <a16:creationId xmlns:a16="http://schemas.microsoft.com/office/drawing/2014/main" id="{EF4A7076-D6BC-4AE1-AE2C-C09B16AAB4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6">
                <a:extLst>
                  <a:ext uri="{FF2B5EF4-FFF2-40B4-BE49-F238E27FC236}">
                    <a16:creationId xmlns:a16="http://schemas.microsoft.com/office/drawing/2014/main" id="{58FA119B-7250-4EC7-912F-F5613CC281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7">
                <a:extLst>
                  <a:ext uri="{FF2B5EF4-FFF2-40B4-BE49-F238E27FC236}">
                    <a16:creationId xmlns:a16="http://schemas.microsoft.com/office/drawing/2014/main" id="{7B9A9AED-D47E-44AD-AD6E-2EECC94D88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8">
                <a:extLst>
                  <a:ext uri="{FF2B5EF4-FFF2-40B4-BE49-F238E27FC236}">
                    <a16:creationId xmlns:a16="http://schemas.microsoft.com/office/drawing/2014/main" id="{00A30ECA-328D-4512-825B-0AD59604678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9">
                <a:extLst>
                  <a:ext uri="{FF2B5EF4-FFF2-40B4-BE49-F238E27FC236}">
                    <a16:creationId xmlns:a16="http://schemas.microsoft.com/office/drawing/2014/main" id="{14A218CE-B3D8-4A43-86CC-48980645AC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0">
                <a:extLst>
                  <a:ext uri="{FF2B5EF4-FFF2-40B4-BE49-F238E27FC236}">
                    <a16:creationId xmlns:a16="http://schemas.microsoft.com/office/drawing/2014/main" id="{E9743B7D-51BF-425C-A4B8-33B2E001EF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Freeform 11">
                <a:extLst>
                  <a:ext uri="{FF2B5EF4-FFF2-40B4-BE49-F238E27FC236}">
                    <a16:creationId xmlns:a16="http://schemas.microsoft.com/office/drawing/2014/main" id="{9BA633B3-C879-4E15-B66C-788B4C60A1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2">
                <a:extLst>
                  <a:ext uri="{FF2B5EF4-FFF2-40B4-BE49-F238E27FC236}">
                    <a16:creationId xmlns:a16="http://schemas.microsoft.com/office/drawing/2014/main" id="{324C8953-B4E2-4DA0-B5D5-BD2A735E67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3">
                <a:extLst>
                  <a:ext uri="{FF2B5EF4-FFF2-40B4-BE49-F238E27FC236}">
                    <a16:creationId xmlns:a16="http://schemas.microsoft.com/office/drawing/2014/main" id="{717A3B65-FE80-419B-AB5D-48B5E3A7B4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4">
                <a:extLst>
                  <a:ext uri="{FF2B5EF4-FFF2-40B4-BE49-F238E27FC236}">
                    <a16:creationId xmlns:a16="http://schemas.microsoft.com/office/drawing/2014/main" id="{675ECD78-7D6B-4A3F-8163-392D7F8D69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15">
                <a:extLst>
                  <a:ext uri="{FF2B5EF4-FFF2-40B4-BE49-F238E27FC236}">
                    <a16:creationId xmlns:a16="http://schemas.microsoft.com/office/drawing/2014/main" id="{8D036282-E32F-461D-BFB6-2A58D6D27AC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Line 16">
                <a:extLst>
                  <a:ext uri="{FF2B5EF4-FFF2-40B4-BE49-F238E27FC236}">
                    <a16:creationId xmlns:a16="http://schemas.microsoft.com/office/drawing/2014/main" id="{F95EB10E-5264-467D-8382-A77C4DED25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17">
                <a:extLst>
                  <a:ext uri="{FF2B5EF4-FFF2-40B4-BE49-F238E27FC236}">
                    <a16:creationId xmlns:a16="http://schemas.microsoft.com/office/drawing/2014/main" id="{218F9268-D2F0-487B-A021-8786B65518D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18">
                <a:extLst>
                  <a:ext uri="{FF2B5EF4-FFF2-40B4-BE49-F238E27FC236}">
                    <a16:creationId xmlns:a16="http://schemas.microsoft.com/office/drawing/2014/main" id="{B4AEE5AC-EF5C-42E4-B185-A176E19976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19">
                <a:extLst>
                  <a:ext uri="{FF2B5EF4-FFF2-40B4-BE49-F238E27FC236}">
                    <a16:creationId xmlns:a16="http://schemas.microsoft.com/office/drawing/2014/main" id="{E961E89F-C1DB-48E5-8B52-FDDAED9E0E4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0">
                <a:extLst>
                  <a:ext uri="{FF2B5EF4-FFF2-40B4-BE49-F238E27FC236}">
                    <a16:creationId xmlns:a16="http://schemas.microsoft.com/office/drawing/2014/main" id="{412962B4-425A-4C36-A65A-0F66ED7CD3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Rectangle 21">
                <a:extLst>
                  <a:ext uri="{FF2B5EF4-FFF2-40B4-BE49-F238E27FC236}">
                    <a16:creationId xmlns:a16="http://schemas.microsoft.com/office/drawing/2014/main" id="{037BE3F7-563A-4D9A-BC98-C71F727D23A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2">
                <a:extLst>
                  <a:ext uri="{FF2B5EF4-FFF2-40B4-BE49-F238E27FC236}">
                    <a16:creationId xmlns:a16="http://schemas.microsoft.com/office/drawing/2014/main" id="{2FDB1005-EB5E-475A-AC43-4ED3E563DE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3">
                <a:extLst>
                  <a:ext uri="{FF2B5EF4-FFF2-40B4-BE49-F238E27FC236}">
                    <a16:creationId xmlns:a16="http://schemas.microsoft.com/office/drawing/2014/main" id="{68BFFBC6-C704-42A7-9D7E-AFB5C37FBDA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4">
                <a:extLst>
                  <a:ext uri="{FF2B5EF4-FFF2-40B4-BE49-F238E27FC236}">
                    <a16:creationId xmlns:a16="http://schemas.microsoft.com/office/drawing/2014/main" id="{4888EAD7-EBE9-4549-9A91-6FEC611536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25">
                <a:extLst>
                  <a:ext uri="{FF2B5EF4-FFF2-40B4-BE49-F238E27FC236}">
                    <a16:creationId xmlns:a16="http://schemas.microsoft.com/office/drawing/2014/main" id="{B79BC975-BE42-4B57-8335-1699BC0AB1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26">
                <a:extLst>
                  <a:ext uri="{FF2B5EF4-FFF2-40B4-BE49-F238E27FC236}">
                    <a16:creationId xmlns:a16="http://schemas.microsoft.com/office/drawing/2014/main" id="{3998B4F0-CA80-490A-A256-1600E7EA886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Freeform 27">
                <a:extLst>
                  <a:ext uri="{FF2B5EF4-FFF2-40B4-BE49-F238E27FC236}">
                    <a16:creationId xmlns:a16="http://schemas.microsoft.com/office/drawing/2014/main" id="{2052C104-8168-487E-9044-454DA83AB2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" name="Freeform 28">
                <a:extLst>
                  <a:ext uri="{FF2B5EF4-FFF2-40B4-BE49-F238E27FC236}">
                    <a16:creationId xmlns:a16="http://schemas.microsoft.com/office/drawing/2014/main" id="{63ACA30B-5F59-400C-A7CE-D17B5647EE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" name="Freeform 29">
                <a:extLst>
                  <a:ext uri="{FF2B5EF4-FFF2-40B4-BE49-F238E27FC236}">
                    <a16:creationId xmlns:a16="http://schemas.microsoft.com/office/drawing/2014/main" id="{2E16F318-A142-4353-9949-B4E3A09FE0B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" name="Freeform 30">
                <a:extLst>
                  <a:ext uri="{FF2B5EF4-FFF2-40B4-BE49-F238E27FC236}">
                    <a16:creationId xmlns:a16="http://schemas.microsoft.com/office/drawing/2014/main" id="{8AE8DBB4-2468-4A78-A54D-FD77C5DC88A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" name="Freeform 31">
                <a:extLst>
                  <a:ext uri="{FF2B5EF4-FFF2-40B4-BE49-F238E27FC236}">
                    <a16:creationId xmlns:a16="http://schemas.microsoft.com/office/drawing/2014/main" id="{B0E7CEF2-11E4-465C-8F1F-AA8367F96A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8B30AFD-E104-45DD-BFBB-5A41F1413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6" name="Freeform 32">
                <a:extLst>
                  <a:ext uri="{FF2B5EF4-FFF2-40B4-BE49-F238E27FC236}">
                    <a16:creationId xmlns:a16="http://schemas.microsoft.com/office/drawing/2014/main" id="{CE45A3DF-350B-4A5E-AEBE-F0F280AD037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3">
                <a:extLst>
                  <a:ext uri="{FF2B5EF4-FFF2-40B4-BE49-F238E27FC236}">
                    <a16:creationId xmlns:a16="http://schemas.microsoft.com/office/drawing/2014/main" id="{966D2640-A438-4FB6-B781-5A52DEC85C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4">
                <a:extLst>
                  <a:ext uri="{FF2B5EF4-FFF2-40B4-BE49-F238E27FC236}">
                    <a16:creationId xmlns:a16="http://schemas.microsoft.com/office/drawing/2014/main" id="{34E1EFFF-720C-4CC0-9F95-DD1DAF99AD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35">
                <a:extLst>
                  <a:ext uri="{FF2B5EF4-FFF2-40B4-BE49-F238E27FC236}">
                    <a16:creationId xmlns:a16="http://schemas.microsoft.com/office/drawing/2014/main" id="{EA7AB0E1-6C49-409D-86F5-BE00BDDFC0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36">
                <a:extLst>
                  <a:ext uri="{FF2B5EF4-FFF2-40B4-BE49-F238E27FC236}">
                    <a16:creationId xmlns:a16="http://schemas.microsoft.com/office/drawing/2014/main" id="{5D17598C-0C57-4F4E-8F6B-A2AD8071F8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37">
                <a:extLst>
                  <a:ext uri="{FF2B5EF4-FFF2-40B4-BE49-F238E27FC236}">
                    <a16:creationId xmlns:a16="http://schemas.microsoft.com/office/drawing/2014/main" id="{EBEBC0DC-F56F-48FE-824E-E9378C48976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38">
                <a:extLst>
                  <a:ext uri="{FF2B5EF4-FFF2-40B4-BE49-F238E27FC236}">
                    <a16:creationId xmlns:a16="http://schemas.microsoft.com/office/drawing/2014/main" id="{CC7FDCF1-1736-48A0-BDB2-87D6E09067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39">
                <a:extLst>
                  <a:ext uri="{FF2B5EF4-FFF2-40B4-BE49-F238E27FC236}">
                    <a16:creationId xmlns:a16="http://schemas.microsoft.com/office/drawing/2014/main" id="{2A650CF5-564F-44D1-AB08-6C500DD3CED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40">
                <a:extLst>
                  <a:ext uri="{FF2B5EF4-FFF2-40B4-BE49-F238E27FC236}">
                    <a16:creationId xmlns:a16="http://schemas.microsoft.com/office/drawing/2014/main" id="{3108FEFA-0402-4C1C-AE39-5ADC09402F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Rectangle 41">
                <a:extLst>
                  <a:ext uri="{FF2B5EF4-FFF2-40B4-BE49-F238E27FC236}">
                    <a16:creationId xmlns:a16="http://schemas.microsoft.com/office/drawing/2014/main" id="{340AE827-F344-464F-851C-E03AFC98DC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u 1">
            <a:extLst>
              <a:ext uri="{FF2B5EF4-FFF2-40B4-BE49-F238E27FC236}">
                <a16:creationId xmlns:a16="http://schemas.microsoft.com/office/drawing/2014/main" id="{B587E2AA-4B3A-F91E-A9DE-528D2745E3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7"/>
            <a:ext cx="2877336" cy="550732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300" dirty="0"/>
              <a:t>Bidirectional LSTM</a:t>
            </a:r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0E7FDEE4-2189-5BB7-AD6F-B2545301B8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40743" y="638650"/>
            <a:ext cx="7034485" cy="3782778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b="1" dirty="0" err="1"/>
              <a:t>Procesare</a:t>
            </a:r>
            <a:r>
              <a:rPr lang="en-US" b="1" dirty="0"/>
              <a:t> </a:t>
            </a:r>
            <a:r>
              <a:rPr lang="en-US" b="1" dirty="0" err="1"/>
              <a:t>bidirecțională</a:t>
            </a:r>
            <a:endParaRPr lang="en-US" dirty="0"/>
          </a:p>
          <a:p>
            <a:r>
              <a:rPr lang="en-US" dirty="0" err="1"/>
              <a:t>Analizează</a:t>
            </a:r>
            <a:r>
              <a:rPr lang="en-US" dirty="0"/>
              <a:t> </a:t>
            </a:r>
            <a:r>
              <a:rPr lang="en-US" dirty="0" err="1"/>
              <a:t>textul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stânga</a:t>
            </a:r>
            <a:r>
              <a:rPr lang="en-US" dirty="0"/>
              <a:t> → </a:t>
            </a:r>
            <a:r>
              <a:rPr lang="en-US" dirty="0" err="1"/>
              <a:t>dreapta</a:t>
            </a:r>
            <a:endParaRPr lang="en-US" dirty="0"/>
          </a:p>
          <a:p>
            <a:pPr lvl="1"/>
            <a:r>
              <a:rPr lang="en-US" dirty="0" err="1"/>
              <a:t>dreapta</a:t>
            </a:r>
            <a:r>
              <a:rPr lang="en-US" dirty="0"/>
              <a:t> → </a:t>
            </a:r>
            <a:r>
              <a:rPr lang="en-US" dirty="0" err="1"/>
              <a:t>stânga</a:t>
            </a:r>
            <a:endParaRPr lang="en-US" dirty="0"/>
          </a:p>
          <a:p>
            <a:r>
              <a:rPr lang="en-US" dirty="0"/>
              <a:t>Context </a:t>
            </a:r>
            <a:r>
              <a:rPr lang="en-US" dirty="0" err="1"/>
              <a:t>complet</a:t>
            </a:r>
            <a:endParaRPr lang="en-US" dirty="0"/>
          </a:p>
          <a:p>
            <a:r>
              <a:rPr lang="en-US" dirty="0"/>
              <a:t>Cost </a:t>
            </a:r>
            <a:r>
              <a:rPr lang="en-US" dirty="0" err="1"/>
              <a:t>computațional</a:t>
            </a:r>
            <a:r>
              <a:rPr lang="en-US" dirty="0"/>
              <a:t> </a:t>
            </a:r>
            <a:r>
              <a:rPr lang="en-US" dirty="0" err="1"/>
              <a:t>crescut</a:t>
            </a:r>
            <a:endParaRPr lang="en-US" dirty="0"/>
          </a:p>
          <a:p>
            <a:endParaRPr lang="en-US" dirty="0"/>
          </a:p>
        </p:txBody>
      </p:sp>
      <p:pic>
        <p:nvPicPr>
          <p:cNvPr id="6" name="Substituent conținut 5" descr="O imagine care conține text, captură de ecran, Font&#10;&#10;Conținutul generat de inteligența artificială poate fi incorect.">
            <a:extLst>
              <a:ext uri="{FF2B5EF4-FFF2-40B4-BE49-F238E27FC236}">
                <a16:creationId xmlns:a16="http://schemas.microsoft.com/office/drawing/2014/main" id="{29476088-DFE8-AFE9-92AE-7A4ABACFC24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5581906" y="4604942"/>
            <a:ext cx="5199666" cy="1520903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6334152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D0F4AB-CBC6-FB95-D1F4-FFDDC0EA1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2">
            <a:extLst>
              <a:ext uri="{FF2B5EF4-FFF2-40B4-BE49-F238E27FC236}">
                <a16:creationId xmlns:a16="http://schemas.microsoft.com/office/drawing/2014/main" id="{5B367C29-5200-4FF1-83B7-18B105A0B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9" name="Group 58">
            <a:extLst>
              <a:ext uri="{FF2B5EF4-FFF2-40B4-BE49-F238E27FC236}">
                <a16:creationId xmlns:a16="http://schemas.microsoft.com/office/drawing/2014/main" id="{EC711491-7BB6-4BE6-A470-44BF61D562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FE4F104B-68BE-4E53-A6A5-5C5F93FF72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72" name="Rectangle 5">
                <a:extLst>
                  <a:ext uri="{FF2B5EF4-FFF2-40B4-BE49-F238E27FC236}">
                    <a16:creationId xmlns:a16="http://schemas.microsoft.com/office/drawing/2014/main" id="{EF4A7076-D6BC-4AE1-AE2C-C09B16AAB4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3" name="Freeform 6">
                <a:extLst>
                  <a:ext uri="{FF2B5EF4-FFF2-40B4-BE49-F238E27FC236}">
                    <a16:creationId xmlns:a16="http://schemas.microsoft.com/office/drawing/2014/main" id="{58FA119B-7250-4EC7-912F-F5613CC281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4" name="Freeform 7">
                <a:extLst>
                  <a:ext uri="{FF2B5EF4-FFF2-40B4-BE49-F238E27FC236}">
                    <a16:creationId xmlns:a16="http://schemas.microsoft.com/office/drawing/2014/main" id="{7B9A9AED-D47E-44AD-AD6E-2EECC94D88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" name="Freeform 8">
                <a:extLst>
                  <a:ext uri="{FF2B5EF4-FFF2-40B4-BE49-F238E27FC236}">
                    <a16:creationId xmlns:a16="http://schemas.microsoft.com/office/drawing/2014/main" id="{00A30ECA-328D-4512-825B-0AD59604678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6" name="Freeform 9">
                <a:extLst>
                  <a:ext uri="{FF2B5EF4-FFF2-40B4-BE49-F238E27FC236}">
                    <a16:creationId xmlns:a16="http://schemas.microsoft.com/office/drawing/2014/main" id="{14A218CE-B3D8-4A43-86CC-48980645AC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7" name="Freeform 10">
                <a:extLst>
                  <a:ext uri="{FF2B5EF4-FFF2-40B4-BE49-F238E27FC236}">
                    <a16:creationId xmlns:a16="http://schemas.microsoft.com/office/drawing/2014/main" id="{E9743B7D-51BF-425C-A4B8-33B2E001EF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Freeform 11">
                <a:extLst>
                  <a:ext uri="{FF2B5EF4-FFF2-40B4-BE49-F238E27FC236}">
                    <a16:creationId xmlns:a16="http://schemas.microsoft.com/office/drawing/2014/main" id="{9BA633B3-C879-4E15-B66C-788B4C60A1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9" name="Freeform 12">
                <a:extLst>
                  <a:ext uri="{FF2B5EF4-FFF2-40B4-BE49-F238E27FC236}">
                    <a16:creationId xmlns:a16="http://schemas.microsoft.com/office/drawing/2014/main" id="{324C8953-B4E2-4DA0-B5D5-BD2A735E67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0" name="Freeform 13">
                <a:extLst>
                  <a:ext uri="{FF2B5EF4-FFF2-40B4-BE49-F238E27FC236}">
                    <a16:creationId xmlns:a16="http://schemas.microsoft.com/office/drawing/2014/main" id="{717A3B65-FE80-419B-AB5D-48B5E3A7B4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1" name="Freeform 14">
                <a:extLst>
                  <a:ext uri="{FF2B5EF4-FFF2-40B4-BE49-F238E27FC236}">
                    <a16:creationId xmlns:a16="http://schemas.microsoft.com/office/drawing/2014/main" id="{675ECD78-7D6B-4A3F-8163-392D7F8D69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Freeform 15">
                <a:extLst>
                  <a:ext uri="{FF2B5EF4-FFF2-40B4-BE49-F238E27FC236}">
                    <a16:creationId xmlns:a16="http://schemas.microsoft.com/office/drawing/2014/main" id="{8D036282-E32F-461D-BFB6-2A58D6D27AC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3" name="Line 16">
                <a:extLst>
                  <a:ext uri="{FF2B5EF4-FFF2-40B4-BE49-F238E27FC236}">
                    <a16:creationId xmlns:a16="http://schemas.microsoft.com/office/drawing/2014/main" id="{F95EB10E-5264-467D-8382-A77C4DED25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4" name="Freeform 17">
                <a:extLst>
                  <a:ext uri="{FF2B5EF4-FFF2-40B4-BE49-F238E27FC236}">
                    <a16:creationId xmlns:a16="http://schemas.microsoft.com/office/drawing/2014/main" id="{218F9268-D2F0-487B-A021-8786B65518D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" name="Freeform 18">
                <a:extLst>
                  <a:ext uri="{FF2B5EF4-FFF2-40B4-BE49-F238E27FC236}">
                    <a16:creationId xmlns:a16="http://schemas.microsoft.com/office/drawing/2014/main" id="{B4AEE5AC-EF5C-42E4-B185-A176E19976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6" name="Freeform 19">
                <a:extLst>
                  <a:ext uri="{FF2B5EF4-FFF2-40B4-BE49-F238E27FC236}">
                    <a16:creationId xmlns:a16="http://schemas.microsoft.com/office/drawing/2014/main" id="{E961E89F-C1DB-48E5-8B52-FDDAED9E0E4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7" name="Freeform 20">
                <a:extLst>
                  <a:ext uri="{FF2B5EF4-FFF2-40B4-BE49-F238E27FC236}">
                    <a16:creationId xmlns:a16="http://schemas.microsoft.com/office/drawing/2014/main" id="{412962B4-425A-4C36-A65A-0F66ED7CD3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8" name="Rectangle 21">
                <a:extLst>
                  <a:ext uri="{FF2B5EF4-FFF2-40B4-BE49-F238E27FC236}">
                    <a16:creationId xmlns:a16="http://schemas.microsoft.com/office/drawing/2014/main" id="{037BE3F7-563A-4D9A-BC98-C71F727D23A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" name="Freeform 22">
                <a:extLst>
                  <a:ext uri="{FF2B5EF4-FFF2-40B4-BE49-F238E27FC236}">
                    <a16:creationId xmlns:a16="http://schemas.microsoft.com/office/drawing/2014/main" id="{2FDB1005-EB5E-475A-AC43-4ED3E563DE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" name="Freeform 23">
                <a:extLst>
                  <a:ext uri="{FF2B5EF4-FFF2-40B4-BE49-F238E27FC236}">
                    <a16:creationId xmlns:a16="http://schemas.microsoft.com/office/drawing/2014/main" id="{68BFFBC6-C704-42A7-9D7E-AFB5C37FBDA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1" name="Freeform 24">
                <a:extLst>
                  <a:ext uri="{FF2B5EF4-FFF2-40B4-BE49-F238E27FC236}">
                    <a16:creationId xmlns:a16="http://schemas.microsoft.com/office/drawing/2014/main" id="{4888EAD7-EBE9-4549-9A91-6FEC611536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Freeform 25">
                <a:extLst>
                  <a:ext uri="{FF2B5EF4-FFF2-40B4-BE49-F238E27FC236}">
                    <a16:creationId xmlns:a16="http://schemas.microsoft.com/office/drawing/2014/main" id="{B79BC975-BE42-4B57-8335-1699BC0AB1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3" name="Freeform 26">
                <a:extLst>
                  <a:ext uri="{FF2B5EF4-FFF2-40B4-BE49-F238E27FC236}">
                    <a16:creationId xmlns:a16="http://schemas.microsoft.com/office/drawing/2014/main" id="{3998B4F0-CA80-490A-A256-1600E7EA886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4" name="Freeform 27">
                <a:extLst>
                  <a:ext uri="{FF2B5EF4-FFF2-40B4-BE49-F238E27FC236}">
                    <a16:creationId xmlns:a16="http://schemas.microsoft.com/office/drawing/2014/main" id="{2052C104-8168-487E-9044-454DA83AB2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5" name="Freeform 28">
                <a:extLst>
                  <a:ext uri="{FF2B5EF4-FFF2-40B4-BE49-F238E27FC236}">
                    <a16:creationId xmlns:a16="http://schemas.microsoft.com/office/drawing/2014/main" id="{63ACA30B-5F59-400C-A7CE-D17B5647EE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6" name="Freeform 29">
                <a:extLst>
                  <a:ext uri="{FF2B5EF4-FFF2-40B4-BE49-F238E27FC236}">
                    <a16:creationId xmlns:a16="http://schemas.microsoft.com/office/drawing/2014/main" id="{2E16F318-A142-4353-9949-B4E3A09FE0B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Freeform 30">
                <a:extLst>
                  <a:ext uri="{FF2B5EF4-FFF2-40B4-BE49-F238E27FC236}">
                    <a16:creationId xmlns:a16="http://schemas.microsoft.com/office/drawing/2014/main" id="{8AE8DBB4-2468-4A78-A54D-FD77C5DC88A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8" name="Freeform 31">
                <a:extLst>
                  <a:ext uri="{FF2B5EF4-FFF2-40B4-BE49-F238E27FC236}">
                    <a16:creationId xmlns:a16="http://schemas.microsoft.com/office/drawing/2014/main" id="{B0E7CEF2-11E4-465C-8F1F-AA8367F96A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88B30AFD-E104-45DD-BFBB-5A41F1413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62" name="Freeform 32">
                <a:extLst>
                  <a:ext uri="{FF2B5EF4-FFF2-40B4-BE49-F238E27FC236}">
                    <a16:creationId xmlns:a16="http://schemas.microsoft.com/office/drawing/2014/main" id="{CE45A3DF-350B-4A5E-AEBE-F0F280AD037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" name="Freeform 33">
                <a:extLst>
                  <a:ext uri="{FF2B5EF4-FFF2-40B4-BE49-F238E27FC236}">
                    <a16:creationId xmlns:a16="http://schemas.microsoft.com/office/drawing/2014/main" id="{966D2640-A438-4FB6-B781-5A52DEC85C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" name="Freeform 34">
                <a:extLst>
                  <a:ext uri="{FF2B5EF4-FFF2-40B4-BE49-F238E27FC236}">
                    <a16:creationId xmlns:a16="http://schemas.microsoft.com/office/drawing/2014/main" id="{34E1EFFF-720C-4CC0-9F95-DD1DAF99AD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" name="Freeform 35">
                <a:extLst>
                  <a:ext uri="{FF2B5EF4-FFF2-40B4-BE49-F238E27FC236}">
                    <a16:creationId xmlns:a16="http://schemas.microsoft.com/office/drawing/2014/main" id="{EA7AB0E1-6C49-409D-86F5-BE00BDDFC0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" name="Freeform 36">
                <a:extLst>
                  <a:ext uri="{FF2B5EF4-FFF2-40B4-BE49-F238E27FC236}">
                    <a16:creationId xmlns:a16="http://schemas.microsoft.com/office/drawing/2014/main" id="{5D17598C-0C57-4F4E-8F6B-A2AD8071F8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" name="Freeform 37">
                <a:extLst>
                  <a:ext uri="{FF2B5EF4-FFF2-40B4-BE49-F238E27FC236}">
                    <a16:creationId xmlns:a16="http://schemas.microsoft.com/office/drawing/2014/main" id="{EBEBC0DC-F56F-48FE-824E-E9378C48976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" name="Freeform 38">
                <a:extLst>
                  <a:ext uri="{FF2B5EF4-FFF2-40B4-BE49-F238E27FC236}">
                    <a16:creationId xmlns:a16="http://schemas.microsoft.com/office/drawing/2014/main" id="{CC7FDCF1-1736-48A0-BDB2-87D6E09067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" name="Freeform 39">
                <a:extLst>
                  <a:ext uri="{FF2B5EF4-FFF2-40B4-BE49-F238E27FC236}">
                    <a16:creationId xmlns:a16="http://schemas.microsoft.com/office/drawing/2014/main" id="{2A650CF5-564F-44D1-AB08-6C500DD3CED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" name="Freeform 40">
                <a:extLst>
                  <a:ext uri="{FF2B5EF4-FFF2-40B4-BE49-F238E27FC236}">
                    <a16:creationId xmlns:a16="http://schemas.microsoft.com/office/drawing/2014/main" id="{3108FEFA-0402-4C1C-AE39-5ADC09402F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" name="Rectangle 41">
                <a:extLst>
                  <a:ext uri="{FF2B5EF4-FFF2-40B4-BE49-F238E27FC236}">
                    <a16:creationId xmlns:a16="http://schemas.microsoft.com/office/drawing/2014/main" id="{340AE827-F344-464F-851C-E03AFC98DC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u 1">
            <a:extLst>
              <a:ext uri="{FF2B5EF4-FFF2-40B4-BE49-F238E27FC236}">
                <a16:creationId xmlns:a16="http://schemas.microsoft.com/office/drawing/2014/main" id="{B41C8E07-2ABE-7D83-7F1B-D31C88116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LSTM + glove</a:t>
            </a:r>
          </a:p>
        </p:txBody>
      </p:sp>
      <p:pic>
        <p:nvPicPr>
          <p:cNvPr id="10" name="Substituent conținut 9" descr="O imagine care conține text, captură de ecran, Font&#10;&#10;Conținutul generat de inteligența artificială poate fi incorect.">
            <a:extLst>
              <a:ext uri="{FF2B5EF4-FFF2-40B4-BE49-F238E27FC236}">
                <a16:creationId xmlns:a16="http://schemas.microsoft.com/office/drawing/2014/main" id="{66B3EA82-2DF7-E869-ADB8-246475ACCD2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141411" y="2951650"/>
            <a:ext cx="4689234" cy="2145324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066A635B-C0FA-25B8-0948-4F33BC4F3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36727" y="2249487"/>
            <a:ext cx="4710683" cy="3541714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Context </a:t>
            </a:r>
            <a:r>
              <a:rPr lang="en-US" dirty="0" err="1"/>
              <a:t>complet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166580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9A851A7A-2CD2-6143-9188-2A8ABA273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Configurația</a:t>
            </a:r>
            <a:r>
              <a:rPr lang="en-US" dirty="0"/>
              <a:t> de </a:t>
            </a:r>
            <a:r>
              <a:rPr lang="en-US" dirty="0" err="1"/>
              <a:t>Antrenare</a:t>
            </a:r>
            <a:endParaRPr lang="en-US" dirty="0"/>
          </a:p>
        </p:txBody>
      </p:sp>
      <p:graphicFrame>
        <p:nvGraphicFramePr>
          <p:cNvPr id="7" name="Rectangle 2">
            <a:extLst>
              <a:ext uri="{FF2B5EF4-FFF2-40B4-BE49-F238E27FC236}">
                <a16:creationId xmlns:a16="http://schemas.microsoft.com/office/drawing/2014/main" id="{2309857F-3878-1655-090A-95A67DBEB5F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141412" y="2249487"/>
          <a:ext cx="9905999" cy="35417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9429214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7" grpId="0">
        <p:bldAsOne/>
      </p:bldGraphic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stituent text 2">
            <a:extLst>
              <a:ext uri="{FF2B5EF4-FFF2-40B4-BE49-F238E27FC236}">
                <a16:creationId xmlns:a16="http://schemas.microsoft.com/office/drawing/2014/main" id="{2C433C17-3D57-E6F9-A003-15590775BF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5713" y="963611"/>
            <a:ext cx="4649783" cy="823912"/>
          </a:xfrm>
        </p:spPr>
        <p:txBody>
          <a:bodyPr>
            <a:normAutofit/>
          </a:bodyPr>
          <a:lstStyle/>
          <a:p>
            <a:r>
              <a:rPr lang="en-US" sz="3200" dirty="0" err="1"/>
              <a:t>Metrici</a:t>
            </a:r>
            <a:r>
              <a:rPr lang="en-US" sz="3200" dirty="0"/>
              <a:t> de </a:t>
            </a:r>
            <a:r>
              <a:rPr lang="en-US" sz="3200" dirty="0" err="1"/>
              <a:t>Evaluare</a:t>
            </a:r>
            <a:endParaRPr lang="en-US" sz="3200" dirty="0"/>
          </a:p>
        </p:txBody>
      </p:sp>
      <p:sp>
        <p:nvSpPr>
          <p:cNvPr id="4" name="Substituent conținut 3">
            <a:extLst>
              <a:ext uri="{FF2B5EF4-FFF2-40B4-BE49-F238E27FC236}">
                <a16:creationId xmlns:a16="http://schemas.microsoft.com/office/drawing/2014/main" id="{65659486-DE8C-D626-634B-A51C5FD54D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41410" y="2235197"/>
            <a:ext cx="4878391" cy="2717801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/>
              <a:t>Accuracy</a:t>
            </a:r>
            <a:endParaRPr lang="en-US" dirty="0"/>
          </a:p>
          <a:p>
            <a:r>
              <a:rPr lang="en-US" dirty="0" err="1"/>
              <a:t>Procent</a:t>
            </a:r>
            <a:r>
              <a:rPr lang="en-US" dirty="0"/>
              <a:t> </a:t>
            </a:r>
            <a:r>
              <a:rPr lang="en-US" dirty="0" err="1"/>
              <a:t>predicții</a:t>
            </a:r>
            <a:r>
              <a:rPr lang="en-US" dirty="0"/>
              <a:t> </a:t>
            </a:r>
            <a:r>
              <a:rPr lang="en-US" dirty="0" err="1"/>
              <a:t>corecte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F1-score</a:t>
            </a:r>
            <a:endParaRPr lang="en-US" dirty="0"/>
          </a:p>
          <a:p>
            <a:r>
              <a:rPr lang="en-US" dirty="0"/>
              <a:t>Media </a:t>
            </a:r>
            <a:r>
              <a:rPr lang="en-US" dirty="0" err="1"/>
              <a:t>armonică</a:t>
            </a:r>
            <a:r>
              <a:rPr lang="en-US" dirty="0"/>
              <a:t> </a:t>
            </a:r>
            <a:r>
              <a:rPr lang="en-US" dirty="0" err="1"/>
              <a:t>între</a:t>
            </a:r>
            <a:r>
              <a:rPr lang="en-US" dirty="0"/>
              <a:t> precision </a:t>
            </a:r>
            <a:r>
              <a:rPr lang="en-US" dirty="0" err="1"/>
              <a:t>și</a:t>
            </a:r>
            <a:r>
              <a:rPr lang="en-US" dirty="0"/>
              <a:t> recall</a:t>
            </a:r>
          </a:p>
          <a:p>
            <a:pPr marL="0" indent="0">
              <a:buNone/>
            </a:pPr>
            <a:r>
              <a:rPr lang="en-US" b="1" dirty="0"/>
              <a:t>Confusion Matrix</a:t>
            </a:r>
            <a:endParaRPr lang="en-US" dirty="0"/>
          </a:p>
          <a:p>
            <a:r>
              <a:rPr lang="en-US" dirty="0"/>
              <a:t>Analiza </a:t>
            </a:r>
            <a:r>
              <a:rPr lang="en-US" dirty="0" err="1"/>
              <a:t>tipurilor</a:t>
            </a:r>
            <a:r>
              <a:rPr lang="en-US" dirty="0"/>
              <a:t> de </a:t>
            </a:r>
            <a:r>
              <a:rPr lang="en-US" dirty="0" err="1"/>
              <a:t>erori</a:t>
            </a:r>
            <a:endParaRPr lang="en-US" dirty="0"/>
          </a:p>
          <a:p>
            <a:endParaRPr lang="en-US" dirty="0"/>
          </a:p>
        </p:txBody>
      </p:sp>
      <p:sp>
        <p:nvSpPr>
          <p:cNvPr id="5" name="Substituent text 4">
            <a:extLst>
              <a:ext uri="{FF2B5EF4-FFF2-40B4-BE49-F238E27FC236}">
                <a16:creationId xmlns:a16="http://schemas.microsoft.com/office/drawing/2014/main" id="{2DB42BD7-35EC-E3F3-109A-D689D1ECE8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00811" y="963611"/>
            <a:ext cx="4646602" cy="823912"/>
          </a:xfrm>
        </p:spPr>
        <p:txBody>
          <a:bodyPr>
            <a:normAutofit/>
          </a:bodyPr>
          <a:lstStyle/>
          <a:p>
            <a:r>
              <a:rPr lang="en-US" sz="3200" dirty="0" err="1"/>
              <a:t>Rezultate</a:t>
            </a:r>
            <a:r>
              <a:rPr lang="en-US" sz="3200" dirty="0"/>
              <a:t> Finale</a:t>
            </a:r>
          </a:p>
        </p:txBody>
      </p:sp>
      <p:graphicFrame>
        <p:nvGraphicFramePr>
          <p:cNvPr id="9" name="Substituent conținut 8">
            <a:extLst>
              <a:ext uri="{FF2B5EF4-FFF2-40B4-BE49-F238E27FC236}">
                <a16:creationId xmlns:a16="http://schemas.microsoft.com/office/drawing/2014/main" id="{459B7A66-989C-2212-5CC5-2F12227693E3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3544303534"/>
              </p:ext>
            </p:extLst>
          </p:nvPr>
        </p:nvGraphicFramePr>
        <p:xfrm>
          <a:off x="6019801" y="2352676"/>
          <a:ext cx="5734050" cy="2708910"/>
        </p:xfrm>
        <a:graphic>
          <a:graphicData uri="http://schemas.openxmlformats.org/drawingml/2006/table">
            <a:tbl>
              <a:tblPr firstRow="1" firstCol="1">
                <a:tableStyleId>{3C2FFA5D-87B4-456A-9821-1D502468CF0F}</a:tableStyleId>
              </a:tblPr>
              <a:tblGrid>
                <a:gridCol w="1911350">
                  <a:extLst>
                    <a:ext uri="{9D8B030D-6E8A-4147-A177-3AD203B41FA5}">
                      <a16:colId xmlns:a16="http://schemas.microsoft.com/office/drawing/2014/main" val="1134961084"/>
                    </a:ext>
                  </a:extLst>
                </a:gridCol>
                <a:gridCol w="1911350">
                  <a:extLst>
                    <a:ext uri="{9D8B030D-6E8A-4147-A177-3AD203B41FA5}">
                      <a16:colId xmlns:a16="http://schemas.microsoft.com/office/drawing/2014/main" val="947197079"/>
                    </a:ext>
                  </a:extLst>
                </a:gridCol>
                <a:gridCol w="1911350">
                  <a:extLst>
                    <a:ext uri="{9D8B030D-6E8A-4147-A177-3AD203B41FA5}">
                      <a16:colId xmlns:a16="http://schemas.microsoft.com/office/drawing/2014/main" val="3203726236"/>
                    </a:ext>
                  </a:extLst>
                </a:gridCol>
              </a:tblGrid>
              <a:tr h="4514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Model</a:t>
                      </a:r>
                    </a:p>
                  </a:txBody>
                  <a:tcPr marL="45002" marR="45002" marT="22501" marB="225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Accuracy</a:t>
                      </a:r>
                    </a:p>
                  </a:txBody>
                  <a:tcPr marL="45002" marR="45002" marT="22501" marB="225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F1</a:t>
                      </a:r>
                    </a:p>
                  </a:txBody>
                  <a:tcPr marL="45002" marR="45002" marT="22501" marB="22501" anchor="ctr"/>
                </a:tc>
                <a:extLst>
                  <a:ext uri="{0D108BD9-81ED-4DB2-BD59-A6C34878D82A}">
                    <a16:rowId xmlns:a16="http://schemas.microsoft.com/office/drawing/2014/main" val="3145870603"/>
                  </a:ext>
                </a:extLst>
              </a:tr>
              <a:tr h="4514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Simple RNN</a:t>
                      </a:r>
                    </a:p>
                  </a:txBody>
                  <a:tcPr marL="45002" marR="45002" marT="22501" marB="225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0.5050</a:t>
                      </a:r>
                    </a:p>
                  </a:txBody>
                  <a:tcPr marL="45002" marR="45002" marT="22501" marB="225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0.5160</a:t>
                      </a:r>
                    </a:p>
                  </a:txBody>
                  <a:tcPr marL="45002" marR="45002" marT="22501" marB="22501" anchor="ctr"/>
                </a:tc>
                <a:extLst>
                  <a:ext uri="{0D108BD9-81ED-4DB2-BD59-A6C34878D82A}">
                    <a16:rowId xmlns:a16="http://schemas.microsoft.com/office/drawing/2014/main" val="2761926997"/>
                  </a:ext>
                </a:extLst>
              </a:tr>
              <a:tr h="4514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LSTM</a:t>
                      </a:r>
                    </a:p>
                  </a:txBody>
                  <a:tcPr marL="45002" marR="45002" marT="22501" marB="225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0.8658</a:t>
                      </a:r>
                    </a:p>
                  </a:txBody>
                  <a:tcPr marL="45002" marR="45002" marT="22501" marB="225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0.8645</a:t>
                      </a:r>
                    </a:p>
                  </a:txBody>
                  <a:tcPr marL="45002" marR="45002" marT="22501" marB="22501" anchor="ctr"/>
                </a:tc>
                <a:extLst>
                  <a:ext uri="{0D108BD9-81ED-4DB2-BD59-A6C34878D82A}">
                    <a16:rowId xmlns:a16="http://schemas.microsoft.com/office/drawing/2014/main" val="1717634746"/>
                  </a:ext>
                </a:extLst>
              </a:tr>
              <a:tr h="4514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GRU</a:t>
                      </a:r>
                    </a:p>
                  </a:txBody>
                  <a:tcPr marL="45002" marR="45002" marT="22501" marB="225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0.8818</a:t>
                      </a:r>
                    </a:p>
                  </a:txBody>
                  <a:tcPr marL="45002" marR="45002" marT="22501" marB="225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0.8859</a:t>
                      </a:r>
                    </a:p>
                  </a:txBody>
                  <a:tcPr marL="45002" marR="45002" marT="22501" marB="22501" anchor="ctr"/>
                </a:tc>
                <a:extLst>
                  <a:ext uri="{0D108BD9-81ED-4DB2-BD59-A6C34878D82A}">
                    <a16:rowId xmlns:a16="http://schemas.microsoft.com/office/drawing/2014/main" val="3510496285"/>
                  </a:ext>
                </a:extLst>
              </a:tr>
              <a:tr h="4514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BiLSTM</a:t>
                      </a:r>
                    </a:p>
                  </a:txBody>
                  <a:tcPr marL="45002" marR="45002" marT="22501" marB="225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0.8749</a:t>
                      </a:r>
                    </a:p>
                  </a:txBody>
                  <a:tcPr marL="45002" marR="45002" marT="22501" marB="225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0.8755</a:t>
                      </a:r>
                    </a:p>
                  </a:txBody>
                  <a:tcPr marL="45002" marR="45002" marT="22501" marB="22501" anchor="ctr"/>
                </a:tc>
                <a:extLst>
                  <a:ext uri="{0D108BD9-81ED-4DB2-BD59-A6C34878D82A}">
                    <a16:rowId xmlns:a16="http://schemas.microsoft.com/office/drawing/2014/main" val="3200985301"/>
                  </a:ext>
                </a:extLst>
              </a:tr>
              <a:tr h="4514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 err="1"/>
                        <a:t>LSTM+GloVe</a:t>
                      </a:r>
                      <a:endParaRPr lang="en-US" sz="900" dirty="0"/>
                    </a:p>
                  </a:txBody>
                  <a:tcPr marL="45002" marR="45002" marT="22501" marB="225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0.8577</a:t>
                      </a:r>
                    </a:p>
                  </a:txBody>
                  <a:tcPr marL="45002" marR="45002" marT="22501" marB="225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0.8565</a:t>
                      </a:r>
                    </a:p>
                  </a:txBody>
                  <a:tcPr marL="45002" marR="45002" marT="22501" marB="22501" anchor="ctr"/>
                </a:tc>
                <a:extLst>
                  <a:ext uri="{0D108BD9-81ED-4DB2-BD59-A6C34878D82A}">
                    <a16:rowId xmlns:a16="http://schemas.microsoft.com/office/drawing/2014/main" val="2665155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621292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  <p:bldP spid="5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stituent text 2">
            <a:extLst>
              <a:ext uri="{FF2B5EF4-FFF2-40B4-BE49-F238E27FC236}">
                <a16:creationId xmlns:a16="http://schemas.microsoft.com/office/drawing/2014/main" id="{657B62AF-05BA-DBC7-3171-25FC0F155D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8088" y="1803084"/>
            <a:ext cx="4649783" cy="823912"/>
          </a:xfrm>
        </p:spPr>
        <p:txBody>
          <a:bodyPr>
            <a:normAutofit fontScale="92500"/>
          </a:bodyPr>
          <a:lstStyle/>
          <a:p>
            <a:r>
              <a:rPr lang="en-US" sz="3600" dirty="0"/>
              <a:t>Analiza </a:t>
            </a:r>
            <a:r>
              <a:rPr lang="en-US" sz="3600" dirty="0" err="1"/>
              <a:t>Comparativă</a:t>
            </a:r>
            <a:endParaRPr lang="en-US" sz="3600" dirty="0"/>
          </a:p>
        </p:txBody>
      </p:sp>
      <p:sp>
        <p:nvSpPr>
          <p:cNvPr id="5" name="Substituent text 4">
            <a:extLst>
              <a:ext uri="{FF2B5EF4-FFF2-40B4-BE49-F238E27FC236}">
                <a16:creationId xmlns:a16="http://schemas.microsoft.com/office/drawing/2014/main" id="{058ED511-32EE-F194-72EB-B7AA598B6B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29396" y="190499"/>
            <a:ext cx="4646602" cy="656983"/>
          </a:xfrm>
        </p:spPr>
        <p:txBody>
          <a:bodyPr>
            <a:normAutofit fontScale="92500"/>
          </a:bodyPr>
          <a:lstStyle/>
          <a:p>
            <a:r>
              <a:rPr lang="ro-RO" dirty="0"/>
              <a:t>Rezultate simple </a:t>
            </a:r>
            <a:r>
              <a:rPr lang="ro-RO" dirty="0" err="1"/>
              <a:t>rnn</a:t>
            </a:r>
            <a:endParaRPr lang="en-US" dirty="0"/>
          </a:p>
        </p:txBody>
      </p:sp>
      <p:pic>
        <p:nvPicPr>
          <p:cNvPr id="9" name="Substituent conținut 8" descr="O imagine care conține text, captură de ecran, linie, Interval&#10;&#10;Conținutul generat de inteligența artificială poate fi incorect.">
            <a:extLst>
              <a:ext uri="{FF2B5EF4-FFF2-40B4-BE49-F238E27FC236}">
                <a16:creationId xmlns:a16="http://schemas.microsoft.com/office/drawing/2014/main" id="{19F5C513-877B-AF2F-E806-CF0C1F6725DB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429396" y="1001080"/>
            <a:ext cx="4875213" cy="242792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FB5FD2D7-21AE-AAAB-C1A8-0D7039433597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1093785" y="2664934"/>
            <a:ext cx="4503220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Simple RNN: baseline slab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LSTM: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stabilitate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și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performanță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ridicată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GRU: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eficiență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și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viteză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BiLSTM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complexitate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mare → overfitting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800" dirty="0" err="1">
                <a:latin typeface="Arial" panose="020B0604020202020204" pitchFamily="34" charset="0"/>
              </a:rPr>
              <a:t>LSTM+GloVe</a:t>
            </a:r>
            <a:r>
              <a:rPr lang="en-US" altLang="en-US" sz="1800" dirty="0">
                <a:latin typeface="Arial" panose="020B0604020202020204" pitchFamily="34" charset="0"/>
              </a:rPr>
              <a:t>: </a:t>
            </a:r>
            <a:r>
              <a:rPr lang="en-US" altLang="en-US" sz="1800" dirty="0" err="1">
                <a:latin typeface="Arial" panose="020B0604020202020204" pitchFamily="34" charset="0"/>
              </a:rPr>
              <a:t>stabilitate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1" name="Imagine 10" descr="O imagine care conține text, captură de ecran, software, afișaj&#10;&#10;Conținutul generat de inteligența artificială poate fi incorect.">
            <a:extLst>
              <a:ext uri="{FF2B5EF4-FFF2-40B4-BE49-F238E27FC236}">
                <a16:creationId xmlns:a16="http://schemas.microsoft.com/office/drawing/2014/main" id="{2CB06FA3-241C-5251-49EC-B850F885FD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3425" y="3403597"/>
            <a:ext cx="2951184" cy="337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91480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build="p"/>
      <p:bldP spid="7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2">
            <a:extLst>
              <a:ext uri="{FF2B5EF4-FFF2-40B4-BE49-F238E27FC236}">
                <a16:creationId xmlns:a16="http://schemas.microsoft.com/office/drawing/2014/main" id="{5B367C29-5200-4FF1-83B7-18B105A0B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1" name="Group 60">
            <a:extLst>
              <a:ext uri="{FF2B5EF4-FFF2-40B4-BE49-F238E27FC236}">
                <a16:creationId xmlns:a16="http://schemas.microsoft.com/office/drawing/2014/main" id="{EC711491-7BB6-4BE6-A470-44BF61D562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FE4F104B-68BE-4E53-A6A5-5C5F93FF72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74" name="Rectangle 5">
                <a:extLst>
                  <a:ext uri="{FF2B5EF4-FFF2-40B4-BE49-F238E27FC236}">
                    <a16:creationId xmlns:a16="http://schemas.microsoft.com/office/drawing/2014/main" id="{EF4A7076-D6BC-4AE1-AE2C-C09B16AAB4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" name="Freeform 6">
                <a:extLst>
                  <a:ext uri="{FF2B5EF4-FFF2-40B4-BE49-F238E27FC236}">
                    <a16:creationId xmlns:a16="http://schemas.microsoft.com/office/drawing/2014/main" id="{58FA119B-7250-4EC7-912F-F5613CC281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6" name="Freeform 7">
                <a:extLst>
                  <a:ext uri="{FF2B5EF4-FFF2-40B4-BE49-F238E27FC236}">
                    <a16:creationId xmlns:a16="http://schemas.microsoft.com/office/drawing/2014/main" id="{7B9A9AED-D47E-44AD-AD6E-2EECC94D88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7" name="Freeform 8">
                <a:extLst>
                  <a:ext uri="{FF2B5EF4-FFF2-40B4-BE49-F238E27FC236}">
                    <a16:creationId xmlns:a16="http://schemas.microsoft.com/office/drawing/2014/main" id="{00A30ECA-328D-4512-825B-0AD59604678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Freeform 9">
                <a:extLst>
                  <a:ext uri="{FF2B5EF4-FFF2-40B4-BE49-F238E27FC236}">
                    <a16:creationId xmlns:a16="http://schemas.microsoft.com/office/drawing/2014/main" id="{14A218CE-B3D8-4A43-86CC-48980645AC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9" name="Freeform 10">
                <a:extLst>
                  <a:ext uri="{FF2B5EF4-FFF2-40B4-BE49-F238E27FC236}">
                    <a16:creationId xmlns:a16="http://schemas.microsoft.com/office/drawing/2014/main" id="{E9743B7D-51BF-425C-A4B8-33B2E001EF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0" name="Freeform 11">
                <a:extLst>
                  <a:ext uri="{FF2B5EF4-FFF2-40B4-BE49-F238E27FC236}">
                    <a16:creationId xmlns:a16="http://schemas.microsoft.com/office/drawing/2014/main" id="{9BA633B3-C879-4E15-B66C-788B4C60A1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1" name="Freeform 12">
                <a:extLst>
                  <a:ext uri="{FF2B5EF4-FFF2-40B4-BE49-F238E27FC236}">
                    <a16:creationId xmlns:a16="http://schemas.microsoft.com/office/drawing/2014/main" id="{324C8953-B4E2-4DA0-B5D5-BD2A735E67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Freeform 13">
                <a:extLst>
                  <a:ext uri="{FF2B5EF4-FFF2-40B4-BE49-F238E27FC236}">
                    <a16:creationId xmlns:a16="http://schemas.microsoft.com/office/drawing/2014/main" id="{717A3B65-FE80-419B-AB5D-48B5E3A7B4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3" name="Freeform 14">
                <a:extLst>
                  <a:ext uri="{FF2B5EF4-FFF2-40B4-BE49-F238E27FC236}">
                    <a16:creationId xmlns:a16="http://schemas.microsoft.com/office/drawing/2014/main" id="{675ECD78-7D6B-4A3F-8163-392D7F8D69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4" name="Freeform 15">
                <a:extLst>
                  <a:ext uri="{FF2B5EF4-FFF2-40B4-BE49-F238E27FC236}">
                    <a16:creationId xmlns:a16="http://schemas.microsoft.com/office/drawing/2014/main" id="{8D036282-E32F-461D-BFB6-2A58D6D27AC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" name="Line 16">
                <a:extLst>
                  <a:ext uri="{FF2B5EF4-FFF2-40B4-BE49-F238E27FC236}">
                    <a16:creationId xmlns:a16="http://schemas.microsoft.com/office/drawing/2014/main" id="{F95EB10E-5264-467D-8382-A77C4DED25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6" name="Freeform 17">
                <a:extLst>
                  <a:ext uri="{FF2B5EF4-FFF2-40B4-BE49-F238E27FC236}">
                    <a16:creationId xmlns:a16="http://schemas.microsoft.com/office/drawing/2014/main" id="{218F9268-D2F0-487B-A021-8786B65518D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7" name="Freeform 18">
                <a:extLst>
                  <a:ext uri="{FF2B5EF4-FFF2-40B4-BE49-F238E27FC236}">
                    <a16:creationId xmlns:a16="http://schemas.microsoft.com/office/drawing/2014/main" id="{B4AEE5AC-EF5C-42E4-B185-A176E19976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8" name="Freeform 19">
                <a:extLst>
                  <a:ext uri="{FF2B5EF4-FFF2-40B4-BE49-F238E27FC236}">
                    <a16:creationId xmlns:a16="http://schemas.microsoft.com/office/drawing/2014/main" id="{E961E89F-C1DB-48E5-8B52-FDDAED9E0E4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" name="Freeform 20">
                <a:extLst>
                  <a:ext uri="{FF2B5EF4-FFF2-40B4-BE49-F238E27FC236}">
                    <a16:creationId xmlns:a16="http://schemas.microsoft.com/office/drawing/2014/main" id="{412962B4-425A-4C36-A65A-0F66ED7CD3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" name="Rectangle 21">
                <a:extLst>
                  <a:ext uri="{FF2B5EF4-FFF2-40B4-BE49-F238E27FC236}">
                    <a16:creationId xmlns:a16="http://schemas.microsoft.com/office/drawing/2014/main" id="{037BE3F7-563A-4D9A-BC98-C71F727D23A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1" name="Freeform 22">
                <a:extLst>
                  <a:ext uri="{FF2B5EF4-FFF2-40B4-BE49-F238E27FC236}">
                    <a16:creationId xmlns:a16="http://schemas.microsoft.com/office/drawing/2014/main" id="{2FDB1005-EB5E-475A-AC43-4ED3E563DE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Freeform 23">
                <a:extLst>
                  <a:ext uri="{FF2B5EF4-FFF2-40B4-BE49-F238E27FC236}">
                    <a16:creationId xmlns:a16="http://schemas.microsoft.com/office/drawing/2014/main" id="{68BFFBC6-C704-42A7-9D7E-AFB5C37FBDA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3" name="Freeform 24">
                <a:extLst>
                  <a:ext uri="{FF2B5EF4-FFF2-40B4-BE49-F238E27FC236}">
                    <a16:creationId xmlns:a16="http://schemas.microsoft.com/office/drawing/2014/main" id="{4888EAD7-EBE9-4549-9A91-6FEC611536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4" name="Freeform 25">
                <a:extLst>
                  <a:ext uri="{FF2B5EF4-FFF2-40B4-BE49-F238E27FC236}">
                    <a16:creationId xmlns:a16="http://schemas.microsoft.com/office/drawing/2014/main" id="{B79BC975-BE42-4B57-8335-1699BC0AB1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5" name="Freeform 26">
                <a:extLst>
                  <a:ext uri="{FF2B5EF4-FFF2-40B4-BE49-F238E27FC236}">
                    <a16:creationId xmlns:a16="http://schemas.microsoft.com/office/drawing/2014/main" id="{3998B4F0-CA80-490A-A256-1600E7EA886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6" name="Freeform 27">
                <a:extLst>
                  <a:ext uri="{FF2B5EF4-FFF2-40B4-BE49-F238E27FC236}">
                    <a16:creationId xmlns:a16="http://schemas.microsoft.com/office/drawing/2014/main" id="{2052C104-8168-487E-9044-454DA83AB2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Freeform 28">
                <a:extLst>
                  <a:ext uri="{FF2B5EF4-FFF2-40B4-BE49-F238E27FC236}">
                    <a16:creationId xmlns:a16="http://schemas.microsoft.com/office/drawing/2014/main" id="{63ACA30B-5F59-400C-A7CE-D17B5647EE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8" name="Freeform 29">
                <a:extLst>
                  <a:ext uri="{FF2B5EF4-FFF2-40B4-BE49-F238E27FC236}">
                    <a16:creationId xmlns:a16="http://schemas.microsoft.com/office/drawing/2014/main" id="{2E16F318-A142-4353-9949-B4E3A09FE0B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9" name="Freeform 30">
                <a:extLst>
                  <a:ext uri="{FF2B5EF4-FFF2-40B4-BE49-F238E27FC236}">
                    <a16:creationId xmlns:a16="http://schemas.microsoft.com/office/drawing/2014/main" id="{8AE8DBB4-2468-4A78-A54D-FD77C5DC88A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0" name="Freeform 31">
                <a:extLst>
                  <a:ext uri="{FF2B5EF4-FFF2-40B4-BE49-F238E27FC236}">
                    <a16:creationId xmlns:a16="http://schemas.microsoft.com/office/drawing/2014/main" id="{B0E7CEF2-11E4-465C-8F1F-AA8367F96A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88B30AFD-E104-45DD-BFBB-5A41F1413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64" name="Freeform 32">
                <a:extLst>
                  <a:ext uri="{FF2B5EF4-FFF2-40B4-BE49-F238E27FC236}">
                    <a16:creationId xmlns:a16="http://schemas.microsoft.com/office/drawing/2014/main" id="{CE45A3DF-350B-4A5E-AEBE-F0F280AD037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" name="Freeform 33">
                <a:extLst>
                  <a:ext uri="{FF2B5EF4-FFF2-40B4-BE49-F238E27FC236}">
                    <a16:creationId xmlns:a16="http://schemas.microsoft.com/office/drawing/2014/main" id="{966D2640-A438-4FB6-B781-5A52DEC85C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" name="Freeform 34">
                <a:extLst>
                  <a:ext uri="{FF2B5EF4-FFF2-40B4-BE49-F238E27FC236}">
                    <a16:creationId xmlns:a16="http://schemas.microsoft.com/office/drawing/2014/main" id="{34E1EFFF-720C-4CC0-9F95-DD1DAF99AD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" name="Freeform 35">
                <a:extLst>
                  <a:ext uri="{FF2B5EF4-FFF2-40B4-BE49-F238E27FC236}">
                    <a16:creationId xmlns:a16="http://schemas.microsoft.com/office/drawing/2014/main" id="{EA7AB0E1-6C49-409D-86F5-BE00BDDFC0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" name="Freeform 36">
                <a:extLst>
                  <a:ext uri="{FF2B5EF4-FFF2-40B4-BE49-F238E27FC236}">
                    <a16:creationId xmlns:a16="http://schemas.microsoft.com/office/drawing/2014/main" id="{5D17598C-0C57-4F4E-8F6B-A2AD8071F8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" name="Freeform 37">
                <a:extLst>
                  <a:ext uri="{FF2B5EF4-FFF2-40B4-BE49-F238E27FC236}">
                    <a16:creationId xmlns:a16="http://schemas.microsoft.com/office/drawing/2014/main" id="{EBEBC0DC-F56F-48FE-824E-E9378C48976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" name="Freeform 38">
                <a:extLst>
                  <a:ext uri="{FF2B5EF4-FFF2-40B4-BE49-F238E27FC236}">
                    <a16:creationId xmlns:a16="http://schemas.microsoft.com/office/drawing/2014/main" id="{CC7FDCF1-1736-48A0-BDB2-87D6E09067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" name="Freeform 39">
                <a:extLst>
                  <a:ext uri="{FF2B5EF4-FFF2-40B4-BE49-F238E27FC236}">
                    <a16:creationId xmlns:a16="http://schemas.microsoft.com/office/drawing/2014/main" id="{2A650CF5-564F-44D1-AB08-6C500DD3CED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2" name="Freeform 40">
                <a:extLst>
                  <a:ext uri="{FF2B5EF4-FFF2-40B4-BE49-F238E27FC236}">
                    <a16:creationId xmlns:a16="http://schemas.microsoft.com/office/drawing/2014/main" id="{3108FEFA-0402-4C1C-AE39-5ADC09402F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3" name="Rectangle 41">
                <a:extLst>
                  <a:ext uri="{FF2B5EF4-FFF2-40B4-BE49-F238E27FC236}">
                    <a16:creationId xmlns:a16="http://schemas.microsoft.com/office/drawing/2014/main" id="{340AE827-F344-464F-851C-E03AFC98DC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u 1">
            <a:extLst>
              <a:ext uri="{FF2B5EF4-FFF2-40B4-BE49-F238E27FC236}">
                <a16:creationId xmlns:a16="http://schemas.microsoft.com/office/drawing/2014/main" id="{994D4499-C823-BB4D-F74F-12C44B12C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9957" y="618518"/>
            <a:ext cx="4747088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o-RO" dirty="0"/>
              <a:t>Rezultate </a:t>
            </a:r>
            <a:r>
              <a:rPr lang="ro-RO" dirty="0" err="1"/>
              <a:t>lstm</a:t>
            </a:r>
            <a:endParaRPr lang="en-US" dirty="0"/>
          </a:p>
        </p:txBody>
      </p:sp>
      <p:sp>
        <p:nvSpPr>
          <p:cNvPr id="102" name="Round Diagonal Corner Rectangle 9">
            <a:extLst>
              <a:ext uri="{FF2B5EF4-FFF2-40B4-BE49-F238E27FC236}">
                <a16:creationId xmlns:a16="http://schemas.microsoft.com/office/drawing/2014/main" id="{14436AD2-BD0F-4545-B2E9-06007B35B8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950" y="808057"/>
            <a:ext cx="5286376" cy="5234394"/>
          </a:xfrm>
          <a:prstGeom prst="round2DiagRect">
            <a:avLst>
              <a:gd name="adj1" fmla="val 7418"/>
              <a:gd name="adj2" fmla="val 0"/>
            </a:avLst>
          </a:prstGeom>
          <a:solidFill>
            <a:srgbClr val="FFFFFF"/>
          </a:solidFill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Substituent conținut 5" descr="O imagine care conține text, captură de ecran, diagramă, Interval&#10;&#10;Conținutul generat de inteligența artificială poate fi incorect.">
            <a:extLst>
              <a:ext uri="{FF2B5EF4-FFF2-40B4-BE49-F238E27FC236}">
                <a16:creationId xmlns:a16="http://schemas.microsoft.com/office/drawing/2014/main" id="{CC9AE493-0C2E-C08E-B688-77E5B634462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1118988" y="1165390"/>
            <a:ext cx="4635583" cy="4531282"/>
          </a:xfrm>
          <a:prstGeom prst="rect">
            <a:avLst/>
          </a:prstGeom>
        </p:spPr>
      </p:pic>
      <p:pic>
        <p:nvPicPr>
          <p:cNvPr id="8" name="Substituent conținut 7" descr="O imagine care conține text, captură de ecran, afișaj, software&#10;&#10;Conținutul generat de inteligența artificială poate fi incorect.">
            <a:extLst>
              <a:ext uri="{FF2B5EF4-FFF2-40B4-BE49-F238E27FC236}">
                <a16:creationId xmlns:a16="http://schemas.microsoft.com/office/drawing/2014/main" id="{46E05D01-253F-7978-85D0-6BC748640F4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6565194" y="1591574"/>
            <a:ext cx="3681681" cy="4450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81525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2">
            <a:extLst>
              <a:ext uri="{FF2B5EF4-FFF2-40B4-BE49-F238E27FC236}">
                <a16:creationId xmlns:a16="http://schemas.microsoft.com/office/drawing/2014/main" id="{5B367C29-5200-4FF1-83B7-18B105A0B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EC711491-7BB6-4BE6-A470-44BF61D562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E4F104B-68BE-4E53-A6A5-5C5F93FF72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30" name="Rectangle 5">
                <a:extLst>
                  <a:ext uri="{FF2B5EF4-FFF2-40B4-BE49-F238E27FC236}">
                    <a16:creationId xmlns:a16="http://schemas.microsoft.com/office/drawing/2014/main" id="{EF4A7076-D6BC-4AE1-AE2C-C09B16AAB4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6">
                <a:extLst>
                  <a:ext uri="{FF2B5EF4-FFF2-40B4-BE49-F238E27FC236}">
                    <a16:creationId xmlns:a16="http://schemas.microsoft.com/office/drawing/2014/main" id="{58FA119B-7250-4EC7-912F-F5613CC281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Freeform 7">
                <a:extLst>
                  <a:ext uri="{FF2B5EF4-FFF2-40B4-BE49-F238E27FC236}">
                    <a16:creationId xmlns:a16="http://schemas.microsoft.com/office/drawing/2014/main" id="{7B9A9AED-D47E-44AD-AD6E-2EECC94D88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8">
                <a:extLst>
                  <a:ext uri="{FF2B5EF4-FFF2-40B4-BE49-F238E27FC236}">
                    <a16:creationId xmlns:a16="http://schemas.microsoft.com/office/drawing/2014/main" id="{00A30ECA-328D-4512-825B-0AD59604678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9">
                <a:extLst>
                  <a:ext uri="{FF2B5EF4-FFF2-40B4-BE49-F238E27FC236}">
                    <a16:creationId xmlns:a16="http://schemas.microsoft.com/office/drawing/2014/main" id="{14A218CE-B3D8-4A43-86CC-48980645AC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0">
                <a:extLst>
                  <a:ext uri="{FF2B5EF4-FFF2-40B4-BE49-F238E27FC236}">
                    <a16:creationId xmlns:a16="http://schemas.microsoft.com/office/drawing/2014/main" id="{E9743B7D-51BF-425C-A4B8-33B2E001EF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11">
                <a:extLst>
                  <a:ext uri="{FF2B5EF4-FFF2-40B4-BE49-F238E27FC236}">
                    <a16:creationId xmlns:a16="http://schemas.microsoft.com/office/drawing/2014/main" id="{9BA633B3-C879-4E15-B66C-788B4C60A1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Freeform 12">
                <a:extLst>
                  <a:ext uri="{FF2B5EF4-FFF2-40B4-BE49-F238E27FC236}">
                    <a16:creationId xmlns:a16="http://schemas.microsoft.com/office/drawing/2014/main" id="{324C8953-B4E2-4DA0-B5D5-BD2A735E67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13">
                <a:extLst>
                  <a:ext uri="{FF2B5EF4-FFF2-40B4-BE49-F238E27FC236}">
                    <a16:creationId xmlns:a16="http://schemas.microsoft.com/office/drawing/2014/main" id="{717A3B65-FE80-419B-AB5D-48B5E3A7B4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14">
                <a:extLst>
                  <a:ext uri="{FF2B5EF4-FFF2-40B4-BE49-F238E27FC236}">
                    <a16:creationId xmlns:a16="http://schemas.microsoft.com/office/drawing/2014/main" id="{675ECD78-7D6B-4A3F-8163-392D7F8D69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15">
                <a:extLst>
                  <a:ext uri="{FF2B5EF4-FFF2-40B4-BE49-F238E27FC236}">
                    <a16:creationId xmlns:a16="http://schemas.microsoft.com/office/drawing/2014/main" id="{8D036282-E32F-461D-BFB6-2A58D6D27AC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Line 16">
                <a:extLst>
                  <a:ext uri="{FF2B5EF4-FFF2-40B4-BE49-F238E27FC236}">
                    <a16:creationId xmlns:a16="http://schemas.microsoft.com/office/drawing/2014/main" id="{F95EB10E-5264-467D-8382-A77C4DED25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17">
                <a:extLst>
                  <a:ext uri="{FF2B5EF4-FFF2-40B4-BE49-F238E27FC236}">
                    <a16:creationId xmlns:a16="http://schemas.microsoft.com/office/drawing/2014/main" id="{218F9268-D2F0-487B-A021-8786B65518D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18">
                <a:extLst>
                  <a:ext uri="{FF2B5EF4-FFF2-40B4-BE49-F238E27FC236}">
                    <a16:creationId xmlns:a16="http://schemas.microsoft.com/office/drawing/2014/main" id="{B4AEE5AC-EF5C-42E4-B185-A176E19976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19">
                <a:extLst>
                  <a:ext uri="{FF2B5EF4-FFF2-40B4-BE49-F238E27FC236}">
                    <a16:creationId xmlns:a16="http://schemas.microsoft.com/office/drawing/2014/main" id="{E961E89F-C1DB-48E5-8B52-FDDAED9E0E4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0">
                <a:extLst>
                  <a:ext uri="{FF2B5EF4-FFF2-40B4-BE49-F238E27FC236}">
                    <a16:creationId xmlns:a16="http://schemas.microsoft.com/office/drawing/2014/main" id="{412962B4-425A-4C36-A65A-0F66ED7CD3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Rectangle 21">
                <a:extLst>
                  <a:ext uri="{FF2B5EF4-FFF2-40B4-BE49-F238E27FC236}">
                    <a16:creationId xmlns:a16="http://schemas.microsoft.com/office/drawing/2014/main" id="{037BE3F7-563A-4D9A-BC98-C71F727D23A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22">
                <a:extLst>
                  <a:ext uri="{FF2B5EF4-FFF2-40B4-BE49-F238E27FC236}">
                    <a16:creationId xmlns:a16="http://schemas.microsoft.com/office/drawing/2014/main" id="{2FDB1005-EB5E-475A-AC43-4ED3E563DE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Freeform 23">
                <a:extLst>
                  <a:ext uri="{FF2B5EF4-FFF2-40B4-BE49-F238E27FC236}">
                    <a16:creationId xmlns:a16="http://schemas.microsoft.com/office/drawing/2014/main" id="{68BFFBC6-C704-42A7-9D7E-AFB5C37FBDA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" name="Freeform 24">
                <a:extLst>
                  <a:ext uri="{FF2B5EF4-FFF2-40B4-BE49-F238E27FC236}">
                    <a16:creationId xmlns:a16="http://schemas.microsoft.com/office/drawing/2014/main" id="{4888EAD7-EBE9-4549-9A91-6FEC611536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" name="Freeform 25">
                <a:extLst>
                  <a:ext uri="{FF2B5EF4-FFF2-40B4-BE49-F238E27FC236}">
                    <a16:creationId xmlns:a16="http://schemas.microsoft.com/office/drawing/2014/main" id="{B79BC975-BE42-4B57-8335-1699BC0AB1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" name="Freeform 26">
                <a:extLst>
                  <a:ext uri="{FF2B5EF4-FFF2-40B4-BE49-F238E27FC236}">
                    <a16:creationId xmlns:a16="http://schemas.microsoft.com/office/drawing/2014/main" id="{3998B4F0-CA80-490A-A256-1600E7EA886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" name="Freeform 27">
                <a:extLst>
                  <a:ext uri="{FF2B5EF4-FFF2-40B4-BE49-F238E27FC236}">
                    <a16:creationId xmlns:a16="http://schemas.microsoft.com/office/drawing/2014/main" id="{2052C104-8168-487E-9044-454DA83AB2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" name="Freeform 28">
                <a:extLst>
                  <a:ext uri="{FF2B5EF4-FFF2-40B4-BE49-F238E27FC236}">
                    <a16:creationId xmlns:a16="http://schemas.microsoft.com/office/drawing/2014/main" id="{63ACA30B-5F59-400C-A7CE-D17B5647EE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" name="Freeform 29">
                <a:extLst>
                  <a:ext uri="{FF2B5EF4-FFF2-40B4-BE49-F238E27FC236}">
                    <a16:creationId xmlns:a16="http://schemas.microsoft.com/office/drawing/2014/main" id="{2E16F318-A142-4353-9949-B4E3A09FE0B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" name="Freeform 30">
                <a:extLst>
                  <a:ext uri="{FF2B5EF4-FFF2-40B4-BE49-F238E27FC236}">
                    <a16:creationId xmlns:a16="http://schemas.microsoft.com/office/drawing/2014/main" id="{8AE8DBB4-2468-4A78-A54D-FD77C5DC88A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" name="Freeform 31">
                <a:extLst>
                  <a:ext uri="{FF2B5EF4-FFF2-40B4-BE49-F238E27FC236}">
                    <a16:creationId xmlns:a16="http://schemas.microsoft.com/office/drawing/2014/main" id="{B0E7CEF2-11E4-465C-8F1F-AA8367F96A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88B30AFD-E104-45DD-BFBB-5A41F1413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20" name="Freeform 32">
                <a:extLst>
                  <a:ext uri="{FF2B5EF4-FFF2-40B4-BE49-F238E27FC236}">
                    <a16:creationId xmlns:a16="http://schemas.microsoft.com/office/drawing/2014/main" id="{CE45A3DF-350B-4A5E-AEBE-F0F280AD037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33">
                <a:extLst>
                  <a:ext uri="{FF2B5EF4-FFF2-40B4-BE49-F238E27FC236}">
                    <a16:creationId xmlns:a16="http://schemas.microsoft.com/office/drawing/2014/main" id="{966D2640-A438-4FB6-B781-5A52DEC85C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34">
                <a:extLst>
                  <a:ext uri="{FF2B5EF4-FFF2-40B4-BE49-F238E27FC236}">
                    <a16:creationId xmlns:a16="http://schemas.microsoft.com/office/drawing/2014/main" id="{34E1EFFF-720C-4CC0-9F95-DD1DAF99AD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35">
                <a:extLst>
                  <a:ext uri="{FF2B5EF4-FFF2-40B4-BE49-F238E27FC236}">
                    <a16:creationId xmlns:a16="http://schemas.microsoft.com/office/drawing/2014/main" id="{EA7AB0E1-6C49-409D-86F5-BE00BDDFC0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36">
                <a:extLst>
                  <a:ext uri="{FF2B5EF4-FFF2-40B4-BE49-F238E27FC236}">
                    <a16:creationId xmlns:a16="http://schemas.microsoft.com/office/drawing/2014/main" id="{5D17598C-0C57-4F4E-8F6B-A2AD8071F8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37">
                <a:extLst>
                  <a:ext uri="{FF2B5EF4-FFF2-40B4-BE49-F238E27FC236}">
                    <a16:creationId xmlns:a16="http://schemas.microsoft.com/office/drawing/2014/main" id="{EBEBC0DC-F56F-48FE-824E-E9378C48976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38">
                <a:extLst>
                  <a:ext uri="{FF2B5EF4-FFF2-40B4-BE49-F238E27FC236}">
                    <a16:creationId xmlns:a16="http://schemas.microsoft.com/office/drawing/2014/main" id="{CC7FDCF1-1736-48A0-BDB2-87D6E09067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39">
                <a:extLst>
                  <a:ext uri="{FF2B5EF4-FFF2-40B4-BE49-F238E27FC236}">
                    <a16:creationId xmlns:a16="http://schemas.microsoft.com/office/drawing/2014/main" id="{2A650CF5-564F-44D1-AB08-6C500DD3CED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40">
                <a:extLst>
                  <a:ext uri="{FF2B5EF4-FFF2-40B4-BE49-F238E27FC236}">
                    <a16:creationId xmlns:a16="http://schemas.microsoft.com/office/drawing/2014/main" id="{3108FEFA-0402-4C1C-AE39-5ADC09402F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Rectangle 41">
                <a:extLst>
                  <a:ext uri="{FF2B5EF4-FFF2-40B4-BE49-F238E27FC236}">
                    <a16:creationId xmlns:a16="http://schemas.microsoft.com/office/drawing/2014/main" id="{340AE827-F344-464F-851C-E03AFC98DC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u 1">
            <a:extLst>
              <a:ext uri="{FF2B5EF4-FFF2-40B4-BE49-F238E27FC236}">
                <a16:creationId xmlns:a16="http://schemas.microsoft.com/office/drawing/2014/main" id="{BACD048D-D792-9A4B-25D0-9DA9BF272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9957" y="618518"/>
            <a:ext cx="4747088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err="1"/>
              <a:t>Rezultate</a:t>
            </a:r>
            <a:r>
              <a:rPr lang="en-US" dirty="0"/>
              <a:t> </a:t>
            </a:r>
            <a:r>
              <a:rPr lang="en-US" dirty="0" err="1"/>
              <a:t>gru</a:t>
            </a:r>
            <a:endParaRPr lang="en-US" dirty="0"/>
          </a:p>
        </p:txBody>
      </p:sp>
      <p:sp>
        <p:nvSpPr>
          <p:cNvPr id="58" name="Round Diagonal Corner Rectangle 9">
            <a:extLst>
              <a:ext uri="{FF2B5EF4-FFF2-40B4-BE49-F238E27FC236}">
                <a16:creationId xmlns:a16="http://schemas.microsoft.com/office/drawing/2014/main" id="{14436AD2-BD0F-4545-B2E9-06007B35B8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950" y="808057"/>
            <a:ext cx="5286376" cy="5234394"/>
          </a:xfrm>
          <a:prstGeom prst="round2DiagRect">
            <a:avLst>
              <a:gd name="adj1" fmla="val 7418"/>
              <a:gd name="adj2" fmla="val 0"/>
            </a:avLst>
          </a:prstGeom>
          <a:solidFill>
            <a:srgbClr val="FFFFFF"/>
          </a:solidFill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Substituent conținut 5" descr="O imagine care conține text, captură de ecran, diagramă, linie&#10;&#10;Conținutul generat de inteligența artificială poate fi incorect.">
            <a:extLst>
              <a:ext uri="{FF2B5EF4-FFF2-40B4-BE49-F238E27FC236}">
                <a16:creationId xmlns:a16="http://schemas.microsoft.com/office/drawing/2014/main" id="{B92300B8-B9ED-8252-B091-15A9DF33BF6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123983" y="1147145"/>
            <a:ext cx="4625593" cy="4567773"/>
          </a:xfrm>
          <a:prstGeom prst="rect">
            <a:avLst/>
          </a:prstGeom>
        </p:spPr>
      </p:pic>
      <p:pic>
        <p:nvPicPr>
          <p:cNvPr id="12" name="Substituent conținut 11" descr="O imagine care conține text, captură de ecran, software, afișaj&#10;&#10;Conținutul generat de inteligența artificială poate fi incorect.">
            <a:extLst>
              <a:ext uri="{FF2B5EF4-FFF2-40B4-BE49-F238E27FC236}">
                <a16:creationId xmlns:a16="http://schemas.microsoft.com/office/drawing/2014/main" id="{1CA37244-C237-68B9-1D68-C65EF84F3F2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/>
          <a:stretch>
            <a:fillRect/>
          </a:stretch>
        </p:blipFill>
        <p:spPr>
          <a:xfrm>
            <a:off x="6660439" y="1651720"/>
            <a:ext cx="3556457" cy="4207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455702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>
            <a:extLst>
              <a:ext uri="{FF2B5EF4-FFF2-40B4-BE49-F238E27FC236}">
                <a16:creationId xmlns:a16="http://schemas.microsoft.com/office/drawing/2014/main" id="{5B367C29-5200-4FF1-83B7-18B105A0B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EC711491-7BB6-4BE6-A470-44BF61D562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E4F104B-68BE-4E53-A6A5-5C5F93FF72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6" name="Rectangle 5">
                <a:extLst>
                  <a:ext uri="{FF2B5EF4-FFF2-40B4-BE49-F238E27FC236}">
                    <a16:creationId xmlns:a16="http://schemas.microsoft.com/office/drawing/2014/main" id="{EF4A7076-D6BC-4AE1-AE2C-C09B16AAB4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6">
                <a:extLst>
                  <a:ext uri="{FF2B5EF4-FFF2-40B4-BE49-F238E27FC236}">
                    <a16:creationId xmlns:a16="http://schemas.microsoft.com/office/drawing/2014/main" id="{58FA119B-7250-4EC7-912F-F5613CC281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7">
                <a:extLst>
                  <a:ext uri="{FF2B5EF4-FFF2-40B4-BE49-F238E27FC236}">
                    <a16:creationId xmlns:a16="http://schemas.microsoft.com/office/drawing/2014/main" id="{7B9A9AED-D47E-44AD-AD6E-2EECC94D88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8">
                <a:extLst>
                  <a:ext uri="{FF2B5EF4-FFF2-40B4-BE49-F238E27FC236}">
                    <a16:creationId xmlns:a16="http://schemas.microsoft.com/office/drawing/2014/main" id="{00A30ECA-328D-4512-825B-0AD59604678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9">
                <a:extLst>
                  <a:ext uri="{FF2B5EF4-FFF2-40B4-BE49-F238E27FC236}">
                    <a16:creationId xmlns:a16="http://schemas.microsoft.com/office/drawing/2014/main" id="{14A218CE-B3D8-4A43-86CC-48980645AC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0">
                <a:extLst>
                  <a:ext uri="{FF2B5EF4-FFF2-40B4-BE49-F238E27FC236}">
                    <a16:creationId xmlns:a16="http://schemas.microsoft.com/office/drawing/2014/main" id="{E9743B7D-51BF-425C-A4B8-33B2E001EF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Freeform 11">
                <a:extLst>
                  <a:ext uri="{FF2B5EF4-FFF2-40B4-BE49-F238E27FC236}">
                    <a16:creationId xmlns:a16="http://schemas.microsoft.com/office/drawing/2014/main" id="{9BA633B3-C879-4E15-B66C-788B4C60A1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2">
                <a:extLst>
                  <a:ext uri="{FF2B5EF4-FFF2-40B4-BE49-F238E27FC236}">
                    <a16:creationId xmlns:a16="http://schemas.microsoft.com/office/drawing/2014/main" id="{324C8953-B4E2-4DA0-B5D5-BD2A735E67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3">
                <a:extLst>
                  <a:ext uri="{FF2B5EF4-FFF2-40B4-BE49-F238E27FC236}">
                    <a16:creationId xmlns:a16="http://schemas.microsoft.com/office/drawing/2014/main" id="{717A3B65-FE80-419B-AB5D-48B5E3A7B4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4">
                <a:extLst>
                  <a:ext uri="{FF2B5EF4-FFF2-40B4-BE49-F238E27FC236}">
                    <a16:creationId xmlns:a16="http://schemas.microsoft.com/office/drawing/2014/main" id="{675ECD78-7D6B-4A3F-8163-392D7F8D69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15">
                <a:extLst>
                  <a:ext uri="{FF2B5EF4-FFF2-40B4-BE49-F238E27FC236}">
                    <a16:creationId xmlns:a16="http://schemas.microsoft.com/office/drawing/2014/main" id="{8D036282-E32F-461D-BFB6-2A58D6D27AC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Line 16">
                <a:extLst>
                  <a:ext uri="{FF2B5EF4-FFF2-40B4-BE49-F238E27FC236}">
                    <a16:creationId xmlns:a16="http://schemas.microsoft.com/office/drawing/2014/main" id="{F95EB10E-5264-467D-8382-A77C4DED25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17">
                <a:extLst>
                  <a:ext uri="{FF2B5EF4-FFF2-40B4-BE49-F238E27FC236}">
                    <a16:creationId xmlns:a16="http://schemas.microsoft.com/office/drawing/2014/main" id="{218F9268-D2F0-487B-A021-8786B65518D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18">
                <a:extLst>
                  <a:ext uri="{FF2B5EF4-FFF2-40B4-BE49-F238E27FC236}">
                    <a16:creationId xmlns:a16="http://schemas.microsoft.com/office/drawing/2014/main" id="{B4AEE5AC-EF5C-42E4-B185-A176E19976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19">
                <a:extLst>
                  <a:ext uri="{FF2B5EF4-FFF2-40B4-BE49-F238E27FC236}">
                    <a16:creationId xmlns:a16="http://schemas.microsoft.com/office/drawing/2014/main" id="{E961E89F-C1DB-48E5-8B52-FDDAED9E0E4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0">
                <a:extLst>
                  <a:ext uri="{FF2B5EF4-FFF2-40B4-BE49-F238E27FC236}">
                    <a16:creationId xmlns:a16="http://schemas.microsoft.com/office/drawing/2014/main" id="{412962B4-425A-4C36-A65A-0F66ED7CD3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Rectangle 21">
                <a:extLst>
                  <a:ext uri="{FF2B5EF4-FFF2-40B4-BE49-F238E27FC236}">
                    <a16:creationId xmlns:a16="http://schemas.microsoft.com/office/drawing/2014/main" id="{037BE3F7-563A-4D9A-BC98-C71F727D23A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2">
                <a:extLst>
                  <a:ext uri="{FF2B5EF4-FFF2-40B4-BE49-F238E27FC236}">
                    <a16:creationId xmlns:a16="http://schemas.microsoft.com/office/drawing/2014/main" id="{2FDB1005-EB5E-475A-AC43-4ED3E563DE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3">
                <a:extLst>
                  <a:ext uri="{FF2B5EF4-FFF2-40B4-BE49-F238E27FC236}">
                    <a16:creationId xmlns:a16="http://schemas.microsoft.com/office/drawing/2014/main" id="{68BFFBC6-C704-42A7-9D7E-AFB5C37FBDA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4">
                <a:extLst>
                  <a:ext uri="{FF2B5EF4-FFF2-40B4-BE49-F238E27FC236}">
                    <a16:creationId xmlns:a16="http://schemas.microsoft.com/office/drawing/2014/main" id="{4888EAD7-EBE9-4549-9A91-6FEC611536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25">
                <a:extLst>
                  <a:ext uri="{FF2B5EF4-FFF2-40B4-BE49-F238E27FC236}">
                    <a16:creationId xmlns:a16="http://schemas.microsoft.com/office/drawing/2014/main" id="{B79BC975-BE42-4B57-8335-1699BC0AB1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26">
                <a:extLst>
                  <a:ext uri="{FF2B5EF4-FFF2-40B4-BE49-F238E27FC236}">
                    <a16:creationId xmlns:a16="http://schemas.microsoft.com/office/drawing/2014/main" id="{3998B4F0-CA80-490A-A256-1600E7EA886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Freeform 27">
                <a:extLst>
                  <a:ext uri="{FF2B5EF4-FFF2-40B4-BE49-F238E27FC236}">
                    <a16:creationId xmlns:a16="http://schemas.microsoft.com/office/drawing/2014/main" id="{2052C104-8168-487E-9044-454DA83AB2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" name="Freeform 28">
                <a:extLst>
                  <a:ext uri="{FF2B5EF4-FFF2-40B4-BE49-F238E27FC236}">
                    <a16:creationId xmlns:a16="http://schemas.microsoft.com/office/drawing/2014/main" id="{63ACA30B-5F59-400C-A7CE-D17B5647EE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" name="Freeform 29">
                <a:extLst>
                  <a:ext uri="{FF2B5EF4-FFF2-40B4-BE49-F238E27FC236}">
                    <a16:creationId xmlns:a16="http://schemas.microsoft.com/office/drawing/2014/main" id="{2E16F318-A142-4353-9949-B4E3A09FE0B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" name="Freeform 30">
                <a:extLst>
                  <a:ext uri="{FF2B5EF4-FFF2-40B4-BE49-F238E27FC236}">
                    <a16:creationId xmlns:a16="http://schemas.microsoft.com/office/drawing/2014/main" id="{8AE8DBB4-2468-4A78-A54D-FD77C5DC88A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" name="Freeform 31">
                <a:extLst>
                  <a:ext uri="{FF2B5EF4-FFF2-40B4-BE49-F238E27FC236}">
                    <a16:creationId xmlns:a16="http://schemas.microsoft.com/office/drawing/2014/main" id="{B0E7CEF2-11E4-465C-8F1F-AA8367F96A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8B30AFD-E104-45DD-BFBB-5A41F1413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6" name="Freeform 32">
                <a:extLst>
                  <a:ext uri="{FF2B5EF4-FFF2-40B4-BE49-F238E27FC236}">
                    <a16:creationId xmlns:a16="http://schemas.microsoft.com/office/drawing/2014/main" id="{CE45A3DF-350B-4A5E-AEBE-F0F280AD037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3">
                <a:extLst>
                  <a:ext uri="{FF2B5EF4-FFF2-40B4-BE49-F238E27FC236}">
                    <a16:creationId xmlns:a16="http://schemas.microsoft.com/office/drawing/2014/main" id="{966D2640-A438-4FB6-B781-5A52DEC85C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4">
                <a:extLst>
                  <a:ext uri="{FF2B5EF4-FFF2-40B4-BE49-F238E27FC236}">
                    <a16:creationId xmlns:a16="http://schemas.microsoft.com/office/drawing/2014/main" id="{34E1EFFF-720C-4CC0-9F95-DD1DAF99AD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35">
                <a:extLst>
                  <a:ext uri="{FF2B5EF4-FFF2-40B4-BE49-F238E27FC236}">
                    <a16:creationId xmlns:a16="http://schemas.microsoft.com/office/drawing/2014/main" id="{EA7AB0E1-6C49-409D-86F5-BE00BDDFC0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36">
                <a:extLst>
                  <a:ext uri="{FF2B5EF4-FFF2-40B4-BE49-F238E27FC236}">
                    <a16:creationId xmlns:a16="http://schemas.microsoft.com/office/drawing/2014/main" id="{5D17598C-0C57-4F4E-8F6B-A2AD8071F8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37">
                <a:extLst>
                  <a:ext uri="{FF2B5EF4-FFF2-40B4-BE49-F238E27FC236}">
                    <a16:creationId xmlns:a16="http://schemas.microsoft.com/office/drawing/2014/main" id="{EBEBC0DC-F56F-48FE-824E-E9378C48976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38">
                <a:extLst>
                  <a:ext uri="{FF2B5EF4-FFF2-40B4-BE49-F238E27FC236}">
                    <a16:creationId xmlns:a16="http://schemas.microsoft.com/office/drawing/2014/main" id="{CC7FDCF1-1736-48A0-BDB2-87D6E09067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39">
                <a:extLst>
                  <a:ext uri="{FF2B5EF4-FFF2-40B4-BE49-F238E27FC236}">
                    <a16:creationId xmlns:a16="http://schemas.microsoft.com/office/drawing/2014/main" id="{2A650CF5-564F-44D1-AB08-6C500DD3CED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40">
                <a:extLst>
                  <a:ext uri="{FF2B5EF4-FFF2-40B4-BE49-F238E27FC236}">
                    <a16:creationId xmlns:a16="http://schemas.microsoft.com/office/drawing/2014/main" id="{3108FEFA-0402-4C1C-AE39-5ADC09402F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Rectangle 41">
                <a:extLst>
                  <a:ext uri="{FF2B5EF4-FFF2-40B4-BE49-F238E27FC236}">
                    <a16:creationId xmlns:a16="http://schemas.microsoft.com/office/drawing/2014/main" id="{340AE827-F344-464F-851C-E03AFC98DC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u 1">
            <a:extLst>
              <a:ext uri="{FF2B5EF4-FFF2-40B4-BE49-F238E27FC236}">
                <a16:creationId xmlns:a16="http://schemas.microsoft.com/office/drawing/2014/main" id="{3C9CCC87-5622-AF9C-3066-36BE998CB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9957" y="618518"/>
            <a:ext cx="4747088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err="1"/>
              <a:t>Rezultate</a:t>
            </a:r>
            <a:r>
              <a:rPr lang="en-US" dirty="0"/>
              <a:t> bid</a:t>
            </a:r>
            <a:r>
              <a:rPr lang="ro-RO" dirty="0"/>
              <a:t>i</a:t>
            </a:r>
            <a:r>
              <a:rPr lang="en-US" dirty="0" err="1"/>
              <a:t>rctional</a:t>
            </a:r>
            <a:r>
              <a:rPr lang="en-US" dirty="0"/>
              <a:t> </a:t>
            </a:r>
            <a:r>
              <a:rPr lang="en-US" dirty="0" err="1"/>
              <a:t>lstm</a:t>
            </a:r>
            <a:endParaRPr lang="en-US" dirty="0"/>
          </a:p>
        </p:txBody>
      </p:sp>
      <p:sp>
        <p:nvSpPr>
          <p:cNvPr id="54" name="Round Diagonal Corner Rectangle 9">
            <a:extLst>
              <a:ext uri="{FF2B5EF4-FFF2-40B4-BE49-F238E27FC236}">
                <a16:creationId xmlns:a16="http://schemas.microsoft.com/office/drawing/2014/main" id="{14436AD2-BD0F-4545-B2E9-06007B35B8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950" y="808057"/>
            <a:ext cx="5286376" cy="5234394"/>
          </a:xfrm>
          <a:prstGeom prst="round2DiagRect">
            <a:avLst>
              <a:gd name="adj1" fmla="val 7418"/>
              <a:gd name="adj2" fmla="val 0"/>
            </a:avLst>
          </a:prstGeom>
          <a:solidFill>
            <a:srgbClr val="FFFFFF"/>
          </a:solidFill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Substituent conținut 5" descr="O imagine care conține text, captură de ecran, linie, Interval&#10;&#10;Conținutul generat de inteligența artificială poate fi incorect.">
            <a:extLst>
              <a:ext uri="{FF2B5EF4-FFF2-40B4-BE49-F238E27FC236}">
                <a16:creationId xmlns:a16="http://schemas.microsoft.com/office/drawing/2014/main" id="{810DC4B1-3269-69CD-ED40-9589A11DCCE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1118988" y="1652127"/>
            <a:ext cx="4635583" cy="3557809"/>
          </a:xfrm>
          <a:prstGeom prst="rect">
            <a:avLst/>
          </a:prstGeom>
        </p:spPr>
      </p:pic>
      <p:pic>
        <p:nvPicPr>
          <p:cNvPr id="8" name="Substituent conținut 7" descr="O imagine care conține text, captură de ecran, afișaj, software&#10;&#10;Conținutul generat de inteligența artificială poate fi incorect.">
            <a:extLst>
              <a:ext uri="{FF2B5EF4-FFF2-40B4-BE49-F238E27FC236}">
                <a16:creationId xmlns:a16="http://schemas.microsoft.com/office/drawing/2014/main" id="{38F4F1FF-5FED-042F-338C-127F946735C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6674732" y="1849437"/>
            <a:ext cx="3717043" cy="4299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08352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B5ED41-48FD-660B-77A8-B7211753C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>
            <a:extLst>
              <a:ext uri="{FF2B5EF4-FFF2-40B4-BE49-F238E27FC236}">
                <a16:creationId xmlns:a16="http://schemas.microsoft.com/office/drawing/2014/main" id="{427DD9DE-6324-77C4-547B-6A9BDE18C3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:p14="http://schemas.microsoft.com/office/powerpoint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2A79831-2EE4-D989-4966-BEBE01C05F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45356F4-F797-3B50-E8E5-00F5E1C4A8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6" name="Rectangle 5">
                <a:extLst>
                  <a:ext uri="{FF2B5EF4-FFF2-40B4-BE49-F238E27FC236}">
                    <a16:creationId xmlns:a16="http://schemas.microsoft.com/office/drawing/2014/main" id="{F7CB09CE-5466-2604-7CAC-ABA7B8C4604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6">
                <a:extLst>
                  <a:ext uri="{FF2B5EF4-FFF2-40B4-BE49-F238E27FC236}">
                    <a16:creationId xmlns:a16="http://schemas.microsoft.com/office/drawing/2014/main" id="{E114BE44-DD9E-C2C7-194B-270FF3E0BF8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7">
                <a:extLst>
                  <a:ext uri="{FF2B5EF4-FFF2-40B4-BE49-F238E27FC236}">
                    <a16:creationId xmlns:a16="http://schemas.microsoft.com/office/drawing/2014/main" id="{E2484E5B-A5F7-DE04-FF7C-D137B3737DE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8">
                <a:extLst>
                  <a:ext uri="{FF2B5EF4-FFF2-40B4-BE49-F238E27FC236}">
                    <a16:creationId xmlns:a16="http://schemas.microsoft.com/office/drawing/2014/main" id="{27A2BFD5-A98D-3BA6-37F0-D19F66207D6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9">
                <a:extLst>
                  <a:ext uri="{FF2B5EF4-FFF2-40B4-BE49-F238E27FC236}">
                    <a16:creationId xmlns:a16="http://schemas.microsoft.com/office/drawing/2014/main" id="{63CC80A1-5FA7-DC56-2E01-D0E293AC555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0">
                <a:extLst>
                  <a:ext uri="{FF2B5EF4-FFF2-40B4-BE49-F238E27FC236}">
                    <a16:creationId xmlns:a16="http://schemas.microsoft.com/office/drawing/2014/main" id="{5DFBB7DA-EB5A-4E54-548C-B2C24A053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Freeform 11">
                <a:extLst>
                  <a:ext uri="{FF2B5EF4-FFF2-40B4-BE49-F238E27FC236}">
                    <a16:creationId xmlns:a16="http://schemas.microsoft.com/office/drawing/2014/main" id="{C3FC4BB8-8CA7-129F-4D41-C06A435365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2">
                <a:extLst>
                  <a:ext uri="{FF2B5EF4-FFF2-40B4-BE49-F238E27FC236}">
                    <a16:creationId xmlns:a16="http://schemas.microsoft.com/office/drawing/2014/main" id="{E121B2B5-3AD3-31CC-214B-2C1ECD66DE4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3">
                <a:extLst>
                  <a:ext uri="{FF2B5EF4-FFF2-40B4-BE49-F238E27FC236}">
                    <a16:creationId xmlns:a16="http://schemas.microsoft.com/office/drawing/2014/main" id="{8DFABC91-CB49-A2E4-DE39-6AF6E9439E5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4">
                <a:extLst>
                  <a:ext uri="{FF2B5EF4-FFF2-40B4-BE49-F238E27FC236}">
                    <a16:creationId xmlns:a16="http://schemas.microsoft.com/office/drawing/2014/main" id="{3C178C42-E505-6C55-4EFF-C25A9A0E244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15">
                <a:extLst>
                  <a:ext uri="{FF2B5EF4-FFF2-40B4-BE49-F238E27FC236}">
                    <a16:creationId xmlns:a16="http://schemas.microsoft.com/office/drawing/2014/main" id="{05702627-0D3B-40B8-8EE2-EB05F568F91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Line 16">
                <a:extLst>
                  <a:ext uri="{FF2B5EF4-FFF2-40B4-BE49-F238E27FC236}">
                    <a16:creationId xmlns:a16="http://schemas.microsoft.com/office/drawing/2014/main" id="{A5D4A576-C173-902F-925D-1EF08177A7C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17">
                <a:extLst>
                  <a:ext uri="{FF2B5EF4-FFF2-40B4-BE49-F238E27FC236}">
                    <a16:creationId xmlns:a16="http://schemas.microsoft.com/office/drawing/2014/main" id="{9A72DFE3-6251-A82A-F2BE-2C2D0EFBCA4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18">
                <a:extLst>
                  <a:ext uri="{FF2B5EF4-FFF2-40B4-BE49-F238E27FC236}">
                    <a16:creationId xmlns:a16="http://schemas.microsoft.com/office/drawing/2014/main" id="{E8CBFD44-FE28-5EB6-4399-F743E91CA71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19">
                <a:extLst>
                  <a:ext uri="{FF2B5EF4-FFF2-40B4-BE49-F238E27FC236}">
                    <a16:creationId xmlns:a16="http://schemas.microsoft.com/office/drawing/2014/main" id="{188B30E6-9529-5077-57CD-5298F09D59E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0">
                <a:extLst>
                  <a:ext uri="{FF2B5EF4-FFF2-40B4-BE49-F238E27FC236}">
                    <a16:creationId xmlns:a16="http://schemas.microsoft.com/office/drawing/2014/main" id="{2E1EC349-BCF2-1CF8-EC5C-D030BF9155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Rectangle 21">
                <a:extLst>
                  <a:ext uri="{FF2B5EF4-FFF2-40B4-BE49-F238E27FC236}">
                    <a16:creationId xmlns:a16="http://schemas.microsoft.com/office/drawing/2014/main" id="{515312CC-7DE9-78E3-BCC8-9E00D318903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2">
                <a:extLst>
                  <a:ext uri="{FF2B5EF4-FFF2-40B4-BE49-F238E27FC236}">
                    <a16:creationId xmlns:a16="http://schemas.microsoft.com/office/drawing/2014/main" id="{54544E93-89D3-A55B-A4AD-E4A778B6CF3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3">
                <a:extLst>
                  <a:ext uri="{FF2B5EF4-FFF2-40B4-BE49-F238E27FC236}">
                    <a16:creationId xmlns:a16="http://schemas.microsoft.com/office/drawing/2014/main" id="{86C12A9B-E474-9395-6682-1D93709A39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4">
                <a:extLst>
                  <a:ext uri="{FF2B5EF4-FFF2-40B4-BE49-F238E27FC236}">
                    <a16:creationId xmlns:a16="http://schemas.microsoft.com/office/drawing/2014/main" id="{61478CF9-48E2-D6D4-EBBE-B90EAB78A60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25">
                <a:extLst>
                  <a:ext uri="{FF2B5EF4-FFF2-40B4-BE49-F238E27FC236}">
                    <a16:creationId xmlns:a16="http://schemas.microsoft.com/office/drawing/2014/main" id="{EB9F0DB2-ABAB-3E53-718E-5F9D6C2427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26">
                <a:extLst>
                  <a:ext uri="{FF2B5EF4-FFF2-40B4-BE49-F238E27FC236}">
                    <a16:creationId xmlns:a16="http://schemas.microsoft.com/office/drawing/2014/main" id="{B4939EE3-1B3E-7137-963D-F50123C7AA1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Freeform 27">
                <a:extLst>
                  <a:ext uri="{FF2B5EF4-FFF2-40B4-BE49-F238E27FC236}">
                    <a16:creationId xmlns:a16="http://schemas.microsoft.com/office/drawing/2014/main" id="{C543F8BD-45AE-83A2-9EB7-ECD8BC5B0A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" name="Freeform 28">
                <a:extLst>
                  <a:ext uri="{FF2B5EF4-FFF2-40B4-BE49-F238E27FC236}">
                    <a16:creationId xmlns:a16="http://schemas.microsoft.com/office/drawing/2014/main" id="{A6EFB9D4-D8D6-A049-6F85-AC083CB6CD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" name="Freeform 29">
                <a:extLst>
                  <a:ext uri="{FF2B5EF4-FFF2-40B4-BE49-F238E27FC236}">
                    <a16:creationId xmlns:a16="http://schemas.microsoft.com/office/drawing/2014/main" id="{8D54AC90-B4AE-F4EE-888B-E292DCEE2A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" name="Freeform 30">
                <a:extLst>
                  <a:ext uri="{FF2B5EF4-FFF2-40B4-BE49-F238E27FC236}">
                    <a16:creationId xmlns:a16="http://schemas.microsoft.com/office/drawing/2014/main" id="{410E766B-744E-CFDE-3215-A0A2F408509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" name="Freeform 31">
                <a:extLst>
                  <a:ext uri="{FF2B5EF4-FFF2-40B4-BE49-F238E27FC236}">
                    <a16:creationId xmlns:a16="http://schemas.microsoft.com/office/drawing/2014/main" id="{67709FA1-A666-5C6A-7BDC-AD648401906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B16B211-B3D9-86E0-682A-C2590B5EF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6" name="Freeform 32">
                <a:extLst>
                  <a:ext uri="{FF2B5EF4-FFF2-40B4-BE49-F238E27FC236}">
                    <a16:creationId xmlns:a16="http://schemas.microsoft.com/office/drawing/2014/main" id="{8F50352E-0A1C-7E37-5CBF-9DE2119EAB8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3">
                <a:extLst>
                  <a:ext uri="{FF2B5EF4-FFF2-40B4-BE49-F238E27FC236}">
                    <a16:creationId xmlns:a16="http://schemas.microsoft.com/office/drawing/2014/main" id="{019A9514-C94A-76DF-9771-0E9BB363124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4">
                <a:extLst>
                  <a:ext uri="{FF2B5EF4-FFF2-40B4-BE49-F238E27FC236}">
                    <a16:creationId xmlns:a16="http://schemas.microsoft.com/office/drawing/2014/main" id="{1C3FC119-9742-A80B-742D-6345BBC6FA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35">
                <a:extLst>
                  <a:ext uri="{FF2B5EF4-FFF2-40B4-BE49-F238E27FC236}">
                    <a16:creationId xmlns:a16="http://schemas.microsoft.com/office/drawing/2014/main" id="{84ECD950-B6BB-F625-1ADD-127081FC9B1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36">
                <a:extLst>
                  <a:ext uri="{FF2B5EF4-FFF2-40B4-BE49-F238E27FC236}">
                    <a16:creationId xmlns:a16="http://schemas.microsoft.com/office/drawing/2014/main" id="{DAE8E684-62F3-7F9A-C367-AE45330BB01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37">
                <a:extLst>
                  <a:ext uri="{FF2B5EF4-FFF2-40B4-BE49-F238E27FC236}">
                    <a16:creationId xmlns:a16="http://schemas.microsoft.com/office/drawing/2014/main" id="{0EC89648-3B53-65E1-412E-ECB64EA264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38">
                <a:extLst>
                  <a:ext uri="{FF2B5EF4-FFF2-40B4-BE49-F238E27FC236}">
                    <a16:creationId xmlns:a16="http://schemas.microsoft.com/office/drawing/2014/main" id="{DAE47C4F-C337-CA00-4E67-6039A3FCC9D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39">
                <a:extLst>
                  <a:ext uri="{FF2B5EF4-FFF2-40B4-BE49-F238E27FC236}">
                    <a16:creationId xmlns:a16="http://schemas.microsoft.com/office/drawing/2014/main" id="{DEF2D8A8-BE42-F3A5-D941-1D21A1BD4E0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40">
                <a:extLst>
                  <a:ext uri="{FF2B5EF4-FFF2-40B4-BE49-F238E27FC236}">
                    <a16:creationId xmlns:a16="http://schemas.microsoft.com/office/drawing/2014/main" id="{FDC6A275-7164-4670-D7DD-687CC06DFC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Rectangle 41">
                <a:extLst>
                  <a:ext uri="{FF2B5EF4-FFF2-40B4-BE49-F238E27FC236}">
                    <a16:creationId xmlns:a16="http://schemas.microsoft.com/office/drawing/2014/main" id="{ED2504B7-E67C-1031-96B9-6CF16901E9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p14="http://schemas.microsoft.com/office/powerpoint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u 1">
            <a:extLst>
              <a:ext uri="{FF2B5EF4-FFF2-40B4-BE49-F238E27FC236}">
                <a16:creationId xmlns:a16="http://schemas.microsoft.com/office/drawing/2014/main" id="{4634C3F3-A308-442E-B361-184094697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9957" y="618518"/>
            <a:ext cx="4747088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err="1"/>
              <a:t>Rezultate</a:t>
            </a:r>
            <a:r>
              <a:rPr lang="en-US" dirty="0"/>
              <a:t> </a:t>
            </a:r>
            <a:r>
              <a:rPr lang="en-US" dirty="0" err="1"/>
              <a:t>lstm</a:t>
            </a:r>
            <a:r>
              <a:rPr lang="en-US" dirty="0"/>
              <a:t> + Glove</a:t>
            </a:r>
          </a:p>
        </p:txBody>
      </p:sp>
      <p:sp>
        <p:nvSpPr>
          <p:cNvPr id="54" name="Round Diagonal Corner Rectangle 9">
            <a:extLst>
              <a:ext uri="{FF2B5EF4-FFF2-40B4-BE49-F238E27FC236}">
                <a16:creationId xmlns:a16="http://schemas.microsoft.com/office/drawing/2014/main" id="{5449784F-F587-DDA2-B415-60E002FD71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950" y="808057"/>
            <a:ext cx="5286376" cy="5234394"/>
          </a:xfrm>
          <a:prstGeom prst="round2DiagRect">
            <a:avLst>
              <a:gd name="adj1" fmla="val 7418"/>
              <a:gd name="adj2" fmla="val 0"/>
            </a:avLst>
          </a:prstGeom>
          <a:solidFill>
            <a:srgbClr val="FFFFFF"/>
          </a:solidFill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ine 6" descr="O imagine care conține text, captură de ecran, Interval, diagramă&#10;&#10;Conținutul generat de inteligența artificială poate fi incorect.">
            <a:extLst>
              <a:ext uri="{FF2B5EF4-FFF2-40B4-BE49-F238E27FC236}">
                <a16:creationId xmlns:a16="http://schemas.microsoft.com/office/drawing/2014/main" id="{B4D9FCA5-1B9D-8365-1A1E-7F5D85B655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587" y="2239961"/>
            <a:ext cx="5112623" cy="2648197"/>
          </a:xfrm>
          <a:prstGeom prst="rect">
            <a:avLst/>
          </a:prstGeom>
        </p:spPr>
      </p:pic>
      <p:pic>
        <p:nvPicPr>
          <p:cNvPr id="53" name="Substituent conținut 52" descr="O imagine care conține text, captură de ecran, software, afișaj&#10;&#10;Conținutul generat de inteligența artificială poate fi incorect.">
            <a:extLst>
              <a:ext uri="{FF2B5EF4-FFF2-40B4-BE49-F238E27FC236}">
                <a16:creationId xmlns:a16="http://schemas.microsoft.com/office/drawing/2014/main" id="{7C4719D0-F4E0-2FD0-052A-0CF1FCF41BB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6877658" y="2249488"/>
            <a:ext cx="3464297" cy="354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50233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6C868062-EFAB-9B25-4808-D9C14F64B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9957" y="618518"/>
            <a:ext cx="4747088" cy="1478570"/>
          </a:xfrm>
        </p:spPr>
        <p:txBody>
          <a:bodyPr>
            <a:normAutofit/>
          </a:bodyPr>
          <a:lstStyle/>
          <a:p>
            <a:r>
              <a:rPr lang="en-US" dirty="0" err="1"/>
              <a:t>Demonstrație</a:t>
            </a:r>
            <a:r>
              <a:rPr lang="en-US" dirty="0"/>
              <a:t> </a:t>
            </a:r>
            <a:r>
              <a:rPr lang="en-US" dirty="0" err="1"/>
              <a:t>Practică</a:t>
            </a:r>
            <a:endParaRPr lang="en-US" dirty="0"/>
          </a:p>
        </p:txBody>
      </p:sp>
      <p:sp>
        <p:nvSpPr>
          <p:cNvPr id="12" name="Round Diagonal Corner Rectangle 9">
            <a:extLst>
              <a:ext uri="{FF2B5EF4-FFF2-40B4-BE49-F238E27FC236}">
                <a16:creationId xmlns:a16="http://schemas.microsoft.com/office/drawing/2014/main" id="{C16B00BF-AF6E-430A-80B1-9D3C78941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950" y="808057"/>
            <a:ext cx="5286376" cy="5234394"/>
          </a:xfrm>
          <a:prstGeom prst="round2DiagRect">
            <a:avLst>
              <a:gd name="adj1" fmla="val 7418"/>
              <a:gd name="adj2" fmla="val 0"/>
            </a:avLst>
          </a:prstGeom>
          <a:solidFill>
            <a:srgbClr val="FFFFFF"/>
          </a:solidFill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ine 6" descr="O imagine care conține text, captură de ecran, Font&#10;&#10;Conținutul generat de inteligența artificială poate fi incorect.">
            <a:extLst>
              <a:ext uri="{FF2B5EF4-FFF2-40B4-BE49-F238E27FC236}">
                <a16:creationId xmlns:a16="http://schemas.microsoft.com/office/drawing/2014/main" id="{57EC073B-2B4F-A185-CD09-FC582C554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7882" y="3425253"/>
            <a:ext cx="3508511" cy="2565717"/>
          </a:xfrm>
          <a:prstGeom prst="rect">
            <a:avLst/>
          </a:prstGeom>
        </p:spPr>
      </p:pic>
      <p:pic>
        <p:nvPicPr>
          <p:cNvPr id="5" name="Imagine 4" descr="O imagine care conține text, captură de ecran, software, afișaj&#10;&#10;Conținutul generat de inteligența artificială poate fi incorect.">
            <a:extLst>
              <a:ext uri="{FF2B5EF4-FFF2-40B4-BE49-F238E27FC236}">
                <a16:creationId xmlns:a16="http://schemas.microsoft.com/office/drawing/2014/main" id="{E7874852-2EF0-AD8B-9219-269FF26B68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7882" y="1015860"/>
            <a:ext cx="3757628" cy="2357912"/>
          </a:xfrm>
          <a:prstGeom prst="rect">
            <a:avLst/>
          </a:prstGeom>
        </p:spPr>
      </p:pic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1DC0B37D-578E-5C04-410A-88C8F08AA2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9957" y="2249487"/>
            <a:ext cx="4747087" cy="354171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b="1" dirty="0"/>
              <a:t>Sample predictions</a:t>
            </a:r>
            <a:endParaRPr lang="it-IT" dirty="0"/>
          </a:p>
          <a:p>
            <a:r>
              <a:rPr lang="it-IT" dirty="0"/>
              <a:t>Recenzii pozitive și negative</a:t>
            </a:r>
          </a:p>
          <a:p>
            <a:r>
              <a:rPr lang="it-IT" dirty="0"/>
              <a:t>Probabilitate asociată predicției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56814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E0FA057D-11A4-6E18-B8EB-CC51C2447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Concluzi</a:t>
            </a:r>
            <a:r>
              <a:rPr lang="ro-RO" dirty="0"/>
              <a:t>i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0FE9C63-2261-2A90-A457-A087447618A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141411" y="4788584"/>
            <a:ext cx="6933308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GRU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oferă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cel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bun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compromis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Proiectul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validează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concepte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teoretice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prin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implementare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practică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581769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3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9ACD3AF8-B16E-4174-8C1A-41F683C4AF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FF5EAD09-B81D-415F-8BCF-73C81AE05F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0" name="Rectangle 5">
              <a:extLst>
                <a:ext uri="{FF2B5EF4-FFF2-40B4-BE49-F238E27FC236}">
                  <a16:creationId xmlns:a16="http://schemas.microsoft.com/office/drawing/2014/main" id="{CFB79010-8ED4-49EF-AFD2-F4D8C80B69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4649B869-006E-42B5-9DDC-21049B130E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7">
              <a:extLst>
                <a:ext uri="{FF2B5EF4-FFF2-40B4-BE49-F238E27FC236}">
                  <a16:creationId xmlns:a16="http://schemas.microsoft.com/office/drawing/2014/main" id="{443096BD-333F-48B6-8220-D1F9793E40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Rectangle 8">
              <a:extLst>
                <a:ext uri="{FF2B5EF4-FFF2-40B4-BE49-F238E27FC236}">
                  <a16:creationId xmlns:a16="http://schemas.microsoft.com/office/drawing/2014/main" id="{1A45BB9A-7E84-4B9B-923A-270A97F852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9">
              <a:extLst>
                <a:ext uri="{FF2B5EF4-FFF2-40B4-BE49-F238E27FC236}">
                  <a16:creationId xmlns:a16="http://schemas.microsoft.com/office/drawing/2014/main" id="{D7D7C768-2F76-4DE2-A807-1B9FFF816C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10">
              <a:extLst>
                <a:ext uri="{FF2B5EF4-FFF2-40B4-BE49-F238E27FC236}">
                  <a16:creationId xmlns:a16="http://schemas.microsoft.com/office/drawing/2014/main" id="{1870B32E-EE42-470E-B543-CA55AEC8CA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1">
              <a:extLst>
                <a:ext uri="{FF2B5EF4-FFF2-40B4-BE49-F238E27FC236}">
                  <a16:creationId xmlns:a16="http://schemas.microsoft.com/office/drawing/2014/main" id="{EEF09120-11AA-4DB5-98A8-EC4923002C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2">
              <a:extLst>
                <a:ext uri="{FF2B5EF4-FFF2-40B4-BE49-F238E27FC236}">
                  <a16:creationId xmlns:a16="http://schemas.microsoft.com/office/drawing/2014/main" id="{39CC463D-589C-461C-A234-0460EB06B8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3">
              <a:extLst>
                <a:ext uri="{FF2B5EF4-FFF2-40B4-BE49-F238E27FC236}">
                  <a16:creationId xmlns:a16="http://schemas.microsoft.com/office/drawing/2014/main" id="{B6516153-269A-421E-A021-CB3F3C5E1D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4">
              <a:extLst>
                <a:ext uri="{FF2B5EF4-FFF2-40B4-BE49-F238E27FC236}">
                  <a16:creationId xmlns:a16="http://schemas.microsoft.com/office/drawing/2014/main" id="{45E14300-6C4A-4F77-915F-F3B25B0237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5">
              <a:extLst>
                <a:ext uri="{FF2B5EF4-FFF2-40B4-BE49-F238E27FC236}">
                  <a16:creationId xmlns:a16="http://schemas.microsoft.com/office/drawing/2014/main" id="{993E312A-E6A6-4B52-ADE6-618ADC89BA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6">
              <a:extLst>
                <a:ext uri="{FF2B5EF4-FFF2-40B4-BE49-F238E27FC236}">
                  <a16:creationId xmlns:a16="http://schemas.microsoft.com/office/drawing/2014/main" id="{2F0F3026-2480-472B-8C52-36812C81E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7">
              <a:extLst>
                <a:ext uri="{FF2B5EF4-FFF2-40B4-BE49-F238E27FC236}">
                  <a16:creationId xmlns:a16="http://schemas.microsoft.com/office/drawing/2014/main" id="{34E1C992-559D-4827-9F30-31A3CA7A2B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8">
              <a:extLst>
                <a:ext uri="{FF2B5EF4-FFF2-40B4-BE49-F238E27FC236}">
                  <a16:creationId xmlns:a16="http://schemas.microsoft.com/office/drawing/2014/main" id="{D9F2FB98-F443-498F-AAD9-6945825681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9">
              <a:extLst>
                <a:ext uri="{FF2B5EF4-FFF2-40B4-BE49-F238E27FC236}">
                  <a16:creationId xmlns:a16="http://schemas.microsoft.com/office/drawing/2014/main" id="{75DBF6EC-ED50-43E4-8A8B-64CE86A880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0">
              <a:extLst>
                <a:ext uri="{FF2B5EF4-FFF2-40B4-BE49-F238E27FC236}">
                  <a16:creationId xmlns:a16="http://schemas.microsoft.com/office/drawing/2014/main" id="{FD854F40-AC43-4F21-9C62-2CE35CFD2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1">
              <a:extLst>
                <a:ext uri="{FF2B5EF4-FFF2-40B4-BE49-F238E27FC236}">
                  <a16:creationId xmlns:a16="http://schemas.microsoft.com/office/drawing/2014/main" id="{62CCB560-494A-4F74-9DE4-068806A893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2">
              <a:extLst>
                <a:ext uri="{FF2B5EF4-FFF2-40B4-BE49-F238E27FC236}">
                  <a16:creationId xmlns:a16="http://schemas.microsoft.com/office/drawing/2014/main" id="{6F9A05F2-B5D2-4D8A-9A78-14E45C13FE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3">
              <a:extLst>
                <a:ext uri="{FF2B5EF4-FFF2-40B4-BE49-F238E27FC236}">
                  <a16:creationId xmlns:a16="http://schemas.microsoft.com/office/drawing/2014/main" id="{A6373189-19BB-4BEC-84A3-432253E058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4">
              <a:extLst>
                <a:ext uri="{FF2B5EF4-FFF2-40B4-BE49-F238E27FC236}">
                  <a16:creationId xmlns:a16="http://schemas.microsoft.com/office/drawing/2014/main" id="{71AB3122-947A-44DB-B190-A2601C6C95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5">
              <a:extLst>
                <a:ext uri="{FF2B5EF4-FFF2-40B4-BE49-F238E27FC236}">
                  <a16:creationId xmlns:a16="http://schemas.microsoft.com/office/drawing/2014/main" id="{74B4109D-3AFC-4D44-87B1-0CDED3E638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6">
              <a:extLst>
                <a:ext uri="{FF2B5EF4-FFF2-40B4-BE49-F238E27FC236}">
                  <a16:creationId xmlns:a16="http://schemas.microsoft.com/office/drawing/2014/main" id="{44AAD39F-F7C9-4D00-95E0-0465B4E858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7">
              <a:extLst>
                <a:ext uri="{FF2B5EF4-FFF2-40B4-BE49-F238E27FC236}">
                  <a16:creationId xmlns:a16="http://schemas.microsoft.com/office/drawing/2014/main" id="{C1DCAB8D-6EF6-4A84-8D0C-AA9226DEC9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8">
              <a:extLst>
                <a:ext uri="{FF2B5EF4-FFF2-40B4-BE49-F238E27FC236}">
                  <a16:creationId xmlns:a16="http://schemas.microsoft.com/office/drawing/2014/main" id="{C407F97F-83CF-4703-B9E0-6335530E32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0D8D2363-5D84-4CFF-89AA-3C93C859DB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0">
              <a:extLst>
                <a:ext uri="{FF2B5EF4-FFF2-40B4-BE49-F238E27FC236}">
                  <a16:creationId xmlns:a16="http://schemas.microsoft.com/office/drawing/2014/main" id="{0435A35C-AC99-4E12-8CB0-9C640DAA94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1">
              <a:extLst>
                <a:ext uri="{FF2B5EF4-FFF2-40B4-BE49-F238E27FC236}">
                  <a16:creationId xmlns:a16="http://schemas.microsoft.com/office/drawing/2014/main" id="{F20392CF-2256-4527-836B-2E6F88596E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2">
              <a:extLst>
                <a:ext uri="{FF2B5EF4-FFF2-40B4-BE49-F238E27FC236}">
                  <a16:creationId xmlns:a16="http://schemas.microsoft.com/office/drawing/2014/main" id="{C52C3AD3-122C-4010-9C55-B0247F8CCA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Rectangle 33">
              <a:extLst>
                <a:ext uri="{FF2B5EF4-FFF2-40B4-BE49-F238E27FC236}">
                  <a16:creationId xmlns:a16="http://schemas.microsoft.com/office/drawing/2014/main" id="{EFCB53ED-09C0-4AD7-9BBC-366833D5FE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4">
              <a:extLst>
                <a:ext uri="{FF2B5EF4-FFF2-40B4-BE49-F238E27FC236}">
                  <a16:creationId xmlns:a16="http://schemas.microsoft.com/office/drawing/2014/main" id="{6F309F52-BFCF-47D9-8089-BC049540DB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5">
              <a:extLst>
                <a:ext uri="{FF2B5EF4-FFF2-40B4-BE49-F238E27FC236}">
                  <a16:creationId xmlns:a16="http://schemas.microsoft.com/office/drawing/2014/main" id="{5F9AE85F-C7AA-4761-B468-2E100829BC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6">
              <a:extLst>
                <a:ext uri="{FF2B5EF4-FFF2-40B4-BE49-F238E27FC236}">
                  <a16:creationId xmlns:a16="http://schemas.microsoft.com/office/drawing/2014/main" id="{2C81C778-91E5-4AE9-AACB-8566E7A28B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7">
              <a:extLst>
                <a:ext uri="{FF2B5EF4-FFF2-40B4-BE49-F238E27FC236}">
                  <a16:creationId xmlns:a16="http://schemas.microsoft.com/office/drawing/2014/main" id="{6C56E0B4-58A0-4B2B-BD56-54121BB8DB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8">
              <a:extLst>
                <a:ext uri="{FF2B5EF4-FFF2-40B4-BE49-F238E27FC236}">
                  <a16:creationId xmlns:a16="http://schemas.microsoft.com/office/drawing/2014/main" id="{88A29CFE-13A6-4509-946F-5C074F856E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9">
              <a:extLst>
                <a:ext uri="{FF2B5EF4-FFF2-40B4-BE49-F238E27FC236}">
                  <a16:creationId xmlns:a16="http://schemas.microsoft.com/office/drawing/2014/main" id="{00235A0A-018B-4499-AC16-AF83457BF4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0">
              <a:extLst>
                <a:ext uri="{FF2B5EF4-FFF2-40B4-BE49-F238E27FC236}">
                  <a16:creationId xmlns:a16="http://schemas.microsoft.com/office/drawing/2014/main" id="{861DF9B7-50DC-4EBE-8B23-97FE92DBBB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1">
              <a:extLst>
                <a:ext uri="{FF2B5EF4-FFF2-40B4-BE49-F238E27FC236}">
                  <a16:creationId xmlns:a16="http://schemas.microsoft.com/office/drawing/2014/main" id="{69673907-73D7-4729-A911-9BD078EC2E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2">
              <a:extLst>
                <a:ext uri="{FF2B5EF4-FFF2-40B4-BE49-F238E27FC236}">
                  <a16:creationId xmlns:a16="http://schemas.microsoft.com/office/drawing/2014/main" id="{4DC844D3-8053-4EE7-A286-50157B6FD8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3">
              <a:extLst>
                <a:ext uri="{FF2B5EF4-FFF2-40B4-BE49-F238E27FC236}">
                  <a16:creationId xmlns:a16="http://schemas.microsoft.com/office/drawing/2014/main" id="{D67575A0-A45A-4773-874C-16370E3670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4">
              <a:extLst>
                <a:ext uri="{FF2B5EF4-FFF2-40B4-BE49-F238E27FC236}">
                  <a16:creationId xmlns:a16="http://schemas.microsoft.com/office/drawing/2014/main" id="{4327252B-B62B-4DE0-A924-B7F6E40AD9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Rectangle 45">
              <a:extLst>
                <a:ext uri="{FF2B5EF4-FFF2-40B4-BE49-F238E27FC236}">
                  <a16:creationId xmlns:a16="http://schemas.microsoft.com/office/drawing/2014/main" id="{778BC6A7-AC19-497B-A7C6-E447B2EBDA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6">
              <a:extLst>
                <a:ext uri="{FF2B5EF4-FFF2-40B4-BE49-F238E27FC236}">
                  <a16:creationId xmlns:a16="http://schemas.microsoft.com/office/drawing/2014/main" id="{4E79A87B-BF1F-437A-9FED-BE93025E5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47">
              <a:extLst>
                <a:ext uri="{FF2B5EF4-FFF2-40B4-BE49-F238E27FC236}">
                  <a16:creationId xmlns:a16="http://schemas.microsoft.com/office/drawing/2014/main" id="{DFAAF3CC-B4E0-45C8-AC2D-EF0D6D823D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8">
              <a:extLst>
                <a:ext uri="{FF2B5EF4-FFF2-40B4-BE49-F238E27FC236}">
                  <a16:creationId xmlns:a16="http://schemas.microsoft.com/office/drawing/2014/main" id="{A5A12C87-1E4A-4664-B2F4-A1C8B656F9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9">
              <a:extLst>
                <a:ext uri="{FF2B5EF4-FFF2-40B4-BE49-F238E27FC236}">
                  <a16:creationId xmlns:a16="http://schemas.microsoft.com/office/drawing/2014/main" id="{B3AF8230-4630-4505-ADDB-16A9B6B377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0">
              <a:extLst>
                <a:ext uri="{FF2B5EF4-FFF2-40B4-BE49-F238E27FC236}">
                  <a16:creationId xmlns:a16="http://schemas.microsoft.com/office/drawing/2014/main" id="{33F93F6D-724D-42F3-AF1D-3081EAB5D1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51">
              <a:extLst>
                <a:ext uri="{FF2B5EF4-FFF2-40B4-BE49-F238E27FC236}">
                  <a16:creationId xmlns:a16="http://schemas.microsoft.com/office/drawing/2014/main" id="{F5DD7A8F-FB67-4E79-80DB-0FAF3A0989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2">
              <a:extLst>
                <a:ext uri="{FF2B5EF4-FFF2-40B4-BE49-F238E27FC236}">
                  <a16:creationId xmlns:a16="http://schemas.microsoft.com/office/drawing/2014/main" id="{7B140A84-E89E-4A80-9DF8-7BCA45F908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3">
              <a:extLst>
                <a:ext uri="{FF2B5EF4-FFF2-40B4-BE49-F238E27FC236}">
                  <a16:creationId xmlns:a16="http://schemas.microsoft.com/office/drawing/2014/main" id="{279E1D6A-EFE2-44C6-A5BF-DFADF0DC91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4">
              <a:extLst>
                <a:ext uri="{FF2B5EF4-FFF2-40B4-BE49-F238E27FC236}">
                  <a16:creationId xmlns:a16="http://schemas.microsoft.com/office/drawing/2014/main" id="{C9FA2204-561F-4ABB-988C-03053820F1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5">
              <a:extLst>
                <a:ext uri="{FF2B5EF4-FFF2-40B4-BE49-F238E27FC236}">
                  <a16:creationId xmlns:a16="http://schemas.microsoft.com/office/drawing/2014/main" id="{8BD7D04E-AC0A-424F-BC40-28842DAFFA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6">
              <a:extLst>
                <a:ext uri="{FF2B5EF4-FFF2-40B4-BE49-F238E27FC236}">
                  <a16:creationId xmlns:a16="http://schemas.microsoft.com/office/drawing/2014/main" id="{32B616A2-FE09-47DD-B58C-12EE58B7CA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7">
              <a:extLst>
                <a:ext uri="{FF2B5EF4-FFF2-40B4-BE49-F238E27FC236}">
                  <a16:creationId xmlns:a16="http://schemas.microsoft.com/office/drawing/2014/main" id="{08C5EAF5-6064-484E-BA05-80D09D84EA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8">
              <a:extLst>
                <a:ext uri="{FF2B5EF4-FFF2-40B4-BE49-F238E27FC236}">
                  <a16:creationId xmlns:a16="http://schemas.microsoft.com/office/drawing/2014/main" id="{F11D90DF-D275-4725-884C-77E5E01D89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9BE10567-6165-46A7-867D-4690A16B46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66" name="Rectangle 65">
              <a:extLst>
                <a:ext uri="{FF2B5EF4-FFF2-40B4-BE49-F238E27FC236}">
                  <a16:creationId xmlns:a16="http://schemas.microsoft.com/office/drawing/2014/main" id="{0F4DB1F4-429C-4C85-85D7-C4D81996D3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7" name="Picture 2">
              <a:extLst>
                <a:ext uri="{FF2B5EF4-FFF2-40B4-BE49-F238E27FC236}">
                  <a16:creationId xmlns:a16="http://schemas.microsoft.com/office/drawing/2014/main" id="{159C0DA6-71D9-4C96-A774-7FADF5E0A4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2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p14="http://schemas.microsoft.com/office/powerpoint/2010/main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69" name="Round Diagonal Corner Rectangle 7">
            <a:extLst>
              <a:ext uri="{FF2B5EF4-FFF2-40B4-BE49-F238E27FC236}">
                <a16:creationId xmlns:a16="http://schemas.microsoft.com/office/drawing/2014/main" id="{4B24F6DB-F114-44A7-BB56-D401884E4E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582333" y="2235200"/>
            <a:ext cx="7027334" cy="2396067"/>
          </a:xfrm>
          <a:prstGeom prst="round2DiagRect">
            <a:avLst>
              <a:gd name="adj1" fmla="val 9246"/>
              <a:gd name="adj2" fmla="val 0"/>
            </a:avLst>
          </a:prstGeom>
          <a:solidFill>
            <a:srgbClr val="000000">
              <a:alpha val="80000"/>
            </a:srgbClr>
          </a:solidFill>
          <a:ln w="19050" cap="sq">
            <a:solidFill>
              <a:schemeClr val="tx2"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4DB50ECD-225E-4F81-AF7B-706DD05F3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05895" y="2900097"/>
            <a:ext cx="10982062" cy="1211524"/>
            <a:chOff x="605895" y="2900097"/>
            <a:chExt cx="10982062" cy="1211524"/>
          </a:xfrm>
          <a:effectLst/>
        </p:grpSpPr>
        <p:sp>
          <p:nvSpPr>
            <p:cNvPr id="72" name="Freeform 32">
              <a:extLst>
                <a:ext uri="{FF2B5EF4-FFF2-40B4-BE49-F238E27FC236}">
                  <a16:creationId xmlns:a16="http://schemas.microsoft.com/office/drawing/2014/main" id="{CBC3B006-1357-4969-BC3D-CDD91E492B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5400000" flipV="1">
              <a:off x="9653587" y="3379784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Freeform 33">
              <a:extLst>
                <a:ext uri="{FF2B5EF4-FFF2-40B4-BE49-F238E27FC236}">
                  <a16:creationId xmlns:a16="http://schemas.microsoft.com/office/drawing/2014/main" id="{0D6E4F1D-B331-41B5-90EF-2236C1EE15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5400000" flipV="1">
              <a:off x="10078244" y="3310728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Freeform 34">
              <a:extLst>
                <a:ext uri="{FF2B5EF4-FFF2-40B4-BE49-F238E27FC236}">
                  <a16:creationId xmlns:a16="http://schemas.microsoft.com/office/drawing/2014/main" id="{54A60014-21DF-44E5-9137-4335718850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5400000" flipV="1">
              <a:off x="11146631" y="3574253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Freeform 37">
              <a:extLst>
                <a:ext uri="{FF2B5EF4-FFF2-40B4-BE49-F238E27FC236}">
                  <a16:creationId xmlns:a16="http://schemas.microsoft.com/office/drawing/2014/main" id="{40B768C0-B003-45F4-9A06-EA3509A90B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5400000" flipV="1">
              <a:off x="10230644" y="3034502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Freeform 35">
              <a:extLst>
                <a:ext uri="{FF2B5EF4-FFF2-40B4-BE49-F238E27FC236}">
                  <a16:creationId xmlns:a16="http://schemas.microsoft.com/office/drawing/2014/main" id="{5E479182-2054-4AD9-823D-81CFAD7F2C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5400000">
              <a:off x="10034587" y="256275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Freeform 36">
              <a:extLst>
                <a:ext uri="{FF2B5EF4-FFF2-40B4-BE49-F238E27FC236}">
                  <a16:creationId xmlns:a16="http://schemas.microsoft.com/office/drawing/2014/main" id="{A7D912CF-756A-41F1-8BF1-5BA7D1BD05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5400000">
              <a:off x="10747375" y="3232679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38">
              <a:extLst>
                <a:ext uri="{FF2B5EF4-FFF2-40B4-BE49-F238E27FC236}">
                  <a16:creationId xmlns:a16="http://schemas.microsoft.com/office/drawing/2014/main" id="{734B6F35-2160-44B1-AB00-F628C84B14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5400000">
              <a:off x="11399044" y="3095360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Freeform 39">
              <a:extLst>
                <a:ext uri="{FF2B5EF4-FFF2-40B4-BE49-F238E27FC236}">
                  <a16:creationId xmlns:a16="http://schemas.microsoft.com/office/drawing/2014/main" id="{D8657E76-4F63-44FE-86C5-54CA174FCB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5400000">
              <a:off x="10353675" y="2153178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Freeform 40">
              <a:extLst>
                <a:ext uri="{FF2B5EF4-FFF2-40B4-BE49-F238E27FC236}">
                  <a16:creationId xmlns:a16="http://schemas.microsoft.com/office/drawing/2014/main" id="{482CEB8C-90E5-4152-8B52-A2881B98A3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5400000">
              <a:off x="9848850" y="330887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Rectangle 41">
              <a:extLst>
                <a:ext uri="{FF2B5EF4-FFF2-40B4-BE49-F238E27FC236}">
                  <a16:creationId xmlns:a16="http://schemas.microsoft.com/office/drawing/2014/main" id="{85010FC2-BC4C-4692-876D-7FE363BFC6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5400000">
              <a:off x="9721056" y="3284272"/>
              <a:ext cx="23813" cy="252413"/>
            </a:xfrm>
            <a:prstGeom prst="rect">
              <a:avLst/>
            </a:pr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Freeform 32">
              <a:extLst>
                <a:ext uri="{FF2B5EF4-FFF2-40B4-BE49-F238E27FC236}">
                  <a16:creationId xmlns:a16="http://schemas.microsoft.com/office/drawing/2014/main" id="{714C1223-2B78-4715-9ACB-079A60D16D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200000" flipH="1" flipV="1">
              <a:off x="2122751" y="3532184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Freeform 33">
              <a:extLst>
                <a:ext uri="{FF2B5EF4-FFF2-40B4-BE49-F238E27FC236}">
                  <a16:creationId xmlns:a16="http://schemas.microsoft.com/office/drawing/2014/main" id="{1D9109D3-C92A-410B-9B43-5F02B2D84E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200000" flipH="1" flipV="1">
              <a:off x="1958445" y="3463128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Freeform 34">
              <a:extLst>
                <a:ext uri="{FF2B5EF4-FFF2-40B4-BE49-F238E27FC236}">
                  <a16:creationId xmlns:a16="http://schemas.microsoft.com/office/drawing/2014/main" id="{EF5B327A-A1AE-42F3-815E-84F4AA2948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200000" flipH="1" flipV="1">
              <a:off x="858308" y="3726653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37">
              <a:extLst>
                <a:ext uri="{FF2B5EF4-FFF2-40B4-BE49-F238E27FC236}">
                  <a16:creationId xmlns:a16="http://schemas.microsoft.com/office/drawing/2014/main" id="{77738BDE-751F-4D4C-B4C4-C9DF3EA291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200000" flipH="1" flipV="1">
              <a:off x="1658407" y="3186902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Freeform 35">
              <a:extLst>
                <a:ext uri="{FF2B5EF4-FFF2-40B4-BE49-F238E27FC236}">
                  <a16:creationId xmlns:a16="http://schemas.microsoft.com/office/drawing/2014/main" id="{9C8C4AD6-72BF-490C-963C-97C7FD7E7E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200000" flipH="1">
              <a:off x="1860814" y="271515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Freeform 36">
              <a:extLst>
                <a:ext uri="{FF2B5EF4-FFF2-40B4-BE49-F238E27FC236}">
                  <a16:creationId xmlns:a16="http://schemas.microsoft.com/office/drawing/2014/main" id="{94990E31-5AA8-4502-A963-CE1B539DAC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200000" flipH="1">
              <a:off x="1289314" y="3385079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Freeform 38">
              <a:extLst>
                <a:ext uri="{FF2B5EF4-FFF2-40B4-BE49-F238E27FC236}">
                  <a16:creationId xmlns:a16="http://schemas.microsoft.com/office/drawing/2014/main" id="{9E703E9D-ED76-449C-A8C0-7A1E24B8B2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200000" flipH="1">
              <a:off x="605895" y="3247760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Freeform 39">
              <a:extLst>
                <a:ext uri="{FF2B5EF4-FFF2-40B4-BE49-F238E27FC236}">
                  <a16:creationId xmlns:a16="http://schemas.microsoft.com/office/drawing/2014/main" id="{C70A75E8-C815-4CCF-ABEE-83F19BFE05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200000" flipH="1">
              <a:off x="1532202" y="2305578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Freeform 40">
              <a:extLst>
                <a:ext uri="{FF2B5EF4-FFF2-40B4-BE49-F238E27FC236}">
                  <a16:creationId xmlns:a16="http://schemas.microsoft.com/office/drawing/2014/main" id="{E15638E1-6A92-4D31-A034-853A65A754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200000" flipH="1">
              <a:off x="2154501" y="346127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Rectangle 41">
              <a:extLst>
                <a:ext uri="{FF2B5EF4-FFF2-40B4-BE49-F238E27FC236}">
                  <a16:creationId xmlns:a16="http://schemas.microsoft.com/office/drawing/2014/main" id="{EA3E8D58-D52B-4300-8A50-5696430D1A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200000" flipH="1">
              <a:off x="2448983" y="3436672"/>
              <a:ext cx="23813" cy="252413"/>
            </a:xfrm>
            <a:prstGeom prst="rect">
              <a:avLst/>
            </a:prstGeom>
            <a:solidFill>
              <a:schemeClr val="tx2">
                <a:alpha val="60000"/>
              </a:schemeClr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u 1">
            <a:extLst>
              <a:ext uri="{FF2B5EF4-FFF2-40B4-BE49-F238E27FC236}">
                <a16:creationId xmlns:a16="http://schemas.microsoft.com/office/drawing/2014/main" id="{6D99CAE7-132A-8B7A-F5A3-C54D3E080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0" y="2714625"/>
            <a:ext cx="6858000" cy="156209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400" dirty="0" err="1">
                <a:solidFill>
                  <a:srgbClr val="FFFFFF"/>
                </a:solidFill>
              </a:rPr>
              <a:t>Vă</a:t>
            </a:r>
            <a:r>
              <a:rPr lang="en-US" sz="4400" dirty="0">
                <a:solidFill>
                  <a:srgbClr val="FFFFFF"/>
                </a:solidFill>
              </a:rPr>
              <a:t> </a:t>
            </a:r>
            <a:r>
              <a:rPr lang="en-US" sz="4400" dirty="0" err="1">
                <a:solidFill>
                  <a:srgbClr val="FFFFFF"/>
                </a:solidFill>
              </a:rPr>
              <a:t>mulțumesc</a:t>
            </a:r>
            <a:r>
              <a:rPr lang="en-US" sz="4400" dirty="0">
                <a:solidFill>
                  <a:srgbClr val="FFFFFF"/>
                </a:solidFill>
              </a:rPr>
              <a:t> </a:t>
            </a:r>
            <a:r>
              <a:rPr lang="en-US" sz="4400" dirty="0" err="1">
                <a:solidFill>
                  <a:srgbClr val="FFFFFF"/>
                </a:solidFill>
              </a:rPr>
              <a:t>pentru</a:t>
            </a:r>
            <a:r>
              <a:rPr lang="en-US" sz="4400" dirty="0">
                <a:solidFill>
                  <a:srgbClr val="FFFFFF"/>
                </a:solidFill>
              </a:rPr>
              <a:t> </a:t>
            </a:r>
            <a:r>
              <a:rPr lang="en-US" sz="4400" dirty="0" err="1">
                <a:solidFill>
                  <a:srgbClr val="FFFFFF"/>
                </a:solidFill>
              </a:rPr>
              <a:t>atenție</a:t>
            </a:r>
            <a:r>
              <a:rPr lang="en-US" sz="4400" dirty="0">
                <a:solidFill>
                  <a:srgbClr val="FFFFFF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548900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Temă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582</TotalTime>
  <Words>1190</Words>
  <Application>Microsoft Office PowerPoint</Application>
  <PresentationFormat>Ecran lat</PresentationFormat>
  <Paragraphs>160</Paragraphs>
  <Slides>22</Slides>
  <Notes>17</Notes>
  <HiddenSlides>0</HiddenSlides>
  <MMClips>0</MMClips>
  <ScaleCrop>false</ScaleCrop>
  <HeadingPairs>
    <vt:vector size="6" baseType="variant">
      <vt:variant>
        <vt:lpstr>Fonturi utilizate</vt:lpstr>
      </vt:variant>
      <vt:variant>
        <vt:i4>3</vt:i4>
      </vt:variant>
      <vt:variant>
        <vt:lpstr>Temă</vt:lpstr>
      </vt:variant>
      <vt:variant>
        <vt:i4>1</vt:i4>
      </vt:variant>
      <vt:variant>
        <vt:lpstr>Titluri diapozitive</vt:lpstr>
      </vt:variant>
      <vt:variant>
        <vt:i4>22</vt:i4>
      </vt:variant>
    </vt:vector>
  </HeadingPairs>
  <TitlesOfParts>
    <vt:vector size="26" baseType="lpstr">
      <vt:lpstr>Aptos</vt:lpstr>
      <vt:lpstr>Arial</vt:lpstr>
      <vt:lpstr>Tw Cen MT</vt:lpstr>
      <vt:lpstr>Circuit</vt:lpstr>
      <vt:lpstr>Analiza sentimentelor din recenziile filmelor</vt:lpstr>
      <vt:lpstr>Problema studiată</vt:lpstr>
      <vt:lpstr>Scop și Obiective</vt:lpstr>
      <vt:lpstr>Dataset</vt:lpstr>
      <vt:lpstr>Preprocesarea Datelor</vt:lpstr>
      <vt:lpstr>Parametri NLP</vt:lpstr>
      <vt:lpstr>Reprezentarea Textului</vt:lpstr>
      <vt:lpstr>Rețele Neurale Recurente (RNN)</vt:lpstr>
      <vt:lpstr>Long Short-Term Memory(lstm)</vt:lpstr>
      <vt:lpstr>Gated Recurrent Unit(gru)</vt:lpstr>
      <vt:lpstr>Bidirectional LSTM</vt:lpstr>
      <vt:lpstr>LSTM + glove</vt:lpstr>
      <vt:lpstr>Configurația de Antrenare</vt:lpstr>
      <vt:lpstr>Prezentare PowerPoint</vt:lpstr>
      <vt:lpstr>Prezentare PowerPoint</vt:lpstr>
      <vt:lpstr>Rezultate lstm</vt:lpstr>
      <vt:lpstr>Rezultate gru</vt:lpstr>
      <vt:lpstr>Rezultate bidirctional lstm</vt:lpstr>
      <vt:lpstr>Rezultate lstm + Glove</vt:lpstr>
      <vt:lpstr>Demonstrație Practică</vt:lpstr>
      <vt:lpstr>Concluzii</vt:lpstr>
      <vt:lpstr>Vă mulțumesc pentru atenție!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COCEI JANINA-CONSTANTINA</dc:creator>
  <cp:lastModifiedBy>COCEI JANINA-CONSTANTINA</cp:lastModifiedBy>
  <cp:revision>6</cp:revision>
  <dcterms:created xsi:type="dcterms:W3CDTF">2026-01-04T21:54:23Z</dcterms:created>
  <dcterms:modified xsi:type="dcterms:W3CDTF">2026-01-11T14:10:58Z</dcterms:modified>
</cp:coreProperties>
</file>