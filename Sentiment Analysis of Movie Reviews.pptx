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 tematic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78" autoAdjust="0"/>
  </p:normalViewPr>
  <p:slideViewPr>
    <p:cSldViewPr snapToGrid="0">
      <p:cViewPr>
        <p:scale>
          <a:sx n="100" d="100"/>
          <a:sy n="100" d="100"/>
        </p:scale>
        <p:origin x="91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78E18-24E8-4D42-BEE6-6554032DFC76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803CC9-A560-4FB3-9CD6-A47EC2391268}">
      <dgm:prSet/>
      <dgm:spPr/>
      <dgm:t>
        <a:bodyPr/>
        <a:lstStyle/>
        <a:p>
          <a:r>
            <a:rPr lang="en-US" b="1" dirty="0"/>
            <a:t>Embedding Layer</a:t>
          </a:r>
          <a:endParaRPr lang="en-US" dirty="0"/>
        </a:p>
      </dgm:t>
    </dgm:pt>
    <dgm:pt modelId="{AF193001-621F-451E-AF73-3ECDB5944EA0}" type="parTrans" cxnId="{C48D0A12-F118-4979-8BE7-E89B7747533B}">
      <dgm:prSet/>
      <dgm:spPr/>
      <dgm:t>
        <a:bodyPr/>
        <a:lstStyle/>
        <a:p>
          <a:endParaRPr lang="en-US"/>
        </a:p>
      </dgm:t>
    </dgm:pt>
    <dgm:pt modelId="{0F47356B-D584-49EC-82D8-30CC05455D1A}" type="sibTrans" cxnId="{C48D0A12-F118-4979-8BE7-E89B7747533B}">
      <dgm:prSet/>
      <dgm:spPr/>
      <dgm:t>
        <a:bodyPr/>
        <a:lstStyle/>
        <a:p>
          <a:endParaRPr lang="en-US"/>
        </a:p>
      </dgm:t>
    </dgm:pt>
    <dgm:pt modelId="{12FEA5D6-8C58-417F-B135-FFCDE7DF7D43}">
      <dgm:prSet/>
      <dgm:spPr/>
      <dgm:t>
        <a:bodyPr/>
        <a:lstStyle/>
        <a:p>
          <a:r>
            <a:rPr lang="en-US"/>
            <a:t>Dimensiune vector: 128</a:t>
          </a:r>
        </a:p>
      </dgm:t>
    </dgm:pt>
    <dgm:pt modelId="{23708256-1284-4663-B68D-01BD7184E84B}" type="parTrans" cxnId="{C797B1C5-CECB-4DC4-9A3E-12A676D5F4B6}">
      <dgm:prSet/>
      <dgm:spPr/>
      <dgm:t>
        <a:bodyPr/>
        <a:lstStyle/>
        <a:p>
          <a:endParaRPr lang="en-US"/>
        </a:p>
      </dgm:t>
    </dgm:pt>
    <dgm:pt modelId="{5AA91205-77FF-4F3D-856C-952E826ABB74}" type="sibTrans" cxnId="{C797B1C5-CECB-4DC4-9A3E-12A676D5F4B6}">
      <dgm:prSet/>
      <dgm:spPr/>
      <dgm:t>
        <a:bodyPr/>
        <a:lstStyle/>
        <a:p>
          <a:endParaRPr lang="en-US"/>
        </a:p>
      </dgm:t>
    </dgm:pt>
    <dgm:pt modelId="{AF4092DA-C315-448D-B89B-46EC98E29435}">
      <dgm:prSet/>
      <dgm:spPr/>
      <dgm:t>
        <a:bodyPr/>
        <a:lstStyle/>
        <a:p>
          <a:r>
            <a:rPr lang="en-US"/>
            <a:t>Fiecare cuvânt → vector numeric dens</a:t>
          </a:r>
        </a:p>
      </dgm:t>
    </dgm:pt>
    <dgm:pt modelId="{E933C82A-53EB-4D30-8258-D295D64B96D5}" type="parTrans" cxnId="{8DB8709B-B6FD-4A78-BBF6-2D603055B973}">
      <dgm:prSet/>
      <dgm:spPr/>
      <dgm:t>
        <a:bodyPr/>
        <a:lstStyle/>
        <a:p>
          <a:endParaRPr lang="en-US"/>
        </a:p>
      </dgm:t>
    </dgm:pt>
    <dgm:pt modelId="{4DCE44B0-6CA2-4A5E-B71C-A9DAE2042C65}" type="sibTrans" cxnId="{8DB8709B-B6FD-4A78-BBF6-2D603055B973}">
      <dgm:prSet/>
      <dgm:spPr/>
      <dgm:t>
        <a:bodyPr/>
        <a:lstStyle/>
        <a:p>
          <a:endParaRPr lang="en-US"/>
        </a:p>
      </dgm:t>
    </dgm:pt>
    <dgm:pt modelId="{8B7607CD-EF95-4476-9E24-58A24D99724E}">
      <dgm:prSet/>
      <dgm:spPr/>
      <dgm:t>
        <a:bodyPr/>
        <a:lstStyle/>
        <a:p>
          <a:r>
            <a:rPr lang="en-US"/>
            <a:t>Învață relații semantice între cuvinte</a:t>
          </a:r>
        </a:p>
      </dgm:t>
    </dgm:pt>
    <dgm:pt modelId="{4F5D84BE-9FD7-44B8-AF33-525F2AAF95F6}" type="parTrans" cxnId="{28DCE9A8-859C-49CD-A17F-8111330697D8}">
      <dgm:prSet/>
      <dgm:spPr/>
      <dgm:t>
        <a:bodyPr/>
        <a:lstStyle/>
        <a:p>
          <a:endParaRPr lang="en-US"/>
        </a:p>
      </dgm:t>
    </dgm:pt>
    <dgm:pt modelId="{E10CCD31-8B6F-4D39-8E4A-2EBECFF1EDF0}" type="sibTrans" cxnId="{28DCE9A8-859C-49CD-A17F-8111330697D8}">
      <dgm:prSet/>
      <dgm:spPr/>
      <dgm:t>
        <a:bodyPr/>
        <a:lstStyle/>
        <a:p>
          <a:endParaRPr lang="en-US"/>
        </a:p>
      </dgm:t>
    </dgm:pt>
    <dgm:pt modelId="{2F3EF53B-1D6A-4EDF-8A40-A4D394D249E2}" type="pres">
      <dgm:prSet presAssocID="{5CD78E18-24E8-4D42-BEE6-6554032DFC76}" presName="diagram" presStyleCnt="0">
        <dgm:presLayoutVars>
          <dgm:dir/>
          <dgm:resizeHandles val="exact"/>
        </dgm:presLayoutVars>
      </dgm:prSet>
      <dgm:spPr/>
    </dgm:pt>
    <dgm:pt modelId="{037EB56C-DA52-4AD5-B04E-767E37C6BC22}" type="pres">
      <dgm:prSet presAssocID="{6A803CC9-A560-4FB3-9CD6-A47EC2391268}" presName="node" presStyleLbl="node1" presStyleIdx="0" presStyleCnt="4">
        <dgm:presLayoutVars>
          <dgm:bulletEnabled val="1"/>
        </dgm:presLayoutVars>
      </dgm:prSet>
      <dgm:spPr/>
    </dgm:pt>
    <dgm:pt modelId="{5C52296F-2C4E-46D4-88E7-B9251A5FD82F}" type="pres">
      <dgm:prSet presAssocID="{0F47356B-D584-49EC-82D8-30CC05455D1A}" presName="sibTrans" presStyleLbl="sibTrans2D1" presStyleIdx="0" presStyleCnt="3"/>
      <dgm:spPr/>
    </dgm:pt>
    <dgm:pt modelId="{A83FFE88-5031-4B73-860D-43D6D0C0CCC5}" type="pres">
      <dgm:prSet presAssocID="{0F47356B-D584-49EC-82D8-30CC05455D1A}" presName="connectorText" presStyleLbl="sibTrans2D1" presStyleIdx="0" presStyleCnt="3"/>
      <dgm:spPr/>
    </dgm:pt>
    <dgm:pt modelId="{BF6CE068-CF26-48EE-B88F-3F4C0F701C62}" type="pres">
      <dgm:prSet presAssocID="{12FEA5D6-8C58-417F-B135-FFCDE7DF7D43}" presName="node" presStyleLbl="node1" presStyleIdx="1" presStyleCnt="4">
        <dgm:presLayoutVars>
          <dgm:bulletEnabled val="1"/>
        </dgm:presLayoutVars>
      </dgm:prSet>
      <dgm:spPr/>
    </dgm:pt>
    <dgm:pt modelId="{163168BB-8B04-4E0E-ADB4-DF1634CB68D4}" type="pres">
      <dgm:prSet presAssocID="{5AA91205-77FF-4F3D-856C-952E826ABB74}" presName="sibTrans" presStyleLbl="sibTrans2D1" presStyleIdx="1" presStyleCnt="3"/>
      <dgm:spPr/>
    </dgm:pt>
    <dgm:pt modelId="{EEF0FFE0-ACA7-4B61-B1CB-C453BE63F6E4}" type="pres">
      <dgm:prSet presAssocID="{5AA91205-77FF-4F3D-856C-952E826ABB74}" presName="connectorText" presStyleLbl="sibTrans2D1" presStyleIdx="1" presStyleCnt="3"/>
      <dgm:spPr/>
    </dgm:pt>
    <dgm:pt modelId="{1B14C2BE-717B-48E0-A78A-0C589BF522D0}" type="pres">
      <dgm:prSet presAssocID="{AF4092DA-C315-448D-B89B-46EC98E29435}" presName="node" presStyleLbl="node1" presStyleIdx="2" presStyleCnt="4">
        <dgm:presLayoutVars>
          <dgm:bulletEnabled val="1"/>
        </dgm:presLayoutVars>
      </dgm:prSet>
      <dgm:spPr/>
    </dgm:pt>
    <dgm:pt modelId="{03286CA9-ACFC-4204-BE41-5AE99E65D850}" type="pres">
      <dgm:prSet presAssocID="{4DCE44B0-6CA2-4A5E-B71C-A9DAE2042C65}" presName="sibTrans" presStyleLbl="sibTrans2D1" presStyleIdx="2" presStyleCnt="3"/>
      <dgm:spPr/>
    </dgm:pt>
    <dgm:pt modelId="{55BFF6EC-71F1-41AE-8087-9333292A6D4A}" type="pres">
      <dgm:prSet presAssocID="{4DCE44B0-6CA2-4A5E-B71C-A9DAE2042C65}" presName="connectorText" presStyleLbl="sibTrans2D1" presStyleIdx="2" presStyleCnt="3"/>
      <dgm:spPr/>
    </dgm:pt>
    <dgm:pt modelId="{0F9F7299-ED5C-4EC6-8BC9-D4B3D053677E}" type="pres">
      <dgm:prSet presAssocID="{8B7607CD-EF95-4476-9E24-58A24D99724E}" presName="node" presStyleLbl="node1" presStyleIdx="3" presStyleCnt="4">
        <dgm:presLayoutVars>
          <dgm:bulletEnabled val="1"/>
        </dgm:presLayoutVars>
      </dgm:prSet>
      <dgm:spPr/>
    </dgm:pt>
  </dgm:ptLst>
  <dgm:cxnLst>
    <dgm:cxn modelId="{C48D0A12-F118-4979-8BE7-E89B7747533B}" srcId="{5CD78E18-24E8-4D42-BEE6-6554032DFC76}" destId="{6A803CC9-A560-4FB3-9CD6-A47EC2391268}" srcOrd="0" destOrd="0" parTransId="{AF193001-621F-451E-AF73-3ECDB5944EA0}" sibTransId="{0F47356B-D584-49EC-82D8-30CC05455D1A}"/>
    <dgm:cxn modelId="{A9B72112-7C16-483B-B3D8-93A6CEA4EA43}" type="presOf" srcId="{5AA91205-77FF-4F3D-856C-952E826ABB74}" destId="{EEF0FFE0-ACA7-4B61-B1CB-C453BE63F6E4}" srcOrd="1" destOrd="0" presId="urn:microsoft.com/office/officeart/2005/8/layout/process5"/>
    <dgm:cxn modelId="{7FE79A15-831C-4B9F-ABFC-DD1CF0AE1938}" type="presOf" srcId="{6A803CC9-A560-4FB3-9CD6-A47EC2391268}" destId="{037EB56C-DA52-4AD5-B04E-767E37C6BC22}" srcOrd="0" destOrd="0" presId="urn:microsoft.com/office/officeart/2005/8/layout/process5"/>
    <dgm:cxn modelId="{43096318-5DA3-4E63-8D2A-5309B3B89D68}" type="presOf" srcId="{8B7607CD-EF95-4476-9E24-58A24D99724E}" destId="{0F9F7299-ED5C-4EC6-8BC9-D4B3D053677E}" srcOrd="0" destOrd="0" presId="urn:microsoft.com/office/officeart/2005/8/layout/process5"/>
    <dgm:cxn modelId="{A8CEF425-A06C-4F07-9EAC-5220BD7E19D0}" type="presOf" srcId="{AF4092DA-C315-448D-B89B-46EC98E29435}" destId="{1B14C2BE-717B-48E0-A78A-0C589BF522D0}" srcOrd="0" destOrd="0" presId="urn:microsoft.com/office/officeart/2005/8/layout/process5"/>
    <dgm:cxn modelId="{09D20C31-948E-4220-BFA2-AFFC7B2F4BCE}" type="presOf" srcId="{12FEA5D6-8C58-417F-B135-FFCDE7DF7D43}" destId="{BF6CE068-CF26-48EE-B88F-3F4C0F701C62}" srcOrd="0" destOrd="0" presId="urn:microsoft.com/office/officeart/2005/8/layout/process5"/>
    <dgm:cxn modelId="{A1AB3138-725B-4316-A800-C8C4559673D9}" type="presOf" srcId="{5AA91205-77FF-4F3D-856C-952E826ABB74}" destId="{163168BB-8B04-4E0E-ADB4-DF1634CB68D4}" srcOrd="0" destOrd="0" presId="urn:microsoft.com/office/officeart/2005/8/layout/process5"/>
    <dgm:cxn modelId="{3F01695D-E391-409E-A40B-0DABA07A13F8}" type="presOf" srcId="{0F47356B-D584-49EC-82D8-30CC05455D1A}" destId="{5C52296F-2C4E-46D4-88E7-B9251A5FD82F}" srcOrd="0" destOrd="0" presId="urn:microsoft.com/office/officeart/2005/8/layout/process5"/>
    <dgm:cxn modelId="{17FDF752-E2AE-411C-B7B6-6527D88D6993}" type="presOf" srcId="{4DCE44B0-6CA2-4A5E-B71C-A9DAE2042C65}" destId="{55BFF6EC-71F1-41AE-8087-9333292A6D4A}" srcOrd="1" destOrd="0" presId="urn:microsoft.com/office/officeart/2005/8/layout/process5"/>
    <dgm:cxn modelId="{8DB8709B-B6FD-4A78-BBF6-2D603055B973}" srcId="{5CD78E18-24E8-4D42-BEE6-6554032DFC76}" destId="{AF4092DA-C315-448D-B89B-46EC98E29435}" srcOrd="2" destOrd="0" parTransId="{E933C82A-53EB-4D30-8258-D295D64B96D5}" sibTransId="{4DCE44B0-6CA2-4A5E-B71C-A9DAE2042C65}"/>
    <dgm:cxn modelId="{28DCE9A8-859C-49CD-A17F-8111330697D8}" srcId="{5CD78E18-24E8-4D42-BEE6-6554032DFC76}" destId="{8B7607CD-EF95-4476-9E24-58A24D99724E}" srcOrd="3" destOrd="0" parTransId="{4F5D84BE-9FD7-44B8-AF33-525F2AAF95F6}" sibTransId="{E10CCD31-8B6F-4D39-8E4A-2EBECFF1EDF0}"/>
    <dgm:cxn modelId="{C797B1C5-CECB-4DC4-9A3E-12A676D5F4B6}" srcId="{5CD78E18-24E8-4D42-BEE6-6554032DFC76}" destId="{12FEA5D6-8C58-417F-B135-FFCDE7DF7D43}" srcOrd="1" destOrd="0" parTransId="{23708256-1284-4663-B68D-01BD7184E84B}" sibTransId="{5AA91205-77FF-4F3D-856C-952E826ABB74}"/>
    <dgm:cxn modelId="{A40350D7-5293-4A8F-99E3-9E93935364CC}" type="presOf" srcId="{0F47356B-D584-49EC-82D8-30CC05455D1A}" destId="{A83FFE88-5031-4B73-860D-43D6D0C0CCC5}" srcOrd="1" destOrd="0" presId="urn:microsoft.com/office/officeart/2005/8/layout/process5"/>
    <dgm:cxn modelId="{85699DDB-4868-4BF5-A98C-9DBD7BB247E4}" type="presOf" srcId="{4DCE44B0-6CA2-4A5E-B71C-A9DAE2042C65}" destId="{03286CA9-ACFC-4204-BE41-5AE99E65D850}" srcOrd="0" destOrd="0" presId="urn:microsoft.com/office/officeart/2005/8/layout/process5"/>
    <dgm:cxn modelId="{99D678E6-2E40-4ABB-A5F5-17EF15F6F087}" type="presOf" srcId="{5CD78E18-24E8-4D42-BEE6-6554032DFC76}" destId="{2F3EF53B-1D6A-4EDF-8A40-A4D394D249E2}" srcOrd="0" destOrd="0" presId="urn:microsoft.com/office/officeart/2005/8/layout/process5"/>
    <dgm:cxn modelId="{F22EA246-4812-4A30-AF8F-7AFCB3F8230F}" type="presParOf" srcId="{2F3EF53B-1D6A-4EDF-8A40-A4D394D249E2}" destId="{037EB56C-DA52-4AD5-B04E-767E37C6BC22}" srcOrd="0" destOrd="0" presId="urn:microsoft.com/office/officeart/2005/8/layout/process5"/>
    <dgm:cxn modelId="{05A3F72B-F825-45BE-92D1-74938BE98A43}" type="presParOf" srcId="{2F3EF53B-1D6A-4EDF-8A40-A4D394D249E2}" destId="{5C52296F-2C4E-46D4-88E7-B9251A5FD82F}" srcOrd="1" destOrd="0" presId="urn:microsoft.com/office/officeart/2005/8/layout/process5"/>
    <dgm:cxn modelId="{7C9CA970-974D-4DCE-8A7C-DB07E17BFAD7}" type="presParOf" srcId="{5C52296F-2C4E-46D4-88E7-B9251A5FD82F}" destId="{A83FFE88-5031-4B73-860D-43D6D0C0CCC5}" srcOrd="0" destOrd="0" presId="urn:microsoft.com/office/officeart/2005/8/layout/process5"/>
    <dgm:cxn modelId="{9D8453E7-2A04-42F4-8254-52D66424ACDC}" type="presParOf" srcId="{2F3EF53B-1D6A-4EDF-8A40-A4D394D249E2}" destId="{BF6CE068-CF26-48EE-B88F-3F4C0F701C62}" srcOrd="2" destOrd="0" presId="urn:microsoft.com/office/officeart/2005/8/layout/process5"/>
    <dgm:cxn modelId="{7CF2BD16-B86D-46C1-9CC7-305114CC43AA}" type="presParOf" srcId="{2F3EF53B-1D6A-4EDF-8A40-A4D394D249E2}" destId="{163168BB-8B04-4E0E-ADB4-DF1634CB68D4}" srcOrd="3" destOrd="0" presId="urn:microsoft.com/office/officeart/2005/8/layout/process5"/>
    <dgm:cxn modelId="{AB4DE755-F7B4-4460-9B47-B171E52199BC}" type="presParOf" srcId="{163168BB-8B04-4E0E-ADB4-DF1634CB68D4}" destId="{EEF0FFE0-ACA7-4B61-B1CB-C453BE63F6E4}" srcOrd="0" destOrd="0" presId="urn:microsoft.com/office/officeart/2005/8/layout/process5"/>
    <dgm:cxn modelId="{7B7640EB-B853-45B4-885C-7BEF18975A3B}" type="presParOf" srcId="{2F3EF53B-1D6A-4EDF-8A40-A4D394D249E2}" destId="{1B14C2BE-717B-48E0-A78A-0C589BF522D0}" srcOrd="4" destOrd="0" presId="urn:microsoft.com/office/officeart/2005/8/layout/process5"/>
    <dgm:cxn modelId="{3612410F-85F7-48B3-90FB-9F30366711F0}" type="presParOf" srcId="{2F3EF53B-1D6A-4EDF-8A40-A4D394D249E2}" destId="{03286CA9-ACFC-4204-BE41-5AE99E65D850}" srcOrd="5" destOrd="0" presId="urn:microsoft.com/office/officeart/2005/8/layout/process5"/>
    <dgm:cxn modelId="{BBA3A57D-66D5-428B-8FC7-4BF33DA220B6}" type="presParOf" srcId="{03286CA9-ACFC-4204-BE41-5AE99E65D850}" destId="{55BFF6EC-71F1-41AE-8087-9333292A6D4A}" srcOrd="0" destOrd="0" presId="urn:microsoft.com/office/officeart/2005/8/layout/process5"/>
    <dgm:cxn modelId="{000983D5-57A9-4CA6-B4C5-F1E0A8505EA1}" type="presParOf" srcId="{2F3EF53B-1D6A-4EDF-8A40-A4D394D249E2}" destId="{0F9F7299-ED5C-4EC6-8BC9-D4B3D053677E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7ACF2A-3AA2-44A4-969C-C14BCB4E509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930105-E017-48CA-A7F4-A05DD8EA70CE}">
      <dgm:prSet/>
      <dgm:spPr/>
      <dgm:t>
        <a:bodyPr/>
        <a:lstStyle/>
        <a:p>
          <a:r>
            <a:rPr lang="en-US" b="0" i="0" baseline="0"/>
            <a:t>Optimizer: Adam</a:t>
          </a:r>
          <a:endParaRPr lang="en-US"/>
        </a:p>
      </dgm:t>
    </dgm:pt>
    <dgm:pt modelId="{FABE6103-C42B-4189-A33D-5556EB90788A}" type="parTrans" cxnId="{7033BA34-C65D-4482-924F-5C60AA4A2BE0}">
      <dgm:prSet/>
      <dgm:spPr/>
      <dgm:t>
        <a:bodyPr/>
        <a:lstStyle/>
        <a:p>
          <a:endParaRPr lang="en-US"/>
        </a:p>
      </dgm:t>
    </dgm:pt>
    <dgm:pt modelId="{A83E0A1D-B6A2-4208-9E27-951535B665A9}" type="sibTrans" cxnId="{7033BA34-C65D-4482-924F-5C60AA4A2BE0}">
      <dgm:prSet/>
      <dgm:spPr/>
      <dgm:t>
        <a:bodyPr/>
        <a:lstStyle/>
        <a:p>
          <a:endParaRPr lang="en-US"/>
        </a:p>
      </dgm:t>
    </dgm:pt>
    <dgm:pt modelId="{B3B640F6-E7D8-427E-A3F3-DB0802DDAEC7}">
      <dgm:prSet/>
      <dgm:spPr/>
      <dgm:t>
        <a:bodyPr/>
        <a:lstStyle/>
        <a:p>
          <a:r>
            <a:rPr lang="en-US" b="0" i="0" baseline="0"/>
            <a:t>Loss: Binary Cross-Entropy</a:t>
          </a:r>
          <a:endParaRPr lang="en-US"/>
        </a:p>
      </dgm:t>
    </dgm:pt>
    <dgm:pt modelId="{C80AFBAA-B4FF-458A-91AE-9FD0638B7D0F}" type="parTrans" cxnId="{1AD26ACD-36C1-426E-82DE-56C1D369AD92}">
      <dgm:prSet/>
      <dgm:spPr/>
      <dgm:t>
        <a:bodyPr/>
        <a:lstStyle/>
        <a:p>
          <a:endParaRPr lang="en-US"/>
        </a:p>
      </dgm:t>
    </dgm:pt>
    <dgm:pt modelId="{4EEFAF66-2AB2-4007-9E83-31FC44AFAC65}" type="sibTrans" cxnId="{1AD26ACD-36C1-426E-82DE-56C1D369AD92}">
      <dgm:prSet/>
      <dgm:spPr/>
      <dgm:t>
        <a:bodyPr/>
        <a:lstStyle/>
        <a:p>
          <a:endParaRPr lang="en-US"/>
        </a:p>
      </dgm:t>
    </dgm:pt>
    <dgm:pt modelId="{59653468-B8DF-48D5-99FA-E69C866BCD73}">
      <dgm:prSet/>
      <dgm:spPr/>
      <dgm:t>
        <a:bodyPr/>
        <a:lstStyle/>
        <a:p>
          <a:r>
            <a:rPr lang="en-US" b="0" i="0" baseline="0"/>
            <a:t>Batch size: 64</a:t>
          </a:r>
          <a:endParaRPr lang="en-US"/>
        </a:p>
      </dgm:t>
    </dgm:pt>
    <dgm:pt modelId="{7FA251EE-8FB6-4169-B18A-6ED567BBC41C}" type="parTrans" cxnId="{0656BFF6-BA36-4001-A73B-89EB1AC4FCE8}">
      <dgm:prSet/>
      <dgm:spPr/>
      <dgm:t>
        <a:bodyPr/>
        <a:lstStyle/>
        <a:p>
          <a:endParaRPr lang="en-US"/>
        </a:p>
      </dgm:t>
    </dgm:pt>
    <dgm:pt modelId="{1BB00BE1-BF32-4B54-8DA6-BEC2AB584E4C}" type="sibTrans" cxnId="{0656BFF6-BA36-4001-A73B-89EB1AC4FCE8}">
      <dgm:prSet/>
      <dgm:spPr/>
      <dgm:t>
        <a:bodyPr/>
        <a:lstStyle/>
        <a:p>
          <a:endParaRPr lang="en-US"/>
        </a:p>
      </dgm:t>
    </dgm:pt>
    <dgm:pt modelId="{791F8A07-5908-4749-AE31-C15D90394F8B}">
      <dgm:prSet/>
      <dgm:spPr/>
      <dgm:t>
        <a:bodyPr/>
        <a:lstStyle/>
        <a:p>
          <a:r>
            <a:rPr lang="en-US" b="0" i="0" baseline="0"/>
            <a:t>Epoci maxime: 7</a:t>
          </a:r>
          <a:endParaRPr lang="en-US"/>
        </a:p>
      </dgm:t>
    </dgm:pt>
    <dgm:pt modelId="{C1178EE4-0F9A-4ABD-B59A-EE8C842F5A8D}" type="parTrans" cxnId="{49E10419-2CDE-4A61-98AA-F9AE70EAA67D}">
      <dgm:prSet/>
      <dgm:spPr/>
      <dgm:t>
        <a:bodyPr/>
        <a:lstStyle/>
        <a:p>
          <a:endParaRPr lang="en-US"/>
        </a:p>
      </dgm:t>
    </dgm:pt>
    <dgm:pt modelId="{49374D8C-4AFD-4B89-9596-13A1B1791630}" type="sibTrans" cxnId="{49E10419-2CDE-4A61-98AA-F9AE70EAA67D}">
      <dgm:prSet/>
      <dgm:spPr/>
      <dgm:t>
        <a:bodyPr/>
        <a:lstStyle/>
        <a:p>
          <a:endParaRPr lang="en-US"/>
        </a:p>
      </dgm:t>
    </dgm:pt>
    <dgm:pt modelId="{7D4C5A2C-146F-48AF-B8BB-FFAF7BBFAE92}">
      <dgm:prSet/>
      <dgm:spPr/>
      <dgm:t>
        <a:bodyPr/>
        <a:lstStyle/>
        <a:p>
          <a:r>
            <a:rPr lang="en-US" b="0" i="0" baseline="0"/>
            <a:t>EarlyStopping: patience = 2</a:t>
          </a:r>
          <a:endParaRPr lang="en-US"/>
        </a:p>
      </dgm:t>
    </dgm:pt>
    <dgm:pt modelId="{94E596EA-ED68-4A2C-88D7-6FFAB2CBC205}" type="parTrans" cxnId="{E6898352-4178-4883-95B7-1489981FABF8}">
      <dgm:prSet/>
      <dgm:spPr/>
      <dgm:t>
        <a:bodyPr/>
        <a:lstStyle/>
        <a:p>
          <a:endParaRPr lang="en-US"/>
        </a:p>
      </dgm:t>
    </dgm:pt>
    <dgm:pt modelId="{60AC4DCE-2064-458B-865A-AC47A1A92C92}" type="sibTrans" cxnId="{E6898352-4178-4883-95B7-1489981FABF8}">
      <dgm:prSet/>
      <dgm:spPr/>
      <dgm:t>
        <a:bodyPr/>
        <a:lstStyle/>
        <a:p>
          <a:endParaRPr lang="en-US"/>
        </a:p>
      </dgm:t>
    </dgm:pt>
    <dgm:pt modelId="{15D0E2B2-1A05-481F-B819-9772F50353A8}" type="pres">
      <dgm:prSet presAssocID="{BF7ACF2A-3AA2-44A4-969C-C14BCB4E5090}" presName="outerComposite" presStyleCnt="0">
        <dgm:presLayoutVars>
          <dgm:chMax val="5"/>
          <dgm:dir/>
          <dgm:resizeHandles val="exact"/>
        </dgm:presLayoutVars>
      </dgm:prSet>
      <dgm:spPr/>
    </dgm:pt>
    <dgm:pt modelId="{7F4EDEEF-7F91-4012-B7CA-8221526DF9D5}" type="pres">
      <dgm:prSet presAssocID="{BF7ACF2A-3AA2-44A4-969C-C14BCB4E5090}" presName="dummyMaxCanvas" presStyleCnt="0">
        <dgm:presLayoutVars/>
      </dgm:prSet>
      <dgm:spPr/>
    </dgm:pt>
    <dgm:pt modelId="{2F9E3821-D9E1-4523-86D2-7D6B8E5067BC}" type="pres">
      <dgm:prSet presAssocID="{BF7ACF2A-3AA2-44A4-969C-C14BCB4E5090}" presName="FiveNodes_1" presStyleLbl="node1" presStyleIdx="0" presStyleCnt="5">
        <dgm:presLayoutVars>
          <dgm:bulletEnabled val="1"/>
        </dgm:presLayoutVars>
      </dgm:prSet>
      <dgm:spPr/>
    </dgm:pt>
    <dgm:pt modelId="{0649FFBC-05BB-4D34-AC05-14F552B1086F}" type="pres">
      <dgm:prSet presAssocID="{BF7ACF2A-3AA2-44A4-969C-C14BCB4E5090}" presName="FiveNodes_2" presStyleLbl="node1" presStyleIdx="1" presStyleCnt="5">
        <dgm:presLayoutVars>
          <dgm:bulletEnabled val="1"/>
        </dgm:presLayoutVars>
      </dgm:prSet>
      <dgm:spPr/>
    </dgm:pt>
    <dgm:pt modelId="{7904E0E6-CF03-403F-B4CA-440661A07E30}" type="pres">
      <dgm:prSet presAssocID="{BF7ACF2A-3AA2-44A4-969C-C14BCB4E5090}" presName="FiveNodes_3" presStyleLbl="node1" presStyleIdx="2" presStyleCnt="5">
        <dgm:presLayoutVars>
          <dgm:bulletEnabled val="1"/>
        </dgm:presLayoutVars>
      </dgm:prSet>
      <dgm:spPr/>
    </dgm:pt>
    <dgm:pt modelId="{8C9EA462-B077-45BF-94B9-A7606B1EDECF}" type="pres">
      <dgm:prSet presAssocID="{BF7ACF2A-3AA2-44A4-969C-C14BCB4E5090}" presName="FiveNodes_4" presStyleLbl="node1" presStyleIdx="3" presStyleCnt="5">
        <dgm:presLayoutVars>
          <dgm:bulletEnabled val="1"/>
        </dgm:presLayoutVars>
      </dgm:prSet>
      <dgm:spPr/>
    </dgm:pt>
    <dgm:pt modelId="{6CD9D46E-B7F0-436C-8B5D-66AA582A1397}" type="pres">
      <dgm:prSet presAssocID="{BF7ACF2A-3AA2-44A4-969C-C14BCB4E5090}" presName="FiveNodes_5" presStyleLbl="node1" presStyleIdx="4" presStyleCnt="5">
        <dgm:presLayoutVars>
          <dgm:bulletEnabled val="1"/>
        </dgm:presLayoutVars>
      </dgm:prSet>
      <dgm:spPr/>
    </dgm:pt>
    <dgm:pt modelId="{980D0161-4D9B-4759-818D-39497CE12C05}" type="pres">
      <dgm:prSet presAssocID="{BF7ACF2A-3AA2-44A4-969C-C14BCB4E5090}" presName="FiveConn_1-2" presStyleLbl="fgAccFollowNode1" presStyleIdx="0" presStyleCnt="4">
        <dgm:presLayoutVars>
          <dgm:bulletEnabled val="1"/>
        </dgm:presLayoutVars>
      </dgm:prSet>
      <dgm:spPr/>
    </dgm:pt>
    <dgm:pt modelId="{CDA5FD2F-5B56-4E27-A6F1-B93F27A5CA7E}" type="pres">
      <dgm:prSet presAssocID="{BF7ACF2A-3AA2-44A4-969C-C14BCB4E5090}" presName="FiveConn_2-3" presStyleLbl="fgAccFollowNode1" presStyleIdx="1" presStyleCnt="4">
        <dgm:presLayoutVars>
          <dgm:bulletEnabled val="1"/>
        </dgm:presLayoutVars>
      </dgm:prSet>
      <dgm:spPr/>
    </dgm:pt>
    <dgm:pt modelId="{24A15C73-7D1B-438E-AE6B-CEC02D9B85D5}" type="pres">
      <dgm:prSet presAssocID="{BF7ACF2A-3AA2-44A4-969C-C14BCB4E5090}" presName="FiveConn_3-4" presStyleLbl="fgAccFollowNode1" presStyleIdx="2" presStyleCnt="4">
        <dgm:presLayoutVars>
          <dgm:bulletEnabled val="1"/>
        </dgm:presLayoutVars>
      </dgm:prSet>
      <dgm:spPr/>
    </dgm:pt>
    <dgm:pt modelId="{EEB808EC-15A8-46AB-85BF-752553493361}" type="pres">
      <dgm:prSet presAssocID="{BF7ACF2A-3AA2-44A4-969C-C14BCB4E5090}" presName="FiveConn_4-5" presStyleLbl="fgAccFollowNode1" presStyleIdx="3" presStyleCnt="4">
        <dgm:presLayoutVars>
          <dgm:bulletEnabled val="1"/>
        </dgm:presLayoutVars>
      </dgm:prSet>
      <dgm:spPr/>
    </dgm:pt>
    <dgm:pt modelId="{28144F44-E408-4610-B99F-61517D05435D}" type="pres">
      <dgm:prSet presAssocID="{BF7ACF2A-3AA2-44A4-969C-C14BCB4E5090}" presName="FiveNodes_1_text" presStyleLbl="node1" presStyleIdx="4" presStyleCnt="5">
        <dgm:presLayoutVars>
          <dgm:bulletEnabled val="1"/>
        </dgm:presLayoutVars>
      </dgm:prSet>
      <dgm:spPr/>
    </dgm:pt>
    <dgm:pt modelId="{5085BED0-B8EE-486C-84A1-62332D145A34}" type="pres">
      <dgm:prSet presAssocID="{BF7ACF2A-3AA2-44A4-969C-C14BCB4E5090}" presName="FiveNodes_2_text" presStyleLbl="node1" presStyleIdx="4" presStyleCnt="5">
        <dgm:presLayoutVars>
          <dgm:bulletEnabled val="1"/>
        </dgm:presLayoutVars>
      </dgm:prSet>
      <dgm:spPr/>
    </dgm:pt>
    <dgm:pt modelId="{E5321857-1ACB-44A4-B42A-133656F374F3}" type="pres">
      <dgm:prSet presAssocID="{BF7ACF2A-3AA2-44A4-969C-C14BCB4E5090}" presName="FiveNodes_3_text" presStyleLbl="node1" presStyleIdx="4" presStyleCnt="5">
        <dgm:presLayoutVars>
          <dgm:bulletEnabled val="1"/>
        </dgm:presLayoutVars>
      </dgm:prSet>
      <dgm:spPr/>
    </dgm:pt>
    <dgm:pt modelId="{FA326006-3F50-4BE3-9DE5-9DF1067F91C4}" type="pres">
      <dgm:prSet presAssocID="{BF7ACF2A-3AA2-44A4-969C-C14BCB4E5090}" presName="FiveNodes_4_text" presStyleLbl="node1" presStyleIdx="4" presStyleCnt="5">
        <dgm:presLayoutVars>
          <dgm:bulletEnabled val="1"/>
        </dgm:presLayoutVars>
      </dgm:prSet>
      <dgm:spPr/>
    </dgm:pt>
    <dgm:pt modelId="{6BA2F305-432D-4D95-990C-E6BD03BA7587}" type="pres">
      <dgm:prSet presAssocID="{BF7ACF2A-3AA2-44A4-969C-C14BCB4E509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0D69C08-992E-40BE-8CF7-6486893B1350}" type="presOf" srcId="{49374D8C-4AFD-4B89-9596-13A1B1791630}" destId="{EEB808EC-15A8-46AB-85BF-752553493361}" srcOrd="0" destOrd="0" presId="urn:microsoft.com/office/officeart/2005/8/layout/vProcess5"/>
    <dgm:cxn modelId="{595FBA09-373E-4B2E-9878-FA3F1EF6F1EE}" type="presOf" srcId="{B3B640F6-E7D8-427E-A3F3-DB0802DDAEC7}" destId="{0649FFBC-05BB-4D34-AC05-14F552B1086F}" srcOrd="0" destOrd="0" presId="urn:microsoft.com/office/officeart/2005/8/layout/vProcess5"/>
    <dgm:cxn modelId="{49E10419-2CDE-4A61-98AA-F9AE70EAA67D}" srcId="{BF7ACF2A-3AA2-44A4-969C-C14BCB4E5090}" destId="{791F8A07-5908-4749-AE31-C15D90394F8B}" srcOrd="3" destOrd="0" parTransId="{C1178EE4-0F9A-4ABD-B59A-EE8C842F5A8D}" sibTransId="{49374D8C-4AFD-4B89-9596-13A1B1791630}"/>
    <dgm:cxn modelId="{2EDE7C28-C830-4F71-BD58-43479777713A}" type="presOf" srcId="{791F8A07-5908-4749-AE31-C15D90394F8B}" destId="{8C9EA462-B077-45BF-94B9-A7606B1EDECF}" srcOrd="0" destOrd="0" presId="urn:microsoft.com/office/officeart/2005/8/layout/vProcess5"/>
    <dgm:cxn modelId="{7033BA34-C65D-4482-924F-5C60AA4A2BE0}" srcId="{BF7ACF2A-3AA2-44A4-969C-C14BCB4E5090}" destId="{CE930105-E017-48CA-A7F4-A05DD8EA70CE}" srcOrd="0" destOrd="0" parTransId="{FABE6103-C42B-4189-A33D-5556EB90788A}" sibTransId="{A83E0A1D-B6A2-4208-9E27-951535B665A9}"/>
    <dgm:cxn modelId="{D5675141-A102-44FE-BE71-C5719FEE1FDE}" type="presOf" srcId="{BF7ACF2A-3AA2-44A4-969C-C14BCB4E5090}" destId="{15D0E2B2-1A05-481F-B819-9772F50353A8}" srcOrd="0" destOrd="0" presId="urn:microsoft.com/office/officeart/2005/8/layout/vProcess5"/>
    <dgm:cxn modelId="{2ACAF842-A07C-430C-8A28-81E66C273CDE}" type="presOf" srcId="{B3B640F6-E7D8-427E-A3F3-DB0802DDAEC7}" destId="{5085BED0-B8EE-486C-84A1-62332D145A34}" srcOrd="1" destOrd="0" presId="urn:microsoft.com/office/officeart/2005/8/layout/vProcess5"/>
    <dgm:cxn modelId="{A7ADC26C-933C-4D96-9008-91FF6E0102B8}" type="presOf" srcId="{4EEFAF66-2AB2-4007-9E83-31FC44AFAC65}" destId="{CDA5FD2F-5B56-4E27-A6F1-B93F27A5CA7E}" srcOrd="0" destOrd="0" presId="urn:microsoft.com/office/officeart/2005/8/layout/vProcess5"/>
    <dgm:cxn modelId="{00DE1A4E-EBC7-4595-AC15-FEBC5E1D4DB2}" type="presOf" srcId="{7D4C5A2C-146F-48AF-B8BB-FFAF7BBFAE92}" destId="{6BA2F305-432D-4D95-990C-E6BD03BA7587}" srcOrd="1" destOrd="0" presId="urn:microsoft.com/office/officeart/2005/8/layout/vProcess5"/>
    <dgm:cxn modelId="{42293A72-B730-47BC-9BEF-E9FF4A288D35}" type="presOf" srcId="{59653468-B8DF-48D5-99FA-E69C866BCD73}" destId="{7904E0E6-CF03-403F-B4CA-440661A07E30}" srcOrd="0" destOrd="0" presId="urn:microsoft.com/office/officeart/2005/8/layout/vProcess5"/>
    <dgm:cxn modelId="{E6898352-4178-4883-95B7-1489981FABF8}" srcId="{BF7ACF2A-3AA2-44A4-969C-C14BCB4E5090}" destId="{7D4C5A2C-146F-48AF-B8BB-FFAF7BBFAE92}" srcOrd="4" destOrd="0" parTransId="{94E596EA-ED68-4A2C-88D7-6FFAB2CBC205}" sibTransId="{60AC4DCE-2064-458B-865A-AC47A1A92C92}"/>
    <dgm:cxn modelId="{3B751D76-CBB5-4207-A8C6-84C2F4149081}" type="presOf" srcId="{7D4C5A2C-146F-48AF-B8BB-FFAF7BBFAE92}" destId="{6CD9D46E-B7F0-436C-8B5D-66AA582A1397}" srcOrd="0" destOrd="0" presId="urn:microsoft.com/office/officeart/2005/8/layout/vProcess5"/>
    <dgm:cxn modelId="{641CF459-F7A6-4025-8944-36EDE10232B2}" type="presOf" srcId="{59653468-B8DF-48D5-99FA-E69C866BCD73}" destId="{E5321857-1ACB-44A4-B42A-133656F374F3}" srcOrd="1" destOrd="0" presId="urn:microsoft.com/office/officeart/2005/8/layout/vProcess5"/>
    <dgm:cxn modelId="{CB81AA93-81F8-4F3E-97E3-4E4C4A621FFC}" type="presOf" srcId="{791F8A07-5908-4749-AE31-C15D90394F8B}" destId="{FA326006-3F50-4BE3-9DE5-9DF1067F91C4}" srcOrd="1" destOrd="0" presId="urn:microsoft.com/office/officeart/2005/8/layout/vProcess5"/>
    <dgm:cxn modelId="{00F85097-23E7-4B79-8F87-01BC62B516B4}" type="presOf" srcId="{CE930105-E017-48CA-A7F4-A05DD8EA70CE}" destId="{28144F44-E408-4610-B99F-61517D05435D}" srcOrd="1" destOrd="0" presId="urn:microsoft.com/office/officeart/2005/8/layout/vProcess5"/>
    <dgm:cxn modelId="{D08585AC-CA24-4516-B94E-6A734386AC1F}" type="presOf" srcId="{A83E0A1D-B6A2-4208-9E27-951535B665A9}" destId="{980D0161-4D9B-4759-818D-39497CE12C05}" srcOrd="0" destOrd="0" presId="urn:microsoft.com/office/officeart/2005/8/layout/vProcess5"/>
    <dgm:cxn modelId="{E2A2C4C7-CDD5-418D-A382-97E6135EA7F1}" type="presOf" srcId="{1BB00BE1-BF32-4B54-8DA6-BEC2AB584E4C}" destId="{24A15C73-7D1B-438E-AE6B-CEC02D9B85D5}" srcOrd="0" destOrd="0" presId="urn:microsoft.com/office/officeart/2005/8/layout/vProcess5"/>
    <dgm:cxn modelId="{1AD26ACD-36C1-426E-82DE-56C1D369AD92}" srcId="{BF7ACF2A-3AA2-44A4-969C-C14BCB4E5090}" destId="{B3B640F6-E7D8-427E-A3F3-DB0802DDAEC7}" srcOrd="1" destOrd="0" parTransId="{C80AFBAA-B4FF-458A-91AE-9FD0638B7D0F}" sibTransId="{4EEFAF66-2AB2-4007-9E83-31FC44AFAC65}"/>
    <dgm:cxn modelId="{03CB9BED-B5B2-4ADC-B1F7-F7C791D3BA82}" type="presOf" srcId="{CE930105-E017-48CA-A7F4-A05DD8EA70CE}" destId="{2F9E3821-D9E1-4523-86D2-7D6B8E5067BC}" srcOrd="0" destOrd="0" presId="urn:microsoft.com/office/officeart/2005/8/layout/vProcess5"/>
    <dgm:cxn modelId="{0656BFF6-BA36-4001-A73B-89EB1AC4FCE8}" srcId="{BF7ACF2A-3AA2-44A4-969C-C14BCB4E5090}" destId="{59653468-B8DF-48D5-99FA-E69C866BCD73}" srcOrd="2" destOrd="0" parTransId="{7FA251EE-8FB6-4169-B18A-6ED567BBC41C}" sibTransId="{1BB00BE1-BF32-4B54-8DA6-BEC2AB584E4C}"/>
    <dgm:cxn modelId="{987A169B-8300-4052-84BE-F2AEA9B7AA6E}" type="presParOf" srcId="{15D0E2B2-1A05-481F-B819-9772F50353A8}" destId="{7F4EDEEF-7F91-4012-B7CA-8221526DF9D5}" srcOrd="0" destOrd="0" presId="urn:microsoft.com/office/officeart/2005/8/layout/vProcess5"/>
    <dgm:cxn modelId="{4C18FFDF-B9C4-42D9-A8E7-DA6CA887E8B2}" type="presParOf" srcId="{15D0E2B2-1A05-481F-B819-9772F50353A8}" destId="{2F9E3821-D9E1-4523-86D2-7D6B8E5067BC}" srcOrd="1" destOrd="0" presId="urn:microsoft.com/office/officeart/2005/8/layout/vProcess5"/>
    <dgm:cxn modelId="{9B80524D-5D73-4166-91C2-AFCB52755105}" type="presParOf" srcId="{15D0E2B2-1A05-481F-B819-9772F50353A8}" destId="{0649FFBC-05BB-4D34-AC05-14F552B1086F}" srcOrd="2" destOrd="0" presId="urn:microsoft.com/office/officeart/2005/8/layout/vProcess5"/>
    <dgm:cxn modelId="{3BED3F02-420A-44C4-9746-FAAC786E1509}" type="presParOf" srcId="{15D0E2B2-1A05-481F-B819-9772F50353A8}" destId="{7904E0E6-CF03-403F-B4CA-440661A07E30}" srcOrd="3" destOrd="0" presId="urn:microsoft.com/office/officeart/2005/8/layout/vProcess5"/>
    <dgm:cxn modelId="{88139332-427D-48A2-BF7A-E169489E5061}" type="presParOf" srcId="{15D0E2B2-1A05-481F-B819-9772F50353A8}" destId="{8C9EA462-B077-45BF-94B9-A7606B1EDECF}" srcOrd="4" destOrd="0" presId="urn:microsoft.com/office/officeart/2005/8/layout/vProcess5"/>
    <dgm:cxn modelId="{79240445-C53D-4513-9CF2-17B96F01FD7A}" type="presParOf" srcId="{15D0E2B2-1A05-481F-B819-9772F50353A8}" destId="{6CD9D46E-B7F0-436C-8B5D-66AA582A1397}" srcOrd="5" destOrd="0" presId="urn:microsoft.com/office/officeart/2005/8/layout/vProcess5"/>
    <dgm:cxn modelId="{B90C47A4-1094-4C9D-9076-E8363B6A265B}" type="presParOf" srcId="{15D0E2B2-1A05-481F-B819-9772F50353A8}" destId="{980D0161-4D9B-4759-818D-39497CE12C05}" srcOrd="6" destOrd="0" presId="urn:microsoft.com/office/officeart/2005/8/layout/vProcess5"/>
    <dgm:cxn modelId="{D1060CC8-AA6C-4E64-91FA-2149101BBBE0}" type="presParOf" srcId="{15D0E2B2-1A05-481F-B819-9772F50353A8}" destId="{CDA5FD2F-5B56-4E27-A6F1-B93F27A5CA7E}" srcOrd="7" destOrd="0" presId="urn:microsoft.com/office/officeart/2005/8/layout/vProcess5"/>
    <dgm:cxn modelId="{4DB8E17F-1931-407B-8B86-87B061C67F52}" type="presParOf" srcId="{15D0E2B2-1A05-481F-B819-9772F50353A8}" destId="{24A15C73-7D1B-438E-AE6B-CEC02D9B85D5}" srcOrd="8" destOrd="0" presId="urn:microsoft.com/office/officeart/2005/8/layout/vProcess5"/>
    <dgm:cxn modelId="{51D66628-F0DD-419A-9F9E-DCD0EF8CA791}" type="presParOf" srcId="{15D0E2B2-1A05-481F-B819-9772F50353A8}" destId="{EEB808EC-15A8-46AB-85BF-752553493361}" srcOrd="9" destOrd="0" presId="urn:microsoft.com/office/officeart/2005/8/layout/vProcess5"/>
    <dgm:cxn modelId="{F1760569-CBAF-4A85-A65F-ED856B2A9A03}" type="presParOf" srcId="{15D0E2B2-1A05-481F-B819-9772F50353A8}" destId="{28144F44-E408-4610-B99F-61517D05435D}" srcOrd="10" destOrd="0" presId="urn:microsoft.com/office/officeart/2005/8/layout/vProcess5"/>
    <dgm:cxn modelId="{C14A9F91-007F-455F-BF64-23264B190D5D}" type="presParOf" srcId="{15D0E2B2-1A05-481F-B819-9772F50353A8}" destId="{5085BED0-B8EE-486C-84A1-62332D145A34}" srcOrd="11" destOrd="0" presId="urn:microsoft.com/office/officeart/2005/8/layout/vProcess5"/>
    <dgm:cxn modelId="{6DCB9119-EE3E-4926-8BFF-75ABEB9936A7}" type="presParOf" srcId="{15D0E2B2-1A05-481F-B819-9772F50353A8}" destId="{E5321857-1ACB-44A4-B42A-133656F374F3}" srcOrd="12" destOrd="0" presId="urn:microsoft.com/office/officeart/2005/8/layout/vProcess5"/>
    <dgm:cxn modelId="{84B1224D-F0E1-4603-BEB0-BA77C86E03E5}" type="presParOf" srcId="{15D0E2B2-1A05-481F-B819-9772F50353A8}" destId="{FA326006-3F50-4BE3-9DE5-9DF1067F91C4}" srcOrd="13" destOrd="0" presId="urn:microsoft.com/office/officeart/2005/8/layout/vProcess5"/>
    <dgm:cxn modelId="{287E6897-D44A-400B-A69D-FDE022ED0255}" type="presParOf" srcId="{15D0E2B2-1A05-481F-B819-9772F50353A8}" destId="{6BA2F305-432D-4D95-990C-E6BD03BA758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7EB56C-DA52-4AD5-B04E-767E37C6BC22}">
      <dsp:nvSpPr>
        <dsp:cNvPr id="0" name=""/>
        <dsp:cNvSpPr/>
      </dsp:nvSpPr>
      <dsp:spPr>
        <a:xfrm>
          <a:off x="952" y="146421"/>
          <a:ext cx="2030544" cy="121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Embedding Layer</a:t>
          </a:r>
          <a:endParaRPr lang="en-US" sz="2400" kern="1200" dirty="0"/>
        </a:p>
      </dsp:txBody>
      <dsp:txXfrm>
        <a:off x="36636" y="182105"/>
        <a:ext cx="1959176" cy="1146958"/>
      </dsp:txXfrm>
    </dsp:sp>
    <dsp:sp modelId="{5C52296F-2C4E-46D4-88E7-B9251A5FD82F}">
      <dsp:nvSpPr>
        <dsp:cNvPr id="0" name=""/>
        <dsp:cNvSpPr/>
      </dsp:nvSpPr>
      <dsp:spPr>
        <a:xfrm>
          <a:off x="2210184" y="503797"/>
          <a:ext cx="430475" cy="5035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210184" y="604512"/>
        <a:ext cx="301333" cy="302145"/>
      </dsp:txXfrm>
    </dsp:sp>
    <dsp:sp modelId="{BF6CE068-CF26-48EE-B88F-3F4C0F701C62}">
      <dsp:nvSpPr>
        <dsp:cNvPr id="0" name=""/>
        <dsp:cNvSpPr/>
      </dsp:nvSpPr>
      <dsp:spPr>
        <a:xfrm>
          <a:off x="2843714" y="146421"/>
          <a:ext cx="2030544" cy="121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Dimensiune vector: 128</a:t>
          </a:r>
        </a:p>
      </dsp:txBody>
      <dsp:txXfrm>
        <a:off x="2879398" y="182105"/>
        <a:ext cx="1959176" cy="1146958"/>
      </dsp:txXfrm>
    </dsp:sp>
    <dsp:sp modelId="{163168BB-8B04-4E0E-ADB4-DF1634CB68D4}">
      <dsp:nvSpPr>
        <dsp:cNvPr id="0" name=""/>
        <dsp:cNvSpPr/>
      </dsp:nvSpPr>
      <dsp:spPr>
        <a:xfrm rot="5400000">
          <a:off x="3643748" y="1506886"/>
          <a:ext cx="430475" cy="5035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707913" y="1543436"/>
        <a:ext cx="302145" cy="301333"/>
      </dsp:txXfrm>
    </dsp:sp>
    <dsp:sp modelId="{1B14C2BE-717B-48E0-A78A-0C589BF522D0}">
      <dsp:nvSpPr>
        <dsp:cNvPr id="0" name=""/>
        <dsp:cNvSpPr/>
      </dsp:nvSpPr>
      <dsp:spPr>
        <a:xfrm>
          <a:off x="2843714" y="2176965"/>
          <a:ext cx="2030544" cy="121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Fiecare cuvânt → vector numeric dens</a:t>
          </a:r>
        </a:p>
      </dsp:txBody>
      <dsp:txXfrm>
        <a:off x="2879398" y="2212649"/>
        <a:ext cx="1959176" cy="1146958"/>
      </dsp:txXfrm>
    </dsp:sp>
    <dsp:sp modelId="{03286CA9-ACFC-4204-BE41-5AE99E65D850}">
      <dsp:nvSpPr>
        <dsp:cNvPr id="0" name=""/>
        <dsp:cNvSpPr/>
      </dsp:nvSpPr>
      <dsp:spPr>
        <a:xfrm rot="10800000">
          <a:off x="2234551" y="2534341"/>
          <a:ext cx="430475" cy="5035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2363693" y="2635056"/>
        <a:ext cx="301333" cy="302145"/>
      </dsp:txXfrm>
    </dsp:sp>
    <dsp:sp modelId="{0F9F7299-ED5C-4EC6-8BC9-D4B3D053677E}">
      <dsp:nvSpPr>
        <dsp:cNvPr id="0" name=""/>
        <dsp:cNvSpPr/>
      </dsp:nvSpPr>
      <dsp:spPr>
        <a:xfrm>
          <a:off x="952" y="2176965"/>
          <a:ext cx="2030544" cy="1218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Învață relații semantice între cuvinte</a:t>
          </a:r>
        </a:p>
      </dsp:txBody>
      <dsp:txXfrm>
        <a:off x="36636" y="2212649"/>
        <a:ext cx="1959176" cy="1146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E3821-D9E1-4523-86D2-7D6B8E5067BC}">
      <dsp:nvSpPr>
        <dsp:cNvPr id="0" name=""/>
        <dsp:cNvSpPr/>
      </dsp:nvSpPr>
      <dsp:spPr>
        <a:xfrm>
          <a:off x="0" y="0"/>
          <a:ext cx="7627619" cy="63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Optimizer: Adam</a:t>
          </a:r>
          <a:endParaRPr lang="en-US" sz="2900" kern="1200"/>
        </a:p>
      </dsp:txBody>
      <dsp:txXfrm>
        <a:off x="18672" y="18672"/>
        <a:ext cx="6865109" cy="600164"/>
      </dsp:txXfrm>
    </dsp:sp>
    <dsp:sp modelId="{0649FFBC-05BB-4D34-AC05-14F552B1086F}">
      <dsp:nvSpPr>
        <dsp:cNvPr id="0" name=""/>
        <dsp:cNvSpPr/>
      </dsp:nvSpPr>
      <dsp:spPr>
        <a:xfrm>
          <a:off x="569594" y="726051"/>
          <a:ext cx="7627619" cy="63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Loss: Binary Cross-Entropy</a:t>
          </a:r>
          <a:endParaRPr lang="en-US" sz="2900" kern="1200"/>
        </a:p>
      </dsp:txBody>
      <dsp:txXfrm>
        <a:off x="588266" y="744723"/>
        <a:ext cx="6606299" cy="600164"/>
      </dsp:txXfrm>
    </dsp:sp>
    <dsp:sp modelId="{7904E0E6-CF03-403F-B4CA-440661A07E30}">
      <dsp:nvSpPr>
        <dsp:cNvPr id="0" name=""/>
        <dsp:cNvSpPr/>
      </dsp:nvSpPr>
      <dsp:spPr>
        <a:xfrm>
          <a:off x="1139189" y="1452102"/>
          <a:ext cx="7627619" cy="63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Batch size: 64</a:t>
          </a:r>
          <a:endParaRPr lang="en-US" sz="2900" kern="1200"/>
        </a:p>
      </dsp:txBody>
      <dsp:txXfrm>
        <a:off x="1157861" y="1470774"/>
        <a:ext cx="6606299" cy="600164"/>
      </dsp:txXfrm>
    </dsp:sp>
    <dsp:sp modelId="{8C9EA462-B077-45BF-94B9-A7606B1EDECF}">
      <dsp:nvSpPr>
        <dsp:cNvPr id="0" name=""/>
        <dsp:cNvSpPr/>
      </dsp:nvSpPr>
      <dsp:spPr>
        <a:xfrm>
          <a:off x="1708784" y="2178154"/>
          <a:ext cx="7627619" cy="63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Epoci maxime: 7</a:t>
          </a:r>
          <a:endParaRPr lang="en-US" sz="2900" kern="1200"/>
        </a:p>
      </dsp:txBody>
      <dsp:txXfrm>
        <a:off x="1727456" y="2196826"/>
        <a:ext cx="6606299" cy="600164"/>
      </dsp:txXfrm>
    </dsp:sp>
    <dsp:sp modelId="{6CD9D46E-B7F0-436C-8B5D-66AA582A1397}">
      <dsp:nvSpPr>
        <dsp:cNvPr id="0" name=""/>
        <dsp:cNvSpPr/>
      </dsp:nvSpPr>
      <dsp:spPr>
        <a:xfrm>
          <a:off x="2278379" y="2904205"/>
          <a:ext cx="7627619" cy="63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EarlyStopping: patience = 2</a:t>
          </a:r>
          <a:endParaRPr lang="en-US" sz="2900" kern="1200"/>
        </a:p>
      </dsp:txBody>
      <dsp:txXfrm>
        <a:off x="2297051" y="2922877"/>
        <a:ext cx="6606299" cy="600164"/>
      </dsp:txXfrm>
    </dsp:sp>
    <dsp:sp modelId="{980D0161-4D9B-4759-818D-39497CE12C05}">
      <dsp:nvSpPr>
        <dsp:cNvPr id="0" name=""/>
        <dsp:cNvSpPr/>
      </dsp:nvSpPr>
      <dsp:spPr>
        <a:xfrm>
          <a:off x="7213238" y="465735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306473" y="465735"/>
        <a:ext cx="227910" cy="311821"/>
      </dsp:txXfrm>
    </dsp:sp>
    <dsp:sp modelId="{CDA5FD2F-5B56-4E27-A6F1-B93F27A5CA7E}">
      <dsp:nvSpPr>
        <dsp:cNvPr id="0" name=""/>
        <dsp:cNvSpPr/>
      </dsp:nvSpPr>
      <dsp:spPr>
        <a:xfrm>
          <a:off x="7782833" y="1191786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76068" y="1191786"/>
        <a:ext cx="227910" cy="311821"/>
      </dsp:txXfrm>
    </dsp:sp>
    <dsp:sp modelId="{24A15C73-7D1B-438E-AE6B-CEC02D9B85D5}">
      <dsp:nvSpPr>
        <dsp:cNvPr id="0" name=""/>
        <dsp:cNvSpPr/>
      </dsp:nvSpPr>
      <dsp:spPr>
        <a:xfrm>
          <a:off x="8352428" y="1907212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445663" y="1907212"/>
        <a:ext cx="227910" cy="311821"/>
      </dsp:txXfrm>
    </dsp:sp>
    <dsp:sp modelId="{EEB808EC-15A8-46AB-85BF-752553493361}">
      <dsp:nvSpPr>
        <dsp:cNvPr id="0" name=""/>
        <dsp:cNvSpPr/>
      </dsp:nvSpPr>
      <dsp:spPr>
        <a:xfrm>
          <a:off x="8922023" y="2640347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015258" y="2640347"/>
        <a:ext cx="227910" cy="3118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A8501-2C25-41FC-ACD6-DBAC3265177B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DCA29-CEC5-4BEA-A59B-E2A7F6913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74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Recenziile</a:t>
            </a:r>
            <a:r>
              <a:rPr lang="en-US" dirty="0"/>
              <a:t> de </a:t>
            </a:r>
            <a:r>
              <a:rPr lang="en-US" dirty="0" err="1"/>
              <a:t>filme</a:t>
            </a:r>
            <a:r>
              <a:rPr lang="en-US" dirty="0"/>
              <a:t> sunt o </a:t>
            </a:r>
            <a:r>
              <a:rPr lang="en-US" dirty="0" err="1"/>
              <a:t>sursă</a:t>
            </a:r>
            <a:r>
              <a:rPr lang="en-US" dirty="0"/>
              <a:t> </a:t>
            </a:r>
            <a:r>
              <a:rPr lang="en-US" dirty="0" err="1"/>
              <a:t>ideală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sentimentelor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sunt </a:t>
            </a:r>
            <a:r>
              <a:rPr lang="en-US" dirty="0" err="1"/>
              <a:t>expresive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variate.</a:t>
            </a:r>
            <a:br>
              <a:rPr lang="en-US" dirty="0"/>
            </a:br>
            <a:r>
              <a:rPr lang="en-US" dirty="0"/>
              <a:t>Ele pot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ironie</a:t>
            </a:r>
            <a:r>
              <a:rPr lang="en-US" dirty="0"/>
              <a:t>, </a:t>
            </a:r>
            <a:r>
              <a:rPr lang="en-US" dirty="0" err="1"/>
              <a:t>negații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opinii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face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dificilă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clasice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67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Scopul</a:t>
            </a:r>
            <a:r>
              <a:rPr lang="en-US" dirty="0"/>
              <a:t> principal al </a:t>
            </a:r>
            <a:r>
              <a:rPr lang="en-US" dirty="0" err="1"/>
              <a:t>proiectului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a </a:t>
            </a:r>
            <a:r>
              <a:rPr lang="en-US" dirty="0" err="1"/>
              <a:t>sentimentului</a:t>
            </a:r>
            <a:r>
              <a:rPr lang="en-US" dirty="0"/>
              <a:t> </a:t>
            </a:r>
            <a:r>
              <a:rPr lang="en-US" dirty="0" err="1"/>
              <a:t>recenziilor</a:t>
            </a:r>
            <a:r>
              <a:rPr lang="en-US" dirty="0"/>
              <a:t> de </a:t>
            </a:r>
            <a:r>
              <a:rPr lang="en-US" dirty="0" err="1"/>
              <a:t>filme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atinge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scop, am </a:t>
            </a:r>
            <a:r>
              <a:rPr lang="en-US" dirty="0" err="1"/>
              <a:t>avut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obiective</a:t>
            </a:r>
            <a:r>
              <a:rPr lang="en-US" dirty="0"/>
              <a:t>: </a:t>
            </a:r>
            <a:r>
              <a:rPr lang="en-US" dirty="0" err="1"/>
              <a:t>preprocesarea</a:t>
            </a:r>
            <a:r>
              <a:rPr lang="en-US" dirty="0"/>
              <a:t> </a:t>
            </a:r>
            <a:r>
              <a:rPr lang="en-US" dirty="0" err="1"/>
              <a:t>textului</a:t>
            </a:r>
            <a:r>
              <a:rPr lang="en-US" dirty="0"/>
              <a:t>,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multor</a:t>
            </a:r>
            <a:r>
              <a:rPr lang="en-US" dirty="0"/>
              <a:t> </a:t>
            </a:r>
            <a:r>
              <a:rPr lang="en-US" dirty="0" err="1"/>
              <a:t>arhitecturi</a:t>
            </a:r>
            <a:r>
              <a:rPr lang="en-US" dirty="0"/>
              <a:t> RNN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compararea</a:t>
            </a:r>
            <a:r>
              <a:rPr lang="en-US" dirty="0"/>
              <a:t> </a:t>
            </a:r>
            <a:r>
              <a:rPr lang="en-US" dirty="0" err="1"/>
              <a:t>performanțelor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diferențele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53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Dataset-ul </a:t>
            </a:r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IMDB Dataset of 50K Movie Reviews, </a:t>
            </a:r>
            <a:r>
              <a:rPr lang="en-US" dirty="0" err="1"/>
              <a:t>disponibil</a:t>
            </a:r>
            <a:r>
              <a:rPr lang="en-US" dirty="0"/>
              <a:t> pe Kaggle.</a:t>
            </a:r>
            <a:br>
              <a:rPr lang="en-US" dirty="0"/>
            </a:br>
            <a:r>
              <a:rPr lang="en-US" dirty="0" err="1"/>
              <a:t>Conține</a:t>
            </a:r>
            <a:r>
              <a:rPr lang="en-US" dirty="0"/>
              <a:t> 50.000 de </a:t>
            </a:r>
            <a:r>
              <a:rPr lang="en-US" dirty="0" err="1"/>
              <a:t>recenzii</a:t>
            </a:r>
            <a:r>
              <a:rPr lang="en-US" dirty="0"/>
              <a:t> </a:t>
            </a:r>
            <a:r>
              <a:rPr lang="en-US" dirty="0" err="1"/>
              <a:t>etichetate</a:t>
            </a:r>
            <a:r>
              <a:rPr lang="en-US" dirty="0"/>
              <a:t> manual ca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pozitive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negative.</a:t>
            </a:r>
            <a:br>
              <a:rPr lang="en-US" dirty="0"/>
            </a:br>
            <a:r>
              <a:rPr lang="en-US" dirty="0"/>
              <a:t>Un </a:t>
            </a:r>
            <a:r>
              <a:rPr lang="en-US" dirty="0" err="1"/>
              <a:t>avantaj</a:t>
            </a:r>
            <a:r>
              <a:rPr lang="en-US" dirty="0"/>
              <a:t> major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dataset-ul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echilibrat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reduce </a:t>
            </a:r>
            <a:r>
              <a:rPr lang="en-US" dirty="0" err="1"/>
              <a:t>riscul</a:t>
            </a:r>
            <a:r>
              <a:rPr lang="en-US" dirty="0"/>
              <a:t> de bias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antrenarea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02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Recenziile</a:t>
            </a:r>
            <a:r>
              <a:rPr lang="en-US" dirty="0"/>
              <a:t> au </a:t>
            </a:r>
            <a:r>
              <a:rPr lang="en-US" dirty="0" err="1"/>
              <a:t>lungimi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, de la </a:t>
            </a:r>
            <a:r>
              <a:rPr lang="en-US" dirty="0" err="1"/>
              <a:t>câteva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paragrafe</a:t>
            </a:r>
            <a:r>
              <a:rPr lang="en-US" dirty="0"/>
              <a:t> lungi.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vocabularul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mare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rare.</a:t>
            </a:r>
            <a:br>
              <a:rPr lang="en-US" dirty="0"/>
            </a:b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aspecte</a:t>
            </a:r>
            <a:r>
              <a:rPr lang="en-US" dirty="0"/>
              <a:t> fac </a:t>
            </a:r>
            <a:r>
              <a:rPr lang="en-US" dirty="0" err="1"/>
              <a:t>necesară</a:t>
            </a:r>
            <a:r>
              <a:rPr lang="en-US" dirty="0"/>
              <a:t> o </a:t>
            </a:r>
            <a:r>
              <a:rPr lang="en-US" dirty="0" err="1"/>
              <a:t>preprocesare</a:t>
            </a:r>
            <a:r>
              <a:rPr lang="en-US" dirty="0"/>
              <a:t> </a:t>
            </a:r>
            <a:r>
              <a:rPr lang="en-US" dirty="0" err="1"/>
              <a:t>atentă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care pot </a:t>
            </a:r>
            <a:r>
              <a:rPr lang="en-US" dirty="0" err="1"/>
              <a:t>gestiona</a:t>
            </a:r>
            <a:r>
              <a:rPr lang="en-US" dirty="0"/>
              <a:t> </a:t>
            </a:r>
            <a:r>
              <a:rPr lang="en-US" dirty="0" err="1"/>
              <a:t>secvențe</a:t>
            </a:r>
            <a:r>
              <a:rPr lang="en-US" dirty="0"/>
              <a:t> lungi.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7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Preprocesarea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pas </a:t>
            </a:r>
            <a:r>
              <a:rPr lang="en-US" dirty="0" err="1"/>
              <a:t>esențial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NLP.</a:t>
            </a:r>
            <a:br>
              <a:rPr lang="en-US" dirty="0"/>
            </a:br>
            <a:r>
              <a:rPr lang="en-US" dirty="0"/>
              <a:t>Am </a:t>
            </a:r>
            <a:r>
              <a:rPr lang="en-US" dirty="0" err="1"/>
              <a:t>curățat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eliminarea</a:t>
            </a:r>
            <a:r>
              <a:rPr lang="en-US" dirty="0"/>
              <a:t> </a:t>
            </a:r>
            <a:r>
              <a:rPr lang="en-US" dirty="0" err="1"/>
              <a:t>caracterelor</a:t>
            </a:r>
            <a:r>
              <a:rPr lang="en-US" dirty="0"/>
              <a:t> inutile </a:t>
            </a:r>
            <a:r>
              <a:rPr lang="en-US" dirty="0" err="1"/>
              <a:t>și</a:t>
            </a:r>
            <a:r>
              <a:rPr lang="en-US" dirty="0"/>
              <a:t> a tag-</a:t>
            </a:r>
            <a:r>
              <a:rPr lang="en-US" dirty="0" err="1"/>
              <a:t>urilor</a:t>
            </a:r>
            <a:r>
              <a:rPr lang="en-US" dirty="0"/>
              <a:t> HTML, </a:t>
            </a:r>
            <a:r>
              <a:rPr lang="en-US" dirty="0" err="1"/>
              <a:t>apoi</a:t>
            </a:r>
            <a:r>
              <a:rPr lang="en-US" dirty="0"/>
              <a:t> am </a:t>
            </a:r>
            <a:r>
              <a:rPr lang="en-US" dirty="0" err="1"/>
              <a:t>transformat</a:t>
            </a:r>
            <a:r>
              <a:rPr lang="en-US" dirty="0"/>
              <a:t> </a:t>
            </a:r>
            <a:r>
              <a:rPr lang="en-US" dirty="0" err="1"/>
              <a:t>totul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lowercase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Tokenizarea</a:t>
            </a:r>
            <a:r>
              <a:rPr lang="en-US" dirty="0"/>
              <a:t>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secvențe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padding-ul </a:t>
            </a:r>
            <a:r>
              <a:rPr lang="en-US" dirty="0" err="1"/>
              <a:t>permite</a:t>
            </a:r>
            <a:r>
              <a:rPr lang="en-US" dirty="0"/>
              <a:t> ca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secvențele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aibă</a:t>
            </a:r>
            <a:r>
              <a:rPr lang="en-US" dirty="0"/>
              <a:t> </a:t>
            </a:r>
            <a:r>
              <a:rPr lang="en-US" dirty="0" err="1"/>
              <a:t>aceeași</a:t>
            </a:r>
            <a:r>
              <a:rPr lang="en-US" dirty="0"/>
              <a:t> </a:t>
            </a:r>
            <a:r>
              <a:rPr lang="en-US" dirty="0" err="1"/>
              <a:t>lungime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47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</a:t>
            </a:r>
            <a:r>
              <a:rPr lang="en-US" dirty="0" err="1"/>
              <a:t>limitat</a:t>
            </a:r>
            <a:r>
              <a:rPr lang="en-US" dirty="0"/>
              <a:t> </a:t>
            </a:r>
            <a:r>
              <a:rPr lang="en-US" dirty="0" err="1"/>
              <a:t>vocabularul</a:t>
            </a:r>
            <a:r>
              <a:rPr lang="en-US" dirty="0"/>
              <a:t> la 20.000 de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reduce </a:t>
            </a:r>
            <a:r>
              <a:rPr lang="en-US" dirty="0" err="1"/>
              <a:t>complexitatea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Secvențele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trunchiate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completate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o </a:t>
            </a:r>
            <a:r>
              <a:rPr lang="en-US" dirty="0" err="1"/>
              <a:t>lungime</a:t>
            </a:r>
            <a:r>
              <a:rPr lang="en-US" dirty="0"/>
              <a:t> de 200 de </a:t>
            </a:r>
            <a:r>
              <a:rPr lang="en-US" dirty="0" err="1"/>
              <a:t>tokeni</a:t>
            </a:r>
            <a:r>
              <a:rPr lang="en-US" dirty="0"/>
              <a:t>, </a:t>
            </a:r>
            <a:r>
              <a:rPr lang="en-US" dirty="0" err="1"/>
              <a:t>suficientă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surprinde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majorității</a:t>
            </a:r>
            <a:r>
              <a:rPr lang="en-US" dirty="0"/>
              <a:t> </a:t>
            </a:r>
            <a:r>
              <a:rPr lang="en-US" dirty="0" err="1"/>
              <a:t>recenziilor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5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 layer-ul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cuvânt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vector numeric dens.</a:t>
            </a:r>
            <a:br>
              <a:rPr lang="en-US" dirty="0"/>
            </a:br>
            <a:r>
              <a:rPr lang="en-US" dirty="0" err="1"/>
              <a:t>Acești</a:t>
            </a:r>
            <a:r>
              <a:rPr lang="en-US" dirty="0"/>
              <a:t> </a:t>
            </a:r>
            <a:r>
              <a:rPr lang="en-US" dirty="0" err="1"/>
              <a:t>vectori</a:t>
            </a:r>
            <a:r>
              <a:rPr lang="en-US" dirty="0"/>
              <a:t> sunt </a:t>
            </a:r>
            <a:r>
              <a:rPr lang="en-US" dirty="0" err="1"/>
              <a:t>învățați</a:t>
            </a:r>
            <a:r>
              <a:rPr lang="en-US" dirty="0"/>
              <a:t> automat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antrenării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permit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înțeleagă</a:t>
            </a:r>
            <a:r>
              <a:rPr lang="en-US" dirty="0"/>
              <a:t> </a:t>
            </a:r>
            <a:r>
              <a:rPr lang="en-US" dirty="0" err="1"/>
              <a:t>relațiile</a:t>
            </a:r>
            <a:r>
              <a:rPr lang="en-US" dirty="0"/>
              <a:t> </a:t>
            </a:r>
            <a:r>
              <a:rPr lang="en-US" dirty="0" err="1"/>
              <a:t>semantice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, nu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frecvența</a:t>
            </a:r>
            <a:r>
              <a:rPr lang="en-US" dirty="0"/>
              <a:t> lor.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62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Rețelele</a:t>
            </a:r>
            <a:r>
              <a:rPr lang="en-US" dirty="0"/>
              <a:t>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recurente</a:t>
            </a:r>
            <a:r>
              <a:rPr lang="en-US" dirty="0"/>
              <a:t> sunt </a:t>
            </a:r>
            <a:r>
              <a:rPr lang="en-US" dirty="0" err="1"/>
              <a:t>proiectate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date </a:t>
            </a:r>
            <a:r>
              <a:rPr lang="en-US" dirty="0" err="1"/>
              <a:t>secvențiale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Ele </a:t>
            </a:r>
            <a:r>
              <a:rPr lang="en-US" dirty="0" err="1"/>
              <a:t>mențin</a:t>
            </a:r>
            <a:r>
              <a:rPr lang="en-US" dirty="0"/>
              <a:t> un hidden state care se </a:t>
            </a:r>
            <a:r>
              <a:rPr lang="en-US" dirty="0" err="1"/>
              <a:t>propagă</a:t>
            </a:r>
            <a:r>
              <a:rPr lang="en-US" dirty="0"/>
              <a:t> de-a </a:t>
            </a:r>
            <a:r>
              <a:rPr lang="en-US" dirty="0" err="1"/>
              <a:t>lungul</a:t>
            </a:r>
            <a:r>
              <a:rPr lang="en-US" dirty="0"/>
              <a:t> </a:t>
            </a:r>
            <a:r>
              <a:rPr lang="en-US" dirty="0" err="1"/>
              <a:t>secvenței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Totuși</a:t>
            </a:r>
            <a:r>
              <a:rPr lang="en-US" dirty="0"/>
              <a:t>, RNN-urile simple </a:t>
            </a:r>
            <a:r>
              <a:rPr lang="en-US" dirty="0" err="1"/>
              <a:t>suferă</a:t>
            </a:r>
            <a:r>
              <a:rPr lang="en-US" dirty="0"/>
              <a:t> de </a:t>
            </a:r>
            <a:r>
              <a:rPr lang="en-US" dirty="0" err="1"/>
              <a:t>problema</a:t>
            </a:r>
            <a:r>
              <a:rPr lang="en-US" dirty="0"/>
              <a:t> vanishing gradient,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le face </a:t>
            </a:r>
            <a:r>
              <a:rPr lang="en-US" dirty="0" err="1"/>
              <a:t>ineficiente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texte</a:t>
            </a:r>
            <a:r>
              <a:rPr lang="en-US" dirty="0"/>
              <a:t> lungi.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52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LSTM-urile </a:t>
            </a:r>
            <a:r>
              <a:rPr lang="en-US" dirty="0" err="1"/>
              <a:t>rezolvă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vanishing gradient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introducerea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porți</a:t>
            </a:r>
            <a:r>
              <a:rPr lang="en-US" dirty="0"/>
              <a:t> care </a:t>
            </a:r>
            <a:r>
              <a:rPr lang="en-US" dirty="0" err="1"/>
              <a:t>controlează</a:t>
            </a:r>
            <a:r>
              <a:rPr lang="en-US" dirty="0"/>
              <a:t> </a:t>
            </a:r>
            <a:r>
              <a:rPr lang="en-US" dirty="0" err="1"/>
              <a:t>fluxul</a:t>
            </a:r>
            <a:r>
              <a:rPr lang="en-US" dirty="0"/>
              <a:t> de </a:t>
            </a:r>
            <a:r>
              <a:rPr lang="en-US" dirty="0" err="1"/>
              <a:t>informație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reținerea</a:t>
            </a:r>
            <a:r>
              <a:rPr lang="en-US" dirty="0"/>
              <a:t> </a:t>
            </a:r>
            <a:r>
              <a:rPr lang="en-US" dirty="0" err="1"/>
              <a:t>informațiilor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pe termen lung,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ideale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textului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92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variantă</a:t>
            </a:r>
            <a:r>
              <a:rPr lang="en-US" dirty="0"/>
              <a:t> </a:t>
            </a:r>
            <a:r>
              <a:rPr lang="en-US" dirty="0" err="1"/>
              <a:t>simplificată</a:t>
            </a:r>
            <a:r>
              <a:rPr lang="en-US" dirty="0"/>
              <a:t> a LSTM,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puțini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Deși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, </a:t>
            </a:r>
            <a:r>
              <a:rPr lang="en-US" dirty="0" err="1"/>
              <a:t>performanța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comparabilă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mic.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66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Bidirectional LSTM </a:t>
            </a:r>
            <a:r>
              <a:rPr lang="en-US" dirty="0" err="1"/>
              <a:t>procesează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direcții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folosească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anterior,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 cel ulterior,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util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natural.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94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Modelele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antrenate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optimizerul</a:t>
            </a:r>
            <a:r>
              <a:rPr lang="en-US" dirty="0"/>
              <a:t> Adam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funcția</a:t>
            </a:r>
            <a:r>
              <a:rPr lang="en-US" dirty="0"/>
              <a:t> de </a:t>
            </a:r>
            <a:r>
              <a:rPr lang="en-US" dirty="0" err="1"/>
              <a:t>pierdere</a:t>
            </a:r>
            <a:r>
              <a:rPr lang="en-US" dirty="0"/>
              <a:t> Binary Cross-Entropy.</a:t>
            </a:r>
            <a:br>
              <a:rPr lang="en-US" dirty="0"/>
            </a:br>
            <a:r>
              <a:rPr lang="en-US" dirty="0"/>
              <a:t>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EarlyStopping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preveni</a:t>
            </a:r>
            <a:r>
              <a:rPr lang="en-US" dirty="0"/>
              <a:t> overfitting-ul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opri</a:t>
            </a:r>
            <a:r>
              <a:rPr lang="en-US" dirty="0"/>
              <a:t> </a:t>
            </a:r>
            <a:r>
              <a:rPr lang="en-US" dirty="0" err="1"/>
              <a:t>antrenarea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performanța</a:t>
            </a:r>
            <a:r>
              <a:rPr lang="en-US" dirty="0"/>
              <a:t> pe </a:t>
            </a:r>
            <a:r>
              <a:rPr lang="en-US" dirty="0" err="1"/>
              <a:t>validare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crește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4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Overfitting-ul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învață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bine </a:t>
            </a:r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preveni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, am </a:t>
            </a:r>
            <a:r>
              <a:rPr lang="en-US" dirty="0" err="1"/>
              <a:t>folosit</a:t>
            </a:r>
            <a:r>
              <a:rPr lang="en-US" dirty="0"/>
              <a:t> dropout </a:t>
            </a:r>
            <a:r>
              <a:rPr lang="en-US" dirty="0" err="1"/>
              <a:t>și</a:t>
            </a:r>
            <a:r>
              <a:rPr lang="en-US" dirty="0"/>
              <a:t> early stopping.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84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</a:t>
            </a:r>
            <a:r>
              <a:rPr lang="en-US" dirty="0" err="1"/>
              <a:t>măsoară</a:t>
            </a:r>
            <a:r>
              <a:rPr lang="en-US" dirty="0"/>
              <a:t> </a:t>
            </a:r>
            <a:r>
              <a:rPr lang="en-US" dirty="0" err="1"/>
              <a:t>procentul</a:t>
            </a:r>
            <a:r>
              <a:rPr lang="en-US" dirty="0"/>
              <a:t> de </a:t>
            </a:r>
            <a:r>
              <a:rPr lang="en-US" dirty="0" err="1"/>
              <a:t>predicții</a:t>
            </a:r>
            <a:r>
              <a:rPr lang="en-US" dirty="0"/>
              <a:t> </a:t>
            </a:r>
            <a:r>
              <a:rPr lang="en-US" dirty="0" err="1"/>
              <a:t>corecte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suficientă</a:t>
            </a:r>
            <a:r>
              <a:rPr lang="en-US" dirty="0"/>
              <a:t> </a:t>
            </a:r>
            <a:r>
              <a:rPr lang="en-US" dirty="0" err="1"/>
              <a:t>singură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aceea</a:t>
            </a:r>
            <a:r>
              <a:rPr lang="en-US" dirty="0"/>
              <a:t>, 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F1-score, care </a:t>
            </a:r>
            <a:r>
              <a:rPr lang="en-US" dirty="0" err="1"/>
              <a:t>echilibrează</a:t>
            </a:r>
            <a:r>
              <a:rPr lang="en-US" dirty="0"/>
              <a:t> precision </a:t>
            </a:r>
            <a:r>
              <a:rPr lang="en-US" dirty="0" err="1"/>
              <a:t>și</a:t>
            </a:r>
            <a:r>
              <a:rPr lang="en-US" dirty="0"/>
              <a:t> recall, precum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confuzie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arată</a:t>
            </a:r>
            <a:r>
              <a:rPr lang="en-US" dirty="0"/>
              <a:t> </a:t>
            </a:r>
            <a:r>
              <a:rPr lang="en-US" dirty="0" err="1"/>
              <a:t>clar</a:t>
            </a:r>
            <a:r>
              <a:rPr lang="en-US" dirty="0"/>
              <a:t> </a:t>
            </a:r>
            <a:r>
              <a:rPr lang="en-US" dirty="0" err="1"/>
              <a:t>diferențele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RNN-ul </a:t>
            </a:r>
            <a:r>
              <a:rPr lang="en-US" dirty="0" err="1"/>
              <a:t>simplu</a:t>
            </a:r>
            <a:r>
              <a:rPr lang="en-US" dirty="0"/>
              <a:t> are </a:t>
            </a:r>
            <a:r>
              <a:rPr lang="en-US" dirty="0" err="1"/>
              <a:t>performanță</a:t>
            </a:r>
            <a:r>
              <a:rPr lang="en-US" dirty="0"/>
              <a:t> </a:t>
            </a:r>
            <a:r>
              <a:rPr lang="en-US" dirty="0" err="1"/>
              <a:t>slabă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LSTM </a:t>
            </a:r>
            <a:r>
              <a:rPr lang="en-US" dirty="0" err="1"/>
              <a:t>și</a:t>
            </a:r>
            <a:r>
              <a:rPr lang="en-US" dirty="0"/>
              <a:t> GRU </a:t>
            </a:r>
            <a:r>
              <a:rPr lang="en-US" dirty="0" err="1"/>
              <a:t>obțin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GRU </a:t>
            </a:r>
            <a:r>
              <a:rPr lang="en-US" dirty="0" err="1"/>
              <a:t>este</a:t>
            </a:r>
            <a:r>
              <a:rPr lang="en-US" dirty="0"/>
              <a:t> 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</a:t>
            </a:r>
            <a:r>
              <a:rPr lang="en-US" dirty="0"/>
              <a:t>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al </a:t>
            </a:r>
            <a:r>
              <a:rPr lang="en-US" dirty="0" err="1"/>
              <a:t>performanței</a:t>
            </a:r>
            <a:r>
              <a:rPr lang="en-US" dirty="0"/>
              <a:t> vs </a:t>
            </a:r>
            <a:r>
              <a:rPr lang="en-US" dirty="0" err="1"/>
              <a:t>complexitate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91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BiLSTM</a:t>
            </a:r>
            <a:r>
              <a:rPr lang="en-US" dirty="0"/>
              <a:t> </a:t>
            </a:r>
            <a:r>
              <a:rPr lang="en-US" dirty="0" err="1"/>
              <a:t>oferă</a:t>
            </a:r>
            <a:r>
              <a:rPr lang="en-US" dirty="0"/>
              <a:t> context </a:t>
            </a:r>
            <a:r>
              <a:rPr lang="en-US" dirty="0" err="1"/>
              <a:t>complet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are </a:t>
            </a:r>
            <a:r>
              <a:rPr lang="en-US" dirty="0" err="1"/>
              <a:t>risc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de overfitting.</a:t>
            </a:r>
            <a:br>
              <a:rPr lang="en-US" dirty="0"/>
            </a:b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proiect</a:t>
            </a:r>
            <a:r>
              <a:rPr lang="en-US" dirty="0"/>
              <a:t>, LSTM </a:t>
            </a:r>
            <a:r>
              <a:rPr lang="en-US" dirty="0" err="1"/>
              <a:t>și</a:t>
            </a:r>
            <a:r>
              <a:rPr lang="en-US" dirty="0"/>
              <a:t> GRU au </a:t>
            </a:r>
            <a:r>
              <a:rPr lang="en-US" dirty="0" err="1"/>
              <a:t>oferit</a:t>
            </a:r>
            <a:r>
              <a:rPr lang="en-US" dirty="0"/>
              <a:t> cel </a:t>
            </a:r>
            <a:r>
              <a:rPr lang="en-US" dirty="0" err="1"/>
              <a:t>mai</a:t>
            </a:r>
            <a:r>
              <a:rPr lang="en-US" dirty="0"/>
              <a:t> bun </a:t>
            </a:r>
            <a:r>
              <a:rPr lang="en-US" dirty="0" err="1"/>
              <a:t>compromis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acuratețe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complexitate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 err="1"/>
              <a:t>Graficele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r>
              <a:rPr lang="en-US" dirty="0"/>
              <a:t> </a:t>
            </a:r>
            <a:r>
              <a:rPr lang="en-US" dirty="0" err="1"/>
              <a:t>arată</a:t>
            </a:r>
            <a:r>
              <a:rPr lang="en-US" dirty="0"/>
              <a:t> cum </a:t>
            </a:r>
            <a:r>
              <a:rPr lang="en-US" dirty="0" err="1"/>
              <a:t>evoluează</a:t>
            </a:r>
            <a:r>
              <a:rPr lang="en-US" dirty="0"/>
              <a:t> </a:t>
            </a:r>
            <a:r>
              <a:rPr lang="en-US" dirty="0" err="1"/>
              <a:t>acuratețea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loss-ul.</a:t>
            </a:r>
            <a:br>
              <a:rPr lang="en-US" dirty="0"/>
            </a:br>
            <a:r>
              <a:rPr lang="en-US" dirty="0" err="1"/>
              <a:t>Diferențele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train </a:t>
            </a:r>
            <a:r>
              <a:rPr lang="en-US" dirty="0" err="1"/>
              <a:t>și</a:t>
            </a:r>
            <a:r>
              <a:rPr lang="en-US" dirty="0"/>
              <a:t> validation ne </a:t>
            </a:r>
            <a:r>
              <a:rPr lang="en-US" dirty="0" err="1"/>
              <a:t>ajută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identificăm</a:t>
            </a:r>
            <a:r>
              <a:rPr lang="en-US" dirty="0"/>
              <a:t> overfitting-ul.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63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</a:t>
            </a:r>
            <a:r>
              <a:rPr lang="en-US" dirty="0" err="1"/>
              <a:t>testat</a:t>
            </a:r>
            <a:r>
              <a:rPr lang="en-US" dirty="0"/>
              <a:t> </a:t>
            </a:r>
            <a:r>
              <a:rPr lang="en-US" dirty="0" err="1"/>
              <a:t>modelele</a:t>
            </a:r>
            <a:r>
              <a:rPr lang="en-US" dirty="0"/>
              <a:t> pe </a:t>
            </a:r>
            <a:r>
              <a:rPr lang="en-US" dirty="0" err="1"/>
              <a:t>exemple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de </a:t>
            </a:r>
            <a:r>
              <a:rPr lang="en-US" dirty="0" err="1"/>
              <a:t>recenzii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demonstra</a:t>
            </a:r>
            <a:r>
              <a:rPr lang="en-US" dirty="0"/>
              <a:t> </a:t>
            </a:r>
            <a:r>
              <a:rPr lang="en-US" dirty="0" err="1"/>
              <a:t>funcționarea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 a </a:t>
            </a:r>
            <a:r>
              <a:rPr lang="en-US" dirty="0" err="1"/>
              <a:t>sistemului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Predicțiile</a:t>
            </a:r>
            <a:r>
              <a:rPr lang="en-US" dirty="0"/>
              <a:t> sunt </a:t>
            </a:r>
            <a:r>
              <a:rPr lang="en-US" dirty="0" err="1"/>
              <a:t>însoțite</a:t>
            </a:r>
            <a:r>
              <a:rPr lang="en-US" dirty="0"/>
              <a:t> de </a:t>
            </a:r>
            <a:r>
              <a:rPr lang="en-US" dirty="0" err="1"/>
              <a:t>probabilitate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indică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încredere</a:t>
            </a:r>
            <a:r>
              <a:rPr lang="en-US" dirty="0"/>
              <a:t> al </a:t>
            </a:r>
            <a:r>
              <a:rPr lang="en-US" dirty="0" err="1"/>
              <a:t>modelului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 err="1"/>
              <a:t>Proiectul</a:t>
            </a:r>
            <a:r>
              <a:rPr lang="en-US" dirty="0"/>
              <a:t> are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limitări</a:t>
            </a:r>
            <a:r>
              <a:rPr lang="en-US" dirty="0"/>
              <a:t>, precum </a:t>
            </a:r>
            <a:r>
              <a:rPr lang="en-US" dirty="0" err="1"/>
              <a:t>lipsa</a:t>
            </a:r>
            <a:r>
              <a:rPr lang="en-US" dirty="0"/>
              <a:t> embedding-</a:t>
            </a:r>
            <a:r>
              <a:rPr lang="en-US" dirty="0" err="1"/>
              <a:t>urilor</a:t>
            </a:r>
            <a:r>
              <a:rPr lang="en-US" dirty="0"/>
              <a:t> pre-</a:t>
            </a:r>
            <a:r>
              <a:rPr lang="en-US" dirty="0" err="1"/>
              <a:t>antrenate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cross-validation-</a:t>
            </a:r>
            <a:r>
              <a:rPr lang="en-US" dirty="0" err="1"/>
              <a:t>ului</a:t>
            </a:r>
            <a:r>
              <a:rPr lang="en-US" dirty="0"/>
              <a:t>, care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îmbunătăți</a:t>
            </a:r>
            <a:r>
              <a:rPr lang="en-US" dirty="0"/>
              <a:t> </a:t>
            </a:r>
            <a:r>
              <a:rPr lang="en-US" dirty="0" err="1"/>
              <a:t>performanța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/>
              <a:t>Pe </a:t>
            </a:r>
            <a:r>
              <a:rPr lang="en-US" dirty="0" err="1"/>
              <a:t>viitor</a:t>
            </a:r>
            <a:r>
              <a:rPr lang="en-US" dirty="0"/>
              <a:t>, </a:t>
            </a: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extins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 Transformer, precum BERT, care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superioare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NLP.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5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demonstrează</a:t>
            </a:r>
            <a:r>
              <a:rPr lang="en-US" dirty="0"/>
              <a:t> </a:t>
            </a:r>
            <a:r>
              <a:rPr lang="en-US" dirty="0" err="1"/>
              <a:t>eficiența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 </a:t>
            </a:r>
            <a:r>
              <a:rPr lang="en-US" dirty="0" err="1"/>
              <a:t>recurente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sentimentelor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LSTM </a:t>
            </a:r>
            <a:r>
              <a:rPr lang="en-US" dirty="0" err="1"/>
              <a:t>și</a:t>
            </a:r>
            <a:r>
              <a:rPr lang="en-US" dirty="0"/>
              <a:t> GRU sunt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potrivite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sarcină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DCA29-CEC5-4BEA-A59B-E2A7F69133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7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/kaggle/input/imdb-dataset-of-50k-movie-review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B64123A-D89A-EB4D-52CC-3A3A10287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233" y="4539573"/>
            <a:ext cx="8957534" cy="1182838"/>
          </a:xfrm>
        </p:spPr>
        <p:txBody>
          <a:bodyPr>
            <a:normAutofit/>
          </a:bodyPr>
          <a:lstStyle/>
          <a:p>
            <a:pPr algn="ctr"/>
            <a:r>
              <a:rPr lang="en-US" sz="3700" dirty="0"/>
              <a:t>Analiza </a:t>
            </a:r>
            <a:r>
              <a:rPr lang="en-US" sz="3700" dirty="0" err="1"/>
              <a:t>sentimentelor</a:t>
            </a:r>
            <a:r>
              <a:rPr lang="en-US" sz="3700" dirty="0"/>
              <a:t> din </a:t>
            </a:r>
            <a:r>
              <a:rPr lang="en-US" sz="3700" dirty="0" err="1"/>
              <a:t>recenziile</a:t>
            </a:r>
            <a:r>
              <a:rPr lang="en-US" sz="3700" dirty="0"/>
              <a:t> </a:t>
            </a:r>
            <a:r>
              <a:rPr lang="en-US" sz="3700" dirty="0" err="1"/>
              <a:t>filmelor</a:t>
            </a:r>
            <a:endParaRPr lang="en-US" sz="370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D4C7437-6E5E-F1C1-05BB-718F92403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274" y="5722410"/>
            <a:ext cx="8394775" cy="1053039"/>
          </a:xfrm>
        </p:spPr>
        <p:txBody>
          <a:bodyPr>
            <a:no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dirty="0"/>
              <a:t>Student: </a:t>
            </a:r>
            <a:r>
              <a:rPr lang="en-US" sz="1400" b="1" dirty="0" err="1"/>
              <a:t>Cocei</a:t>
            </a:r>
            <a:r>
              <a:rPr lang="en-US" sz="1400" b="1" dirty="0"/>
              <a:t> Janina Constantina</a:t>
            </a:r>
          </a:p>
          <a:p>
            <a:pPr algn="r">
              <a:lnSpc>
                <a:spcPct val="110000"/>
              </a:lnSpc>
            </a:pPr>
            <a:r>
              <a:rPr lang="en-US" sz="1400" b="1" dirty="0" err="1"/>
              <a:t>Specializarea</a:t>
            </a:r>
            <a:r>
              <a:rPr lang="en-US" sz="1400" b="1" dirty="0"/>
              <a:t>: </a:t>
            </a:r>
            <a:r>
              <a:rPr lang="en-US" sz="1400" b="1" dirty="0" err="1"/>
              <a:t>Inginerie</a:t>
            </a:r>
            <a:r>
              <a:rPr lang="en-US" sz="1400" b="1" dirty="0"/>
              <a:t> Software</a:t>
            </a:r>
          </a:p>
          <a:p>
            <a:pPr algn="r">
              <a:lnSpc>
                <a:spcPct val="110000"/>
              </a:lnSpc>
            </a:pPr>
            <a:r>
              <a:rPr lang="en-US" sz="1400" b="1" dirty="0" err="1"/>
              <a:t>Coordonatori</a:t>
            </a:r>
            <a:r>
              <a:rPr lang="en-US" sz="1400" b="1" dirty="0"/>
              <a:t>: Costin </a:t>
            </a:r>
            <a:r>
              <a:rPr lang="en-US" sz="1400" b="1" dirty="0" err="1"/>
              <a:t>Badica</a:t>
            </a:r>
            <a:r>
              <a:rPr lang="en-US" sz="1400" b="1" dirty="0"/>
              <a:t> </a:t>
            </a:r>
            <a:r>
              <a:rPr lang="en-US" sz="1400" b="1" dirty="0" err="1"/>
              <a:t>si</a:t>
            </a:r>
            <a:r>
              <a:rPr lang="en-US" sz="1400" b="1" dirty="0"/>
              <a:t> Alexandru </a:t>
            </a:r>
            <a:r>
              <a:rPr lang="en-US" sz="1400" b="1" dirty="0" err="1"/>
              <a:t>becheru</a:t>
            </a:r>
            <a:endParaRPr lang="en-US" sz="1400" b="1" dirty="0"/>
          </a:p>
        </p:txBody>
      </p:sp>
      <p:sp>
        <p:nvSpPr>
          <p:cNvPr id="16" name="Round Diagonal Corner Rectangle 6">
            <a:extLst>
              <a:ext uri="{FF2B5EF4-FFF2-40B4-BE49-F238E27FC236}">
                <a16:creationId xmlns:a16="http://schemas.microsoft.com/office/drawing/2014/main" id="{66D7BB2A-2127-4B10-B638-E01043C89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974" y="639965"/>
            <a:ext cx="10879991" cy="3598548"/>
          </a:xfrm>
          <a:prstGeom prst="round2DiagRect">
            <a:avLst>
              <a:gd name="adj1" fmla="val 9529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6FAEA3B-68DC-9BB6-515E-53A1D20698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450" y="951492"/>
            <a:ext cx="3159691" cy="2975493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FCEF779-0409-D8C3-3DC5-C041B8D8E7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233" y="1384945"/>
            <a:ext cx="5051472" cy="17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113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2EBD04-BFB8-542C-58DE-3C349D3C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studiat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DFF330-E375-BFFE-61BF-BB11366F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 </a:t>
            </a:r>
            <a:r>
              <a:rPr lang="en-US" dirty="0" err="1"/>
              <a:t>sentimentelor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complexă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implică</a:t>
            </a:r>
            <a:r>
              <a:rPr lang="en-US" dirty="0"/>
              <a:t> </a:t>
            </a:r>
            <a:r>
              <a:rPr lang="en-US" dirty="0" err="1"/>
              <a:t>interpretarea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natural, un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semnificația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transmisă</a:t>
            </a:r>
            <a:r>
              <a:rPr lang="en-US" dirty="0"/>
              <a:t> nu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individuale</a:t>
            </a:r>
            <a:r>
              <a:rPr lang="en-US" dirty="0"/>
              <a:t>, ci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> </a:t>
            </a:r>
            <a:r>
              <a:rPr lang="en-US" dirty="0" err="1"/>
              <a:t>sintactice</a:t>
            </a:r>
            <a:r>
              <a:rPr lang="en-US" dirty="0"/>
              <a:t>, context, ton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stil</a:t>
            </a:r>
            <a:r>
              <a:rPr lang="en-US" dirty="0"/>
              <a:t>. </a:t>
            </a:r>
            <a:r>
              <a:rPr lang="en-US" dirty="0" err="1"/>
              <a:t>Recenziile</a:t>
            </a:r>
            <a:r>
              <a:rPr lang="en-US" dirty="0"/>
              <a:t> de </a:t>
            </a:r>
            <a:r>
              <a:rPr lang="en-US" dirty="0" err="1"/>
              <a:t>filme</a:t>
            </a:r>
            <a:r>
              <a:rPr lang="en-US" dirty="0"/>
              <a:t> </a:t>
            </a:r>
            <a:r>
              <a:rPr lang="en-US" dirty="0" err="1"/>
              <a:t>conțin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</a:t>
            </a:r>
            <a:r>
              <a:rPr lang="en-US" dirty="0" err="1"/>
              <a:t>opinii</a:t>
            </a:r>
            <a:r>
              <a:rPr lang="en-US" dirty="0"/>
              <a:t> </a:t>
            </a:r>
            <a:r>
              <a:rPr lang="en-US" dirty="0" err="1"/>
              <a:t>subiective</a:t>
            </a:r>
            <a:r>
              <a:rPr lang="en-US" dirty="0"/>
              <a:t>, </a:t>
            </a:r>
            <a:r>
              <a:rPr lang="en-US" dirty="0" err="1"/>
              <a:t>metafore</a:t>
            </a:r>
            <a:r>
              <a:rPr lang="en-US" dirty="0"/>
              <a:t>, </a:t>
            </a:r>
            <a:r>
              <a:rPr lang="en-US" dirty="0" err="1"/>
              <a:t>comparații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expresii</a:t>
            </a:r>
            <a:r>
              <a:rPr lang="en-US" dirty="0"/>
              <a:t> </a:t>
            </a:r>
            <a:r>
              <a:rPr lang="en-US" dirty="0" err="1"/>
              <a:t>idiomatice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face </a:t>
            </a:r>
            <a:r>
              <a:rPr lang="en-US" dirty="0" err="1"/>
              <a:t>dificilă</a:t>
            </a:r>
            <a:r>
              <a:rPr lang="en-US" dirty="0"/>
              <a:t> </a:t>
            </a:r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plus, </a:t>
            </a:r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întotdeauna</a:t>
            </a:r>
            <a:r>
              <a:rPr lang="en-US" dirty="0"/>
              <a:t> </a:t>
            </a:r>
            <a:r>
              <a:rPr lang="en-US" dirty="0" err="1"/>
              <a:t>standardizat</a:t>
            </a:r>
            <a:r>
              <a:rPr lang="en-US" dirty="0"/>
              <a:t>: </a:t>
            </a:r>
            <a:r>
              <a:rPr lang="en-US" dirty="0" err="1"/>
              <a:t>utilizatorii</a:t>
            </a:r>
            <a:r>
              <a:rPr lang="en-US" dirty="0"/>
              <a:t> pot </a:t>
            </a:r>
            <a:r>
              <a:rPr lang="en-US" dirty="0" err="1"/>
              <a:t>utiliza</a:t>
            </a:r>
            <a:r>
              <a:rPr lang="en-US" dirty="0"/>
              <a:t> slang, </a:t>
            </a:r>
            <a:r>
              <a:rPr lang="en-US" dirty="0" err="1"/>
              <a:t>abrevieri</a:t>
            </a:r>
            <a:r>
              <a:rPr lang="en-US" dirty="0"/>
              <a:t>, </a:t>
            </a:r>
            <a:r>
              <a:rPr lang="en-US" dirty="0" err="1"/>
              <a:t>greșeli</a:t>
            </a:r>
            <a:r>
              <a:rPr lang="en-US" dirty="0"/>
              <a:t> </a:t>
            </a:r>
            <a:r>
              <a:rPr lang="en-US" dirty="0" err="1"/>
              <a:t>gramaticale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 </a:t>
            </a:r>
            <a:r>
              <a:rPr lang="en-US" dirty="0" err="1"/>
              <a:t>colocviale</a:t>
            </a:r>
            <a:r>
              <a:rPr lang="en-US" dirty="0"/>
              <a:t>.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suficient</a:t>
            </a:r>
            <a:r>
              <a:rPr lang="en-US" dirty="0"/>
              <a:t> de robust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generaliza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circumstanțe</a:t>
            </a:r>
            <a:r>
              <a:rPr lang="en-US" dirty="0"/>
              <a:t>.</a:t>
            </a:r>
          </a:p>
          <a:p>
            <a:r>
              <a:rPr lang="en-US" dirty="0"/>
              <a:t>Pe </a:t>
            </a:r>
            <a:r>
              <a:rPr lang="en-US" dirty="0" err="1"/>
              <a:t>lângă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aspecte</a:t>
            </a:r>
            <a:r>
              <a:rPr lang="en-US" dirty="0"/>
              <a:t>, </a:t>
            </a:r>
            <a:r>
              <a:rPr lang="en-US" dirty="0" err="1"/>
              <a:t>recenziile</a:t>
            </a:r>
            <a:r>
              <a:rPr lang="en-US" dirty="0"/>
              <a:t> sunt </a:t>
            </a:r>
            <a:r>
              <a:rPr lang="en-US" dirty="0" err="1"/>
              <a:t>foarte</a:t>
            </a:r>
            <a:r>
              <a:rPr lang="en-US" dirty="0"/>
              <a:t> variate ca </a:t>
            </a:r>
            <a:r>
              <a:rPr lang="en-US" dirty="0" err="1"/>
              <a:t>lungime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conținut</a:t>
            </a:r>
            <a:r>
              <a:rPr lang="en-US" dirty="0"/>
              <a:t>. </a:t>
            </a:r>
            <a:r>
              <a:rPr lang="en-US" dirty="0" err="1"/>
              <a:t>Unele</a:t>
            </a:r>
            <a:r>
              <a:rPr lang="en-US" dirty="0"/>
              <a:t> pot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câteva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altele</a:t>
            </a:r>
            <a:r>
              <a:rPr lang="en-US" dirty="0"/>
              <a:t> pot include </a:t>
            </a:r>
            <a:r>
              <a:rPr lang="en-US" dirty="0" err="1"/>
              <a:t>paragrafe</a:t>
            </a:r>
            <a:r>
              <a:rPr lang="en-US" dirty="0"/>
              <a:t> </a:t>
            </a:r>
            <a:r>
              <a:rPr lang="en-US" dirty="0" err="1"/>
              <a:t>întregi</a:t>
            </a:r>
            <a:r>
              <a:rPr lang="en-US" dirty="0"/>
              <a:t> de </a:t>
            </a:r>
            <a:r>
              <a:rPr lang="en-US" dirty="0" err="1"/>
              <a:t>analiză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50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3D35BF-E34C-F922-326D-D950E85D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Obiective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AD53CEB-5DFD-DDA1-9EF4-EA30B945E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Scopul</a:t>
            </a:r>
            <a:r>
              <a:rPr lang="en-US" b="1" dirty="0"/>
              <a:t> principal:</a:t>
            </a:r>
            <a:endParaRPr lang="en-US" dirty="0"/>
          </a:p>
          <a:p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a </a:t>
            </a:r>
            <a:r>
              <a:rPr lang="en-US" dirty="0" err="1"/>
              <a:t>sentimentului</a:t>
            </a:r>
            <a:r>
              <a:rPr lang="en-US" dirty="0"/>
              <a:t> </a:t>
            </a:r>
            <a:r>
              <a:rPr lang="en-US" dirty="0" err="1"/>
              <a:t>recenziilor</a:t>
            </a:r>
            <a:r>
              <a:rPr lang="en-US" dirty="0"/>
              <a:t> de </a:t>
            </a:r>
            <a:r>
              <a:rPr lang="en-US" dirty="0" err="1"/>
              <a:t>filme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Obiective</a:t>
            </a:r>
            <a:r>
              <a:rPr lang="en-US" b="1" dirty="0"/>
              <a:t> </a:t>
            </a:r>
            <a:r>
              <a:rPr lang="en-US" b="1" dirty="0" err="1"/>
              <a:t>specifice</a:t>
            </a:r>
            <a:endParaRPr lang="en-US" dirty="0"/>
          </a:p>
          <a:p>
            <a:r>
              <a:rPr lang="en-US" dirty="0" err="1"/>
              <a:t>Preprocesarea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textuale</a:t>
            </a:r>
            <a:endParaRPr lang="en-US" dirty="0"/>
          </a:p>
          <a:p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 RNN</a:t>
            </a:r>
          </a:p>
          <a:p>
            <a:r>
              <a:rPr lang="en-US" dirty="0" err="1"/>
              <a:t>Compararea</a:t>
            </a:r>
            <a:r>
              <a:rPr lang="en-US" dirty="0"/>
              <a:t> </a:t>
            </a:r>
            <a:r>
              <a:rPr lang="en-US" dirty="0" err="1"/>
              <a:t>performanțelor</a:t>
            </a:r>
            <a:endParaRPr lang="en-US" dirty="0"/>
          </a:p>
          <a:p>
            <a:r>
              <a:rPr lang="en-US" dirty="0"/>
              <a:t>Analiza </a:t>
            </a:r>
            <a:r>
              <a:rPr lang="en-US" dirty="0" err="1"/>
              <a:t>avantajelor</a:t>
            </a:r>
            <a:r>
              <a:rPr lang="en-US" dirty="0"/>
              <a:t> </a:t>
            </a:r>
            <a:r>
              <a:rPr lang="en-US" dirty="0" err="1"/>
              <a:t>fiecărei</a:t>
            </a:r>
            <a:r>
              <a:rPr lang="en-US" dirty="0"/>
              <a:t> </a:t>
            </a:r>
            <a:r>
              <a:rPr lang="en-US" dirty="0" err="1"/>
              <a:t>arhitecturi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4823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C4ACB2-39DA-8622-CD5B-7DE0D3EB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5B71BDC-833C-546B-D831-39410F974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linkClick r:id="rId3" action="ppaction://hlinkfile"/>
              </a:rPr>
              <a:t>IMDB Dataset of 50K Movie Reviews</a:t>
            </a:r>
            <a:endParaRPr lang="en-US" dirty="0"/>
          </a:p>
          <a:p>
            <a:r>
              <a:rPr lang="en-US" dirty="0"/>
              <a:t>50.000 </a:t>
            </a:r>
            <a:r>
              <a:rPr lang="en-US" dirty="0" err="1"/>
              <a:t>recenzii</a:t>
            </a:r>
            <a:endParaRPr lang="en-US" dirty="0"/>
          </a:p>
          <a:p>
            <a:r>
              <a:rPr lang="en-US" dirty="0" err="1"/>
              <a:t>Echilibrat</a:t>
            </a:r>
            <a:r>
              <a:rPr lang="en-US" dirty="0"/>
              <a:t>: 50% </a:t>
            </a:r>
            <a:r>
              <a:rPr lang="en-US" dirty="0" err="1"/>
              <a:t>pozitiv</a:t>
            </a:r>
            <a:r>
              <a:rPr lang="en-US" dirty="0"/>
              <a:t> / 50% </a:t>
            </a:r>
            <a:r>
              <a:rPr lang="en-US" dirty="0" err="1"/>
              <a:t>negativ</a:t>
            </a:r>
            <a:endParaRPr lang="en-US" dirty="0"/>
          </a:p>
          <a:p>
            <a:r>
              <a:rPr lang="en-US" dirty="0" err="1"/>
              <a:t>Fără</a:t>
            </a:r>
            <a:r>
              <a:rPr lang="en-US" dirty="0"/>
              <a:t> date </a:t>
            </a:r>
            <a:r>
              <a:rPr lang="en-US" dirty="0" err="1"/>
              <a:t>lipsă</a:t>
            </a:r>
            <a:endParaRPr lang="en-US" dirty="0"/>
          </a:p>
          <a:p>
            <a:r>
              <a:rPr lang="en-US" dirty="0"/>
              <a:t>Text brut, </a:t>
            </a:r>
            <a:r>
              <a:rPr lang="en-US" dirty="0" err="1"/>
              <a:t>nepreprocesat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353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8102CBC-27F7-0A33-1DAD-2125057F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Analiza Dataset-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E733AF0-419C-A4BE-6C3F-CBE4215F5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Caracteristici</a:t>
            </a:r>
            <a:r>
              <a:rPr lang="en-US" b="1" dirty="0"/>
              <a:t> </a:t>
            </a:r>
            <a:r>
              <a:rPr lang="en-US" b="1" dirty="0" err="1"/>
              <a:t>importante</a:t>
            </a:r>
            <a:endParaRPr lang="en-US" dirty="0"/>
          </a:p>
          <a:p>
            <a:r>
              <a:rPr lang="en-US" dirty="0" err="1"/>
              <a:t>Lungime</a:t>
            </a:r>
            <a:r>
              <a:rPr lang="en-US" dirty="0"/>
              <a:t> </a:t>
            </a:r>
            <a:r>
              <a:rPr lang="en-US" dirty="0" err="1"/>
              <a:t>variabilă</a:t>
            </a:r>
            <a:r>
              <a:rPr lang="en-US" dirty="0"/>
              <a:t> a </a:t>
            </a:r>
            <a:r>
              <a:rPr lang="en-US" dirty="0" err="1"/>
              <a:t>recenziilor</a:t>
            </a:r>
            <a:endParaRPr lang="en-US" dirty="0"/>
          </a:p>
          <a:p>
            <a:r>
              <a:rPr lang="en-US" dirty="0"/>
              <a:t>Vocabular mare</a:t>
            </a:r>
          </a:p>
          <a:p>
            <a:r>
              <a:rPr lang="en-US" dirty="0" err="1"/>
              <a:t>Prezența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en-US" dirty="0"/>
              <a:t> rare</a:t>
            </a:r>
          </a:p>
          <a:p>
            <a:pPr marL="0" indent="0">
              <a:buNone/>
            </a:pPr>
            <a:r>
              <a:rPr lang="en-US" b="1" dirty="0" err="1"/>
              <a:t>Provocări</a:t>
            </a:r>
            <a:endParaRPr lang="en-US" dirty="0"/>
          </a:p>
          <a:p>
            <a:r>
              <a:rPr lang="en-US" dirty="0" err="1"/>
              <a:t>Zgomot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text</a:t>
            </a:r>
          </a:p>
          <a:p>
            <a:r>
              <a:rPr lang="en-US" dirty="0" err="1"/>
              <a:t>Dependințe</a:t>
            </a:r>
            <a:r>
              <a:rPr lang="en-US" dirty="0"/>
              <a:t> </a:t>
            </a:r>
            <a:r>
              <a:rPr lang="en-US" dirty="0" err="1"/>
              <a:t>semantice</a:t>
            </a:r>
            <a:r>
              <a:rPr lang="en-US" dirty="0"/>
              <a:t> </a:t>
            </a:r>
            <a:r>
              <a:rPr lang="en-US" dirty="0" err="1"/>
              <a:t>îndepărtate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7975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73DDEB3E-7A04-FC53-8889-916987F0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Preprocesarea</a:t>
            </a:r>
            <a:r>
              <a:rPr lang="en-US" sz="2800" dirty="0"/>
              <a:t> </a:t>
            </a:r>
            <a:r>
              <a:rPr lang="en-US" sz="2800" dirty="0" err="1"/>
              <a:t>Datelor</a:t>
            </a:r>
            <a:endParaRPr lang="en-US" sz="28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010EF53-8A7C-E00A-6DB0-4DE49E1D9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0743" y="638650"/>
            <a:ext cx="7034485" cy="378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 err="1"/>
              <a:t>Pași</a:t>
            </a:r>
            <a:r>
              <a:rPr lang="en-US" b="1" dirty="0"/>
              <a:t> </a:t>
            </a:r>
            <a:r>
              <a:rPr lang="en-US" b="1" dirty="0" err="1"/>
              <a:t>aplicați</a:t>
            </a:r>
            <a:r>
              <a:rPr lang="en-US" b="1" dirty="0"/>
              <a:t>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Conversie</a:t>
            </a:r>
            <a:r>
              <a:rPr lang="en-US" dirty="0"/>
              <a:t> la lowercase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Eliminare</a:t>
            </a:r>
            <a:r>
              <a:rPr lang="en-US" dirty="0"/>
              <a:t> tag-</a:t>
            </a:r>
            <a:r>
              <a:rPr lang="en-US" dirty="0" err="1"/>
              <a:t>uri</a:t>
            </a:r>
            <a:r>
              <a:rPr lang="en-US" dirty="0"/>
              <a:t> HTML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Eliminare</a:t>
            </a:r>
            <a:r>
              <a:rPr lang="en-US" dirty="0"/>
              <a:t> </a:t>
            </a:r>
            <a:r>
              <a:rPr lang="en-US" dirty="0" err="1"/>
              <a:t>caractere</a:t>
            </a:r>
            <a:r>
              <a:rPr lang="en-US" dirty="0"/>
              <a:t> non-</a:t>
            </a:r>
            <a:r>
              <a:rPr lang="en-US" dirty="0" err="1"/>
              <a:t>alfabetice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Normalizare</a:t>
            </a:r>
            <a:r>
              <a:rPr lang="en-US" dirty="0"/>
              <a:t> </a:t>
            </a:r>
            <a:r>
              <a:rPr lang="en-US" dirty="0" err="1"/>
              <a:t>spații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Tokenizare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Padding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51580043-18EC-84EA-FC06-6EF2D3FA31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894668" y="4604942"/>
            <a:ext cx="4574143" cy="152090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24899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19FA62B-A2C9-49F5-8C45-9D5CDCD72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24E966C-35F3-4DB1-8C23-4BC252E4E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4ADCBC-2A94-4F6E-BC8D-278612B7A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38F45A3E-0BAF-4E7A-AD24-51B345041D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340FE26-BABB-409C-A32A-B3D10BD235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A9468B59-1984-42C3-88A4-942CF6EF75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F6B5E914-0078-49CC-AD42-C97DC361CD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18B3F5A-0978-48AE-9360-8ABC8CEABB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7E73F9B-CBFF-473A-9B41-8964B831E9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58218B5-0904-4C19-8935-1A64432BC2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BCBCB59-A700-4032-AB43-CB06687996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861A9C11-1685-4F09-B995-D5ECAD15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57CCC420-3BF0-4A3E-A4FB-41537B0642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DEFC6D1-15DA-4DDC-8FD1-B7630B8D6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0C6F2EE9-81FE-4B46-9513-6EC7D93012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6DF77E9-F68C-4FE0-864E-A4A4DE3616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9D3495ED-B588-4755-B8BB-18D33E4AC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76105FE-305A-42A7-B2DD-388B99FAB8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F1883F6E-6FAE-49E2-AE28-02B88BEBF6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8C8A198F-A0AA-455F-ACD5-8587457BD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E57E155C-0F05-498E-B0E3-33AE15B7E8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3D7FB1D7-F9DB-443D-A2D4-40C46F6975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9EF7FB08-B52A-4C0D-BF32-AC6D91AE9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A27D708-7911-4EAB-8A9D-E608726B5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0A3E3AC-335B-4EAB-A5D4-E72C8434AB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FC4E923E-7CEC-4950-8C12-F40EAE7A36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23A92FB5-3211-4195-8FFA-A8F49F6777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BB88442A-84E1-4264-BD24-B14020F21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B47AD665-0844-40BF-AE62-BA493929C5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01D8E540-292C-4867-BD21-43910262E9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00C8F50-D632-4BE8-B5BF-8AEAE2D13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870CC07-8D37-4F4D-A73B-9762FFAB1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06B84BAB-C27B-4804-9496-FDDA7FF6F2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45E90447-AF32-4C90-8940-D5EBE9F64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DFD35AB5-2871-471E-87D3-C3C024C31E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60EED77B-C4CD-44DE-B7AA-472CBEE6E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68122908-2E24-4971-A70E-29CFE953E5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43930918-848F-4F70-8C42-426DCCB4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7C2C1A0B-06A1-4F89-9A58-66CAB57F1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F26FAEF0-6EA1-41B4-AC1D-0BC56E43EF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563F085C-A9C1-47AB-9656-468B79DE5A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DD350B05-083C-6A29-8C8E-997733C5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/>
              <a:t>Parametri</a:t>
            </a:r>
            <a:r>
              <a:rPr lang="en-US" dirty="0"/>
              <a:t> NLP</a:t>
            </a:r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24291AB4-50A8-92E7-D6F8-1C6F54DF1F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r="13957" b="-1"/>
          <a:stretch>
            <a:fillRect/>
          </a:stretch>
        </p:blipFill>
        <p:spPr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2D1B0E9-81EC-913C-24DB-F3A751AE6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479" y="2249487"/>
            <a:ext cx="4844521" cy="35417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Tokenizer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/>
              <a:t>Vocabular maxim: 20.000 </a:t>
            </a:r>
            <a:r>
              <a:rPr lang="en-US" sz="2200" dirty="0" err="1"/>
              <a:t>cuvinte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/>
              <a:t>Token special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cuvinte</a:t>
            </a:r>
            <a:r>
              <a:rPr lang="en-US" sz="2200" dirty="0"/>
              <a:t> </a:t>
            </a:r>
            <a:r>
              <a:rPr lang="en-US" sz="2200" dirty="0" err="1"/>
              <a:t>necunoscute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Padding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 err="1"/>
              <a:t>Lungime</a:t>
            </a:r>
            <a:r>
              <a:rPr lang="en-US" sz="2200" dirty="0"/>
              <a:t> </a:t>
            </a:r>
            <a:r>
              <a:rPr lang="en-US" sz="2200" dirty="0" err="1"/>
              <a:t>maximă</a:t>
            </a:r>
            <a:r>
              <a:rPr lang="en-US" sz="2200" dirty="0"/>
              <a:t> </a:t>
            </a:r>
            <a:r>
              <a:rPr lang="en-US" sz="2200" dirty="0" err="1"/>
              <a:t>secvență</a:t>
            </a:r>
            <a:r>
              <a:rPr lang="en-US" sz="2200" dirty="0"/>
              <a:t>: 200 </a:t>
            </a:r>
            <a:r>
              <a:rPr lang="en-US" sz="2200" dirty="0" err="1"/>
              <a:t>tokeni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 err="1"/>
              <a:t>Trunchiere</a:t>
            </a:r>
            <a:r>
              <a:rPr lang="en-US" sz="2200" dirty="0"/>
              <a:t> </a:t>
            </a:r>
            <a:r>
              <a:rPr lang="en-US" sz="2200" dirty="0" err="1"/>
              <a:t>secvențe</a:t>
            </a:r>
            <a:r>
              <a:rPr lang="en-US" sz="2200" dirty="0"/>
              <a:t> lungi</a:t>
            </a:r>
          </a:p>
          <a:p>
            <a:pPr>
              <a:lnSpc>
                <a:spcPct val="11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881899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0EFA8CB-3CF1-FAC8-67FD-E7AD17D5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en-US" dirty="0" err="1"/>
              <a:t>Textului</a:t>
            </a:r>
            <a:endParaRPr lang="en-US" dirty="0"/>
          </a:p>
        </p:txBody>
      </p:sp>
      <p:pic>
        <p:nvPicPr>
          <p:cNvPr id="6" name="Substituent conținut 5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03FDF7EF-9CBC-4E10-DB13-A6AFA346A5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1945" y="3429711"/>
            <a:ext cx="4277322" cy="1181265"/>
          </a:xfrm>
          <a:prstGeom prst="rect">
            <a:avLst/>
          </a:prstGeom>
        </p:spPr>
      </p:pic>
      <p:graphicFrame>
        <p:nvGraphicFramePr>
          <p:cNvPr id="8" name="Substituent conținut 3">
            <a:extLst>
              <a:ext uri="{FF2B5EF4-FFF2-40B4-BE49-F238E27FC236}">
                <a16:creationId xmlns:a16="http://schemas.microsoft.com/office/drawing/2014/main" id="{92FF4990-7AFD-6F46-8ABF-20B0BEF639A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2249486"/>
          <a:ext cx="4875211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849239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19FA62B-A2C9-49F5-8C45-9D5CDCD72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24E966C-35F3-4DB1-8C23-4BC252E4E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4ADCBC-2A94-4F6E-BC8D-278612B7A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38F45A3E-0BAF-4E7A-AD24-51B345041D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340FE26-BABB-409C-A32A-B3D10BD235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A9468B59-1984-42C3-88A4-942CF6EF75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F6B5E914-0078-49CC-AD42-C97DC361CD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18B3F5A-0978-48AE-9360-8ABC8CEABB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7E73F9B-CBFF-473A-9B41-8964B831E9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58218B5-0904-4C19-8935-1A64432BC2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BCBCB59-A700-4032-AB43-CB06687996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861A9C11-1685-4F09-B995-D5ECAD15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57CCC420-3BF0-4A3E-A4FB-41537B0642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DEFC6D1-15DA-4DDC-8FD1-B7630B8D6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0C6F2EE9-81FE-4B46-9513-6EC7D93012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6DF77E9-F68C-4FE0-864E-A4A4DE3616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9D3495ED-B588-4755-B8BB-18D33E4AC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76105FE-305A-42A7-B2DD-388B99FAB8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F1883F6E-6FAE-49E2-AE28-02B88BEBF6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8C8A198F-A0AA-455F-ACD5-8587457BD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E57E155C-0F05-498E-B0E3-33AE15B7E8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3D7FB1D7-F9DB-443D-A2D4-40C46F6975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9EF7FB08-B52A-4C0D-BF32-AC6D91AE9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2A27D708-7911-4EAB-8A9D-E608726B5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40A3E3AC-335B-4EAB-A5D4-E72C8434AB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FC4E923E-7CEC-4950-8C12-F40EAE7A36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23A92FB5-3211-4195-8FFA-A8F49F6777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BB88442A-84E1-4264-BD24-B14020F21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B47AD665-0844-40BF-AE62-BA493929C5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01D8E540-292C-4867-BD21-43910262E9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00C8F50-D632-4BE8-B5BF-8AEAE2D13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7870CC07-8D37-4F4D-A73B-9762FFAB1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06B84BAB-C27B-4804-9496-FDDA7FF6F2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45E90447-AF32-4C90-8940-D5EBE9F64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DFD35AB5-2871-471E-87D3-C3C024C31E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60EED77B-C4CD-44DE-B7AA-472CBEE6E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68122908-2E24-4971-A70E-29CFE953E5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43930918-848F-4F70-8C42-426DCCB4D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7C2C1A0B-06A1-4F89-9A58-66CAB57F1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F26FAEF0-6EA1-41B4-AC1D-0BC56E43EF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563F085C-A9C1-47AB-9656-468B79DE5A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45DD43AF-4FAA-1088-646B-CC4AADD6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Rețele </a:t>
            </a:r>
            <a:r>
              <a:rPr lang="en-US"/>
              <a:t>Neurale</a:t>
            </a:r>
            <a:r>
              <a:rPr lang="en-US" dirty="0"/>
              <a:t> </a:t>
            </a:r>
            <a:r>
              <a:rPr lang="en-US"/>
              <a:t>Recurente</a:t>
            </a:r>
            <a:r>
              <a:rPr lang="en-US" dirty="0"/>
              <a:t> (RNN)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D8B4867-C8F5-2011-FBE2-86BA02D30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2249487"/>
            <a:ext cx="4844521" cy="35417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Concept de </a:t>
            </a:r>
            <a:r>
              <a:rPr lang="en-US" sz="2200" b="1" dirty="0" err="1"/>
              <a:t>bază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 err="1"/>
              <a:t>Procesează</a:t>
            </a:r>
            <a:r>
              <a:rPr lang="en-US" sz="2200" dirty="0"/>
              <a:t> date </a:t>
            </a:r>
            <a:r>
              <a:rPr lang="en-US" sz="2200" dirty="0" err="1"/>
              <a:t>secvențiale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/>
              <a:t>Hidden state </a:t>
            </a:r>
            <a:r>
              <a:rPr lang="en-US" sz="2200" dirty="0" err="1"/>
              <a:t>transmis</a:t>
            </a:r>
            <a:r>
              <a:rPr lang="en-US" sz="2200" dirty="0"/>
              <a:t> </a:t>
            </a:r>
            <a:r>
              <a:rPr lang="en-US" sz="2200" dirty="0" err="1"/>
              <a:t>între</a:t>
            </a:r>
            <a:r>
              <a:rPr lang="en-US" sz="2200" dirty="0"/>
              <a:t> </a:t>
            </a:r>
            <a:r>
              <a:rPr lang="en-US" sz="2200" dirty="0" err="1"/>
              <a:t>pași</a:t>
            </a:r>
            <a:r>
              <a:rPr lang="en-US" sz="2200" dirty="0"/>
              <a:t> </a:t>
            </a:r>
            <a:r>
              <a:rPr lang="en-US" sz="2200" dirty="0" err="1"/>
              <a:t>temporali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 err="1"/>
              <a:t>Limitări</a:t>
            </a: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sz="2200" dirty="0"/>
              <a:t>Vanishing gradient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Memorie pe termen </a:t>
            </a:r>
            <a:r>
              <a:rPr lang="en-US" sz="2200" dirty="0" err="1"/>
              <a:t>scurt</a:t>
            </a:r>
            <a:endParaRPr lang="en-US" sz="2200" dirty="0"/>
          </a:p>
          <a:p>
            <a:pPr>
              <a:lnSpc>
                <a:spcPct val="110000"/>
              </a:lnSpc>
            </a:pPr>
            <a:endParaRPr lang="en-US" sz="2200" dirty="0"/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62E99543-3191-D077-0990-B1E37CC56F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rcRect r="15254" b="3"/>
          <a:stretch>
            <a:fillRect/>
          </a:stretch>
        </p:blipFill>
        <p:spPr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9260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7B881B6A-68D9-4513-9C61-2BE07515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dirty="0"/>
              <a:t>Long Short-Term Memory(</a:t>
            </a:r>
            <a:r>
              <a:rPr lang="en-US" sz="3100" b="1" dirty="0" err="1"/>
              <a:t>lstm</a:t>
            </a:r>
            <a:r>
              <a:rPr lang="en-US" sz="3100" b="1" dirty="0"/>
              <a:t>)</a:t>
            </a:r>
            <a:endParaRPr lang="en-US" sz="3100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20010ED-4D4D-0B79-9628-BBC24D8CD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743" y="638650"/>
            <a:ext cx="7034485" cy="378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Long Short-Term Memory</a:t>
            </a:r>
            <a:endParaRPr lang="en-US" dirty="0"/>
          </a:p>
          <a:p>
            <a:r>
              <a:rPr lang="en-US" dirty="0"/>
              <a:t>Introduce </a:t>
            </a:r>
            <a:r>
              <a:rPr lang="en-US" dirty="0" err="1"/>
              <a:t>mecanisme</a:t>
            </a:r>
            <a:r>
              <a:rPr lang="en-US" dirty="0"/>
              <a:t> de control al </a:t>
            </a:r>
            <a:r>
              <a:rPr lang="en-US" dirty="0" err="1"/>
              <a:t>memoriei</a:t>
            </a:r>
            <a:endParaRPr lang="en-US" dirty="0"/>
          </a:p>
          <a:p>
            <a:r>
              <a:rPr lang="en-US" dirty="0" err="1"/>
              <a:t>Porți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Input</a:t>
            </a:r>
          </a:p>
          <a:p>
            <a:pPr lvl="1"/>
            <a:r>
              <a:rPr lang="en-US" dirty="0"/>
              <a:t>Forget</a:t>
            </a:r>
          </a:p>
          <a:p>
            <a:pPr lvl="1"/>
            <a:r>
              <a:rPr lang="en-US" dirty="0"/>
              <a:t>Output</a:t>
            </a:r>
          </a:p>
          <a:p>
            <a:r>
              <a:rPr lang="en-US" dirty="0" err="1"/>
              <a:t>Capabil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rețină</a:t>
            </a:r>
            <a:r>
              <a:rPr lang="en-US" dirty="0"/>
              <a:t> context pe termen lung</a:t>
            </a:r>
          </a:p>
          <a:p>
            <a:endParaRPr lang="en-US" dirty="0"/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DBC7A0C7-2797-3334-C9A9-5AE46AF05D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5365253" y="4604942"/>
            <a:ext cx="5632972" cy="152090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4807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74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64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8A27EFE9-D309-D584-882E-EE6684AB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Gated Recurrent Unit(</a:t>
            </a:r>
            <a:r>
              <a:rPr lang="en-US" b="1" dirty="0" err="1"/>
              <a:t>gru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5779054-F1F8-E1B5-234B-E11131A8E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0743" y="638650"/>
            <a:ext cx="7034485" cy="37827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Arhitectură mai simplă decât LSTM</a:t>
            </a:r>
          </a:p>
          <a:p>
            <a:r>
              <a:rPr lang="en-US"/>
              <a:t>Mai puțini parametri</a:t>
            </a:r>
          </a:p>
          <a:p>
            <a:r>
              <a:rPr lang="en-US"/>
              <a:t>Performanță comparabilă</a:t>
            </a:r>
          </a:p>
          <a:p>
            <a:r>
              <a:rPr lang="en-US"/>
              <a:t>Antrenare mai rapidă</a:t>
            </a:r>
          </a:p>
          <a:p>
            <a:endParaRPr lang="en-US"/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CB787A6-CF40-00F7-7A25-106849C859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513490" y="4604942"/>
            <a:ext cx="5336499" cy="152090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33128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B587E2AA-4B3A-F91E-A9DE-528D2745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2877336" cy="550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/>
              <a:t>Bidirectional LSTM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E7FDEE4-2189-5BB7-AD6F-B2545301B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0743" y="638650"/>
            <a:ext cx="7034485" cy="378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 err="1"/>
              <a:t>Procesare</a:t>
            </a:r>
            <a:r>
              <a:rPr lang="en-US" b="1" dirty="0"/>
              <a:t> </a:t>
            </a:r>
            <a:r>
              <a:rPr lang="en-US" b="1" dirty="0" err="1"/>
              <a:t>bidirecțională</a:t>
            </a:r>
            <a:endParaRPr lang="en-US" dirty="0"/>
          </a:p>
          <a:p>
            <a:r>
              <a:rPr lang="en-US" dirty="0" err="1"/>
              <a:t>Analizează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stânga</a:t>
            </a:r>
            <a:r>
              <a:rPr lang="en-US" dirty="0"/>
              <a:t> → </a:t>
            </a:r>
            <a:r>
              <a:rPr lang="en-US" dirty="0" err="1"/>
              <a:t>dreapta</a:t>
            </a:r>
            <a:endParaRPr lang="en-US" dirty="0"/>
          </a:p>
          <a:p>
            <a:pPr lvl="1"/>
            <a:r>
              <a:rPr lang="en-US" dirty="0" err="1"/>
              <a:t>dreapta</a:t>
            </a:r>
            <a:r>
              <a:rPr lang="en-US" dirty="0"/>
              <a:t> → </a:t>
            </a:r>
            <a:r>
              <a:rPr lang="en-US" dirty="0" err="1"/>
              <a:t>stânga</a:t>
            </a:r>
            <a:endParaRPr lang="en-US" dirty="0"/>
          </a:p>
          <a:p>
            <a:r>
              <a:rPr lang="en-US" dirty="0"/>
              <a:t>Context </a:t>
            </a:r>
            <a:r>
              <a:rPr lang="en-US" dirty="0" err="1"/>
              <a:t>complet</a:t>
            </a:r>
            <a:endParaRPr lang="en-US" dirty="0"/>
          </a:p>
          <a:p>
            <a:r>
              <a:rPr lang="en-US" dirty="0"/>
              <a:t>Cost </a:t>
            </a:r>
            <a:r>
              <a:rPr lang="en-US" dirty="0" err="1"/>
              <a:t>computațional</a:t>
            </a:r>
            <a:r>
              <a:rPr lang="en-US" dirty="0"/>
              <a:t> </a:t>
            </a:r>
            <a:r>
              <a:rPr lang="en-US" dirty="0" err="1"/>
              <a:t>crescut</a:t>
            </a:r>
            <a:endParaRPr lang="en-US" dirty="0"/>
          </a:p>
          <a:p>
            <a:endParaRPr lang="en-US" dirty="0"/>
          </a:p>
        </p:txBody>
      </p:sp>
      <p:pic>
        <p:nvPicPr>
          <p:cNvPr id="6" name="Substituent conținut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29476088-DFE8-AFE9-92AE-7A4ABACFC2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581906" y="4604942"/>
            <a:ext cx="5199666" cy="152090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33415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A851A7A-2CD2-6143-9188-2A8ABA27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Configurația</a:t>
            </a:r>
            <a:r>
              <a:rPr lang="en-US" dirty="0"/>
              <a:t> de </a:t>
            </a:r>
            <a:r>
              <a:rPr lang="en-US" dirty="0" err="1"/>
              <a:t>Antrenare</a:t>
            </a:r>
            <a:endParaRPr lang="en-US" dirty="0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309857F-3878-1655-090A-95A67DBEB5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42921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20B3062-EA43-D2CC-D9AC-8B67F010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Regularizare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Overfitting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81C79FB-F400-5C87-8E61-01C3160A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Tehnici</a:t>
            </a:r>
            <a:r>
              <a:rPr lang="en-US" b="1" dirty="0"/>
              <a:t> </a:t>
            </a:r>
            <a:r>
              <a:rPr lang="en-US" b="1" dirty="0" err="1"/>
              <a:t>utilizate</a:t>
            </a:r>
            <a:endParaRPr lang="en-US" dirty="0"/>
          </a:p>
          <a:p>
            <a:r>
              <a:rPr lang="en-US" dirty="0" err="1"/>
              <a:t>EarlyStopping</a:t>
            </a:r>
            <a:endParaRPr lang="en-US" dirty="0"/>
          </a:p>
          <a:p>
            <a:r>
              <a:rPr lang="en-US" dirty="0"/>
              <a:t>Dropout</a:t>
            </a:r>
          </a:p>
          <a:p>
            <a:r>
              <a:rPr lang="en-US" dirty="0"/>
              <a:t>Set de </a:t>
            </a:r>
            <a:r>
              <a:rPr lang="en-US" dirty="0" err="1"/>
              <a:t>validare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Observație</a:t>
            </a:r>
            <a:endParaRPr lang="en-US" dirty="0"/>
          </a:p>
          <a:p>
            <a:r>
              <a:rPr lang="en-US" dirty="0" err="1"/>
              <a:t>Modelele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 </a:t>
            </a:r>
            <a:r>
              <a:rPr lang="en-US" dirty="0" err="1"/>
              <a:t>tind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supraînvețe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402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C433C17-3D57-E6F9-A003-15590775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5713" y="963611"/>
            <a:ext cx="4649783" cy="823912"/>
          </a:xfrm>
        </p:spPr>
        <p:txBody>
          <a:bodyPr>
            <a:normAutofit/>
          </a:bodyPr>
          <a:lstStyle/>
          <a:p>
            <a:r>
              <a:rPr lang="en-US" sz="3200" dirty="0" err="1"/>
              <a:t>Metrici</a:t>
            </a:r>
            <a:r>
              <a:rPr lang="en-US" sz="3200" dirty="0"/>
              <a:t> de </a:t>
            </a:r>
            <a:r>
              <a:rPr lang="en-US" sz="3200" dirty="0" err="1"/>
              <a:t>Evaluare</a:t>
            </a:r>
            <a:endParaRPr lang="en-US" sz="3200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5659486-DE8C-D626-634B-A51C5FD54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0" y="2235197"/>
            <a:ext cx="4878391" cy="27178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Accuracy</a:t>
            </a:r>
            <a:endParaRPr lang="en-US" dirty="0"/>
          </a:p>
          <a:p>
            <a:r>
              <a:rPr lang="en-US" dirty="0" err="1"/>
              <a:t>Procent</a:t>
            </a:r>
            <a:r>
              <a:rPr lang="en-US" dirty="0"/>
              <a:t> </a:t>
            </a:r>
            <a:r>
              <a:rPr lang="en-US" dirty="0" err="1"/>
              <a:t>predicții</a:t>
            </a:r>
            <a:r>
              <a:rPr lang="en-US" dirty="0"/>
              <a:t> </a:t>
            </a:r>
            <a:r>
              <a:rPr lang="en-US" dirty="0" err="1"/>
              <a:t>corecte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F1-score</a:t>
            </a:r>
            <a:endParaRPr lang="en-US" dirty="0"/>
          </a:p>
          <a:p>
            <a:r>
              <a:rPr lang="en-US" dirty="0"/>
              <a:t>Media </a:t>
            </a:r>
            <a:r>
              <a:rPr lang="en-US" dirty="0" err="1"/>
              <a:t>armonică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precision </a:t>
            </a:r>
            <a:r>
              <a:rPr lang="en-US" dirty="0" err="1"/>
              <a:t>și</a:t>
            </a:r>
            <a:r>
              <a:rPr lang="en-US" dirty="0"/>
              <a:t> recall</a:t>
            </a:r>
          </a:p>
          <a:p>
            <a:pPr marL="0" indent="0">
              <a:buNone/>
            </a:pPr>
            <a:r>
              <a:rPr lang="en-US" b="1" dirty="0"/>
              <a:t>Confusion Matrix</a:t>
            </a:r>
            <a:endParaRPr lang="en-US" dirty="0"/>
          </a:p>
          <a:p>
            <a:r>
              <a:rPr lang="en-US" dirty="0"/>
              <a:t>Analiza </a:t>
            </a:r>
            <a:r>
              <a:rPr lang="en-US" dirty="0" err="1"/>
              <a:t>tipurilor</a:t>
            </a:r>
            <a:r>
              <a:rPr lang="en-US" dirty="0"/>
              <a:t> de </a:t>
            </a:r>
            <a:r>
              <a:rPr lang="en-US" dirty="0" err="1"/>
              <a:t>erori</a:t>
            </a:r>
            <a:endParaRPr lang="en-US" dirty="0"/>
          </a:p>
          <a:p>
            <a:endParaRPr lang="en-US" dirty="0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2DB42BD7-35EC-E3F3-109A-D689D1ECE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11" y="963611"/>
            <a:ext cx="4646602" cy="823912"/>
          </a:xfrm>
        </p:spPr>
        <p:txBody>
          <a:bodyPr>
            <a:normAutofit/>
          </a:bodyPr>
          <a:lstStyle/>
          <a:p>
            <a:r>
              <a:rPr lang="en-US" sz="3200" dirty="0" err="1"/>
              <a:t>Rezultate</a:t>
            </a:r>
            <a:r>
              <a:rPr lang="en-US" sz="3200" dirty="0"/>
              <a:t> Finale</a:t>
            </a:r>
          </a:p>
        </p:txBody>
      </p:sp>
      <p:graphicFrame>
        <p:nvGraphicFramePr>
          <p:cNvPr id="9" name="Substituent conținut 8">
            <a:extLst>
              <a:ext uri="{FF2B5EF4-FFF2-40B4-BE49-F238E27FC236}">
                <a16:creationId xmlns:a16="http://schemas.microsoft.com/office/drawing/2014/main" id="{459B7A66-989C-2212-5CC5-2F12227693E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087739801"/>
              </p:ext>
            </p:extLst>
          </p:nvPr>
        </p:nvGraphicFramePr>
        <p:xfrm>
          <a:off x="6019801" y="2352676"/>
          <a:ext cx="5734050" cy="22574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1134961084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947197079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3203726236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Model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Accuracy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F1</a:t>
                      </a:r>
                    </a:p>
                  </a:txBody>
                  <a:tcPr marL="45002" marR="45002" marT="22501" marB="22501" anchor="ctr"/>
                </a:tc>
                <a:extLst>
                  <a:ext uri="{0D108BD9-81ED-4DB2-BD59-A6C34878D82A}">
                    <a16:rowId xmlns:a16="http://schemas.microsoft.com/office/drawing/2014/main" val="31458706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Simple RNN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0.4990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0.4001</a:t>
                      </a:r>
                    </a:p>
                  </a:txBody>
                  <a:tcPr marL="45002" marR="45002" marT="22501" marB="22501" anchor="ctr"/>
                </a:tc>
                <a:extLst>
                  <a:ext uri="{0D108BD9-81ED-4DB2-BD59-A6C34878D82A}">
                    <a16:rowId xmlns:a16="http://schemas.microsoft.com/office/drawing/2014/main" val="2761926997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LSTM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0.8745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0.8761</a:t>
                      </a:r>
                    </a:p>
                  </a:txBody>
                  <a:tcPr marL="45002" marR="45002" marT="22501" marB="22501" anchor="ctr"/>
                </a:tc>
                <a:extLst>
                  <a:ext uri="{0D108BD9-81ED-4DB2-BD59-A6C34878D82A}">
                    <a16:rowId xmlns:a16="http://schemas.microsoft.com/office/drawing/2014/main" val="171763474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GRU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0.8766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0.8775</a:t>
                      </a:r>
                    </a:p>
                  </a:txBody>
                  <a:tcPr marL="45002" marR="45002" marT="22501" marB="22501" anchor="ctr"/>
                </a:tc>
                <a:extLst>
                  <a:ext uri="{0D108BD9-81ED-4DB2-BD59-A6C34878D82A}">
                    <a16:rowId xmlns:a16="http://schemas.microsoft.com/office/drawing/2014/main" val="351049628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BiLSTM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0.8749</a:t>
                      </a:r>
                    </a:p>
                  </a:txBody>
                  <a:tcPr marL="45002" marR="45002" marT="22501" marB="225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0.8755</a:t>
                      </a:r>
                    </a:p>
                  </a:txBody>
                  <a:tcPr marL="45002" marR="45002" marT="22501" marB="22501" anchor="ctr"/>
                </a:tc>
                <a:extLst>
                  <a:ext uri="{0D108BD9-81ED-4DB2-BD59-A6C34878D82A}">
                    <a16:rowId xmlns:a16="http://schemas.microsoft.com/office/drawing/2014/main" val="320098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212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657B62AF-05BA-DBC7-3171-25FC0F155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088" y="1803084"/>
            <a:ext cx="4649783" cy="823912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Analiza </a:t>
            </a:r>
            <a:r>
              <a:rPr lang="en-US" sz="3600" dirty="0" err="1"/>
              <a:t>Comparativă</a:t>
            </a:r>
            <a:endParaRPr lang="en-US" sz="3600" dirty="0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058ED511-32EE-F194-72EB-B7AA598B6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96" y="190499"/>
            <a:ext cx="4646602" cy="656983"/>
          </a:xfrm>
        </p:spPr>
        <p:txBody>
          <a:bodyPr>
            <a:normAutofit fontScale="92500"/>
          </a:bodyPr>
          <a:lstStyle/>
          <a:p>
            <a:r>
              <a:rPr lang="ro-RO" dirty="0"/>
              <a:t>Rezultate simple </a:t>
            </a:r>
            <a:r>
              <a:rPr lang="ro-RO" dirty="0" err="1"/>
              <a:t>rnn</a:t>
            </a:r>
            <a:endParaRPr lang="en-US" dirty="0"/>
          </a:p>
        </p:txBody>
      </p:sp>
      <p:pic>
        <p:nvPicPr>
          <p:cNvPr id="9" name="Substituent conținut 8" descr="O imagine care conține text, captură de ecran, linie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19F5C513-877B-AF2F-E806-CF0C1F6725D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29396" y="1001080"/>
            <a:ext cx="4875213" cy="242792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B5FD2D7-21AE-AAAB-C1A8-0D703943359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93785" y="2044697"/>
            <a:ext cx="4878391" cy="271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RNN: baseline slab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performanță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ridicată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eficiență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viteză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mare → overfitting</a:t>
            </a:r>
          </a:p>
        </p:txBody>
      </p:sp>
      <p:pic>
        <p:nvPicPr>
          <p:cNvPr id="11" name="Imagine 10" descr="O imagine care conține text, captură de ecran, software, afișaj&#10;&#10;Conținutul generat de inteligența artificială poate fi incorect.">
            <a:extLst>
              <a:ext uri="{FF2B5EF4-FFF2-40B4-BE49-F238E27FC236}">
                <a16:creationId xmlns:a16="http://schemas.microsoft.com/office/drawing/2014/main" id="{2CB06FA3-241C-5251-49EC-B850F885F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03597"/>
            <a:ext cx="2951184" cy="337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148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74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64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994D4499-C823-BB4D-F74F-12C44B12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Rezultate </a:t>
            </a:r>
            <a:r>
              <a:rPr lang="ro-RO" dirty="0" err="1"/>
              <a:t>lstm</a:t>
            </a:r>
            <a:endParaRPr lang="en-US" dirty="0"/>
          </a:p>
        </p:txBody>
      </p:sp>
      <p:sp>
        <p:nvSpPr>
          <p:cNvPr id="102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ubstituent conținut 5" descr="O imagine care conține text, captură de ecran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CC9AE493-0C2E-C08E-B688-77E5B63446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18988" y="1165390"/>
            <a:ext cx="4635583" cy="4531282"/>
          </a:xfrm>
          <a:prstGeom prst="rect">
            <a:avLst/>
          </a:prstGeom>
        </p:spPr>
      </p:pic>
      <p:pic>
        <p:nvPicPr>
          <p:cNvPr id="8" name="Substituent conținut 7" descr="O imagine care conține text, captură de ecran, afișaj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46E05D01-253F-7978-85D0-6BC748640F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565194" y="1591574"/>
            <a:ext cx="3681681" cy="445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15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30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20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BACD048D-D792-9A4B-25D0-9DA9BF27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gru</a:t>
            </a:r>
            <a:endParaRPr lang="en-US" dirty="0"/>
          </a:p>
        </p:txBody>
      </p:sp>
      <p:sp>
        <p:nvSpPr>
          <p:cNvPr id="58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ubstituent conținut 5" descr="O imagine care conține text, captură de ecran, diagramă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B92300B8-B9ED-8252-B091-15A9DF33BF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123983" y="1147145"/>
            <a:ext cx="4625593" cy="4567773"/>
          </a:xfrm>
          <a:prstGeom prst="rect">
            <a:avLst/>
          </a:prstGeom>
        </p:spPr>
      </p:pic>
      <p:pic>
        <p:nvPicPr>
          <p:cNvPr id="12" name="Substituent conținut 11" descr="O imagine care conține text, captură de ecran, software, afișaj&#10;&#10;Conținutul generat de inteligența artificială poate fi incorect.">
            <a:extLst>
              <a:ext uri="{FF2B5EF4-FFF2-40B4-BE49-F238E27FC236}">
                <a16:creationId xmlns:a16="http://schemas.microsoft.com/office/drawing/2014/main" id="{1CA37244-C237-68B9-1D68-C65EF84F3F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6660439" y="1651720"/>
            <a:ext cx="3556457" cy="420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570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B367C29-5200-4FF1-83B7-18B105A0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C711491-7BB6-4BE6-A470-44BF61D5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E4F104B-68BE-4E53-A6A5-5C5F93FF7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F4A7076-D6BC-4AE1-AE2C-C09B16AAB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58FA119B-7250-4EC7-912F-F5613CC281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B9A9AED-D47E-44AD-AD6E-2EECC94D88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0A30ECA-328D-4512-825B-0AD5960467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4A218CE-B3D8-4A43-86CC-48980645AC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9743B7D-51BF-425C-A4B8-33B2E001E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9BA633B3-C879-4E15-B66C-788B4C60A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24C8953-B4E2-4DA0-B5D5-BD2A735E67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717A3B65-FE80-419B-AB5D-48B5E3A7B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675ECD78-7D6B-4A3F-8163-392D7F8D6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8D036282-E32F-461D-BFB6-2A58D6D27A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95EB10E-5264-467D-8382-A77C4DED2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218F9268-D2F0-487B-A021-8786B65518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B4AEE5AC-EF5C-42E4-B185-A176E1997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E961E89F-C1DB-48E5-8B52-FDDAED9E0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412962B4-425A-4C36-A65A-0F66ED7CD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037BE3F7-563A-4D9A-BC98-C71F727D2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2FDB1005-EB5E-475A-AC43-4ED3E563DE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68BFFBC6-C704-42A7-9D7E-AFB5C37FB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4888EAD7-EBE9-4549-9A91-6FEC61153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B79BC975-BE42-4B57-8335-1699BC0AB1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3998B4F0-CA80-490A-A256-1600E7EA88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2052C104-8168-487E-9044-454DA83AB2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63ACA30B-5F59-400C-A7CE-D17B5647E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2E16F318-A142-4353-9949-B4E3A09FE0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8AE8DBB4-2468-4A78-A54D-FD77C5DC8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0E7CEF2-11E4-465C-8F1F-AA8367F96A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B30AFD-E104-45DD-BFBB-5A41F1413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CE45A3DF-350B-4A5E-AEBE-F0F280AD03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966D2640-A438-4FB6-B781-5A52DEC85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34E1EFFF-720C-4CC0-9F95-DD1DAF99AD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EA7AB0E1-6C49-409D-86F5-BE00BDDFC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5D17598C-0C57-4F4E-8F6B-A2AD8071F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EBEBC0DC-F56F-48FE-824E-E9378C4897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CC7FDCF1-1736-48A0-BDB2-87D6E0906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2A650CF5-564F-44D1-AB08-6C500DD3C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3108FEFA-0402-4C1C-AE39-5ADC09402F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340AE827-F344-464F-851C-E03AFC98DC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3C9CCC87-5622-AF9C-3066-36BE998C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Rezultate</a:t>
            </a:r>
            <a:r>
              <a:rPr lang="en-US" dirty="0"/>
              <a:t> bid</a:t>
            </a:r>
            <a:r>
              <a:rPr lang="ro-RO" dirty="0"/>
              <a:t>i</a:t>
            </a:r>
            <a:r>
              <a:rPr lang="en-US" dirty="0" err="1"/>
              <a:t>rctional</a:t>
            </a:r>
            <a:r>
              <a:rPr lang="en-US" dirty="0"/>
              <a:t> </a:t>
            </a:r>
            <a:r>
              <a:rPr lang="en-US" dirty="0" err="1"/>
              <a:t>lstm</a:t>
            </a:r>
            <a:endParaRPr lang="en-US" dirty="0"/>
          </a:p>
        </p:txBody>
      </p:sp>
      <p:sp>
        <p:nvSpPr>
          <p:cNvPr id="54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ubstituent conținut 5" descr="O imagine care conține text, captură de ecran, linie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810DC4B1-3269-69CD-ED40-9589A11DCC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18988" y="1652127"/>
            <a:ext cx="4635583" cy="3557809"/>
          </a:xfrm>
          <a:prstGeom prst="rect">
            <a:avLst/>
          </a:prstGeom>
        </p:spPr>
      </p:pic>
      <p:pic>
        <p:nvPicPr>
          <p:cNvPr id="8" name="Substituent conținut 7" descr="O imagine care conține text, captură de ecran, afișaj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38F4F1FF-5FED-042F-338C-127F946735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674732" y="1849437"/>
            <a:ext cx="3717043" cy="42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835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C868062-EFAB-9B25-4808-D9C14F64B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 dirty="0" err="1"/>
              <a:t>Demonstrație</a:t>
            </a:r>
            <a:r>
              <a:rPr lang="en-US" dirty="0"/>
              <a:t> </a:t>
            </a:r>
            <a:r>
              <a:rPr lang="en-US" dirty="0" err="1"/>
              <a:t>Practică</a:t>
            </a:r>
            <a:endParaRPr lang="en-US" dirty="0"/>
          </a:p>
        </p:txBody>
      </p:sp>
      <p:sp>
        <p:nvSpPr>
          <p:cNvPr id="12" name="Round Diagonal Corner Rectangle 9">
            <a:extLst>
              <a:ext uri="{FF2B5EF4-FFF2-40B4-BE49-F238E27FC236}">
                <a16:creationId xmlns:a16="http://schemas.microsoft.com/office/drawing/2014/main" id="{C16B00BF-AF6E-430A-80B1-9D3C7894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ine 6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57EC073B-2B4F-A185-CD09-FC582C554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882" y="3425253"/>
            <a:ext cx="3508511" cy="2565717"/>
          </a:xfrm>
          <a:prstGeom prst="rect">
            <a:avLst/>
          </a:prstGeom>
        </p:spPr>
      </p:pic>
      <p:pic>
        <p:nvPicPr>
          <p:cNvPr id="5" name="Imagine 4" descr="O imagine care conține text, captură de ecran, software, afișaj&#10;&#10;Conținutul generat de inteligența artificială poate fi incorect.">
            <a:extLst>
              <a:ext uri="{FF2B5EF4-FFF2-40B4-BE49-F238E27FC236}">
                <a16:creationId xmlns:a16="http://schemas.microsoft.com/office/drawing/2014/main" id="{E7874852-2EF0-AD8B-9219-269FF26B6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882" y="1015860"/>
            <a:ext cx="3757628" cy="2357912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DC0B37D-578E-5C04-410A-88C8F08AA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Sample predictions</a:t>
            </a:r>
            <a:endParaRPr lang="it-IT" dirty="0"/>
          </a:p>
          <a:p>
            <a:r>
              <a:rPr lang="it-IT" dirty="0"/>
              <a:t>Recenzii pozitive și negative</a:t>
            </a:r>
          </a:p>
          <a:p>
            <a:r>
              <a:rPr lang="it-IT" dirty="0"/>
              <a:t>Probabilitate asociată predicției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681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FA057D-11A4-6E18-B8EB-CC51C244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</a:t>
            </a:r>
            <a:r>
              <a:rPr lang="ro-RO" dirty="0"/>
              <a:t>i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FE9C63-2261-2A90-A457-A08744761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potrivite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NLP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oferă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compromis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Proiectul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teoretice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8176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6D99CAE7-132A-8B7A-F5A3-C54D3E08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714625"/>
            <a:ext cx="6858000" cy="15620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 err="1">
                <a:solidFill>
                  <a:srgbClr val="FFFFFF"/>
                </a:solidFill>
              </a:rPr>
              <a:t>Vă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mulțumesc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pentru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atenție</a:t>
            </a:r>
            <a:r>
              <a:rPr lang="en-US" sz="4400" dirty="0">
                <a:solidFill>
                  <a:srgbClr val="FFFF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48900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142</TotalTime>
  <Words>1265</Words>
  <Application>Microsoft Office PowerPoint</Application>
  <PresentationFormat>Ecran lat</PresentationFormat>
  <Paragraphs>169</Paragraphs>
  <Slides>22</Slides>
  <Notes>18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22</vt:i4>
      </vt:variant>
    </vt:vector>
  </HeadingPairs>
  <TitlesOfParts>
    <vt:vector size="26" baseType="lpstr">
      <vt:lpstr>Aptos</vt:lpstr>
      <vt:lpstr>Arial</vt:lpstr>
      <vt:lpstr>Tw Cen MT</vt:lpstr>
      <vt:lpstr>Circuit</vt:lpstr>
      <vt:lpstr>Analiza sentimentelor din recenziile filmelor</vt:lpstr>
      <vt:lpstr>Problema studiată</vt:lpstr>
      <vt:lpstr>Scop și Obiective</vt:lpstr>
      <vt:lpstr>Dataset</vt:lpstr>
      <vt:lpstr>Analiza Dataset-ului</vt:lpstr>
      <vt:lpstr>Preprocesarea Datelor</vt:lpstr>
      <vt:lpstr>Parametri NLP</vt:lpstr>
      <vt:lpstr>Reprezentarea Textului</vt:lpstr>
      <vt:lpstr>Rețele Neurale Recurente (RNN)</vt:lpstr>
      <vt:lpstr>Long Short-Term Memory(lstm)</vt:lpstr>
      <vt:lpstr>Gated Recurrent Unit(gru)</vt:lpstr>
      <vt:lpstr>Bidirectional LSTM</vt:lpstr>
      <vt:lpstr>Configurația de Antrenare</vt:lpstr>
      <vt:lpstr>Regularizare și Overfitting</vt:lpstr>
      <vt:lpstr>Prezentare PowerPoint</vt:lpstr>
      <vt:lpstr>Prezentare PowerPoint</vt:lpstr>
      <vt:lpstr>Rezultate lstm</vt:lpstr>
      <vt:lpstr>Rezultate gru</vt:lpstr>
      <vt:lpstr>Rezultate bidirctional lstm</vt:lpstr>
      <vt:lpstr>Demonstrație Practică</vt:lpstr>
      <vt:lpstr>Concluzii</vt:lpstr>
      <vt:lpstr>Vă mulțumesc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COCEI JANINA-CONSTANTINA</dc:creator>
  <cp:lastModifiedBy>COCEI JANINA-CONSTANTINA</cp:lastModifiedBy>
  <cp:revision>4</cp:revision>
  <dcterms:created xsi:type="dcterms:W3CDTF">2026-01-04T21:54:23Z</dcterms:created>
  <dcterms:modified xsi:type="dcterms:W3CDTF">2026-01-07T10:25:01Z</dcterms:modified>
</cp:coreProperties>
</file>